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3Rl6vFEO0anR0ExwJ6WZYrole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AB5CC0-14BF-4D1A-B1FD-EEB5245A877B}">
  <a:tblStyle styleId="{2CAB5CC0-14BF-4D1A-B1FD-EEB5245A87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</c:v>
                </c:pt>
              </c:strCache>
            </c:strRef>
          </c:tx>
          <c:spPr>
            <a:solidFill>
              <a:srgbClr val="5B6B79"/>
            </a:solidFill>
            <a:ln w="31750" cap="flat">
              <a:solidFill>
                <a:srgbClr val="5B6B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9"/>
              </a:solidFill>
              <a:ln w="9525" cap="flat">
                <a:solidFill>
                  <a:srgbClr val="5B6B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</c:v>
                </c:pt>
                <c:pt idx="1">
                  <c:v>15</c:v>
                </c:pt>
                <c:pt idx="2">
                  <c:v>82</c:v>
                </c:pt>
                <c:pt idx="3">
                  <c:v>85</c:v>
                </c:pt>
                <c:pt idx="4">
                  <c:v>15</c:v>
                </c:pt>
                <c:pt idx="5">
                  <c:v>15</c:v>
                </c:pt>
                <c:pt idx="6">
                  <c:v>82</c:v>
                </c:pt>
                <c:pt idx="7">
                  <c:v>85</c:v>
                </c:pt>
                <c:pt idx="8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Produção</c:v>
                </c:pt>
              </c:strCache>
            </c:strRef>
          </c:tx>
          <c:spPr>
            <a:solidFill>
              <a:srgbClr val="1E7A34"/>
            </a:solidFill>
            <a:ln w="31750" cap="flat">
              <a:solidFill>
                <a:srgbClr val="1E7A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7A34"/>
              </a:solidFill>
              <a:ln w="9525" cap="flat">
                <a:solidFill>
                  <a:srgbClr val="1E7A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Unid. (milhões)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</c:v>
                </c:pt>
              </c:strCache>
            </c:strRef>
          </c:tx>
          <c:spPr>
            <a:solidFill>
              <a:srgbClr val="5B6B79"/>
            </a:solidFill>
            <a:ln w="31750" cap="flat">
              <a:solidFill>
                <a:srgbClr val="5B6B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9"/>
              </a:solidFill>
              <a:ln w="9525" cap="flat">
                <a:solidFill>
                  <a:srgbClr val="5B6B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</c:v>
                </c:pt>
                <c:pt idx="1">
                  <c:v>15</c:v>
                </c:pt>
                <c:pt idx="2">
                  <c:v>82</c:v>
                </c:pt>
                <c:pt idx="3">
                  <c:v>85</c:v>
                </c:pt>
                <c:pt idx="4">
                  <c:v>15</c:v>
                </c:pt>
                <c:pt idx="5">
                  <c:v>15</c:v>
                </c:pt>
                <c:pt idx="6">
                  <c:v>82</c:v>
                </c:pt>
                <c:pt idx="7">
                  <c:v>85</c:v>
                </c:pt>
                <c:pt idx="8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Produção</c:v>
                </c:pt>
              </c:strCache>
            </c:strRef>
          </c:tx>
          <c:spPr>
            <a:solidFill>
              <a:srgbClr val="0D2C54"/>
            </a:solidFill>
            <a:ln w="31750" cap="flat">
              <a:solidFill>
                <a:srgbClr val="0D2C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2C54"/>
              </a:solidFill>
              <a:ln w="9525" cap="flat">
                <a:solidFill>
                  <a:srgbClr val="0D2C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</c:v>
                </c:pt>
                <c:pt idx="1">
                  <c:v>20</c:v>
                </c:pt>
                <c:pt idx="2">
                  <c:v>75</c:v>
                </c:pt>
                <c:pt idx="3">
                  <c:v>83</c:v>
                </c:pt>
                <c:pt idx="4">
                  <c:v>20</c:v>
                </c:pt>
                <c:pt idx="5">
                  <c:v>20</c:v>
                </c:pt>
                <c:pt idx="6">
                  <c:v>75</c:v>
                </c:pt>
                <c:pt idx="7">
                  <c:v>83</c:v>
                </c:pt>
                <c:pt idx="8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Unid. (milhões)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0D2C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1150</c:v>
                </c:pt>
                <c:pt idx="1">
                  <c:v>1250</c:v>
                </c:pt>
                <c:pt idx="2">
                  <c:v>1350</c:v>
                </c:pt>
                <c:pt idx="3">
                  <c:v>1350</c:v>
                </c:pt>
                <c:pt idx="4">
                  <c:v>1150</c:v>
                </c:pt>
                <c:pt idx="5">
                  <c:v>2000</c:v>
                </c:pt>
                <c:pt idx="6">
                  <c:v>1000</c:v>
                </c:pt>
                <c:pt idx="7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C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rgbClr val="1E7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C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685</c:v>
                </c:pt>
                <c:pt idx="1">
                  <c:v>705</c:v>
                </c:pt>
                <c:pt idx="2">
                  <c:v>705</c:v>
                </c:pt>
                <c:pt idx="3">
                  <c:v>685</c:v>
                </c:pt>
                <c:pt idx="4">
                  <c:v>660</c:v>
                </c:pt>
                <c:pt idx="5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C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52.png"/><Relationship Id="rId7" Type="http://schemas.openxmlformats.org/officeDocument/2006/relationships/image" Target="../media/image24.png"/><Relationship Id="rId8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15.png"/><Relationship Id="rId5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4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2.png"/><Relationship Id="rId4" Type="http://schemas.openxmlformats.org/officeDocument/2006/relationships/image" Target="../media/image22.png"/><Relationship Id="rId5" Type="http://schemas.openxmlformats.org/officeDocument/2006/relationships/hyperlink" Target="https://colab.research.google.com/drive/1UNxeDKP04DMtyab0cuSxG4N4JOY3XSgv?usp=sharing" TargetMode="External"/><Relationship Id="rId6" Type="http://schemas.openxmlformats.org/officeDocument/2006/relationships/hyperlink" Target="https://colab.research.google.com/drive/1UNxeDKP04DMtyab0cuSxG4N4JOY3XSgv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C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7955280" y="100584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60" y="2331720"/>
            <a:ext cx="82296" cy="2103120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9728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ORGANIZAÇÃO INDUSTRIAL · AULA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51560" y="182880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PAP em Manufatura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97280" y="288036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8E6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BD8E6"/>
                </a:solidFill>
                <a:latin typeface="Calibri"/>
                <a:ea typeface="Calibri"/>
                <a:cs typeface="Calibri"/>
                <a:sym typeface="Calibri"/>
              </a:rPr>
              <a:t>Planejamento Agregado da Produção — S&amp;OP, Plano de Produção e Capacidade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1097280" y="3657600"/>
            <a:ext cx="4206240" cy="0"/>
          </a:xfrm>
          <a:prstGeom prst="straightConnector1">
            <a:avLst/>
          </a:prstGeom>
          <a:noFill/>
          <a:ln cap="flat" cmpd="sng" w="1905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1097280" y="38404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João Victor Queiroz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9728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8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8E6"/>
                </a:solidFill>
                <a:latin typeface="Calibri"/>
                <a:ea typeface="Calibri"/>
                <a:cs typeface="Calibri"/>
                <a:sym typeface="Calibri"/>
              </a:rPr>
              <a:t>Engenheiro de Produção (UnB)  ·  Mestrando em Engenharia Mecatrônica — PPMEC/UnB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97280" y="580644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97280" y="5977433"/>
            <a:ext cx="502920" cy="160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783080" y="5806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FA5BC"/>
                </a:solidFill>
                <a:latin typeface="Calibri"/>
                <a:ea typeface="Calibri"/>
                <a:cs typeface="Calibri"/>
                <a:sym typeface="Calibri"/>
              </a:rPr>
              <a:t>Material didático adaptado a partir das aulas do Prof. Dr. Marcelo Carneiro Gonçalves — UnB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ORGANIZAÇÃO INDUSTRIAL · AULA 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Roteiro da Aula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2920" y="1801368"/>
            <a:ext cx="2090318" cy="393192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182319" y="2121408"/>
            <a:ext cx="731520" cy="73152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884" y="22969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502920" y="2990088"/>
            <a:ext cx="20903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67512" y="3401568"/>
            <a:ext cx="17611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De Serviços à Manufatura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85800" y="4178808"/>
            <a:ext cx="17245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 que muda no PAP quando o produto pode ser estocado (ponte com a Aula 02).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776118" y="1801368"/>
            <a:ext cx="2090318" cy="393192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455518" y="2121408"/>
            <a:ext cx="731520" cy="73152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1082" y="22969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2776118" y="2990088"/>
            <a:ext cx="20903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940710" y="3401568"/>
            <a:ext cx="17611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Por que o PCP falha?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958998" y="4178808"/>
            <a:ext cx="17245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Causas do baixo desempenho no planejamento da produção.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49317" y="1801368"/>
            <a:ext cx="2090318" cy="393192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728716" y="2121408"/>
            <a:ext cx="731520" cy="73152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4281" y="22969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5049317" y="2990088"/>
            <a:ext cx="20903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213909" y="3401568"/>
            <a:ext cx="17611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Planejamento Agregado (PAP)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232197" y="4178808"/>
            <a:ext cx="17245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Conceito, decisões, objetivos e informações de entrada.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322515" y="1801368"/>
            <a:ext cx="2090318" cy="393192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001914" y="2121408"/>
            <a:ext cx="731520" cy="73152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7479" y="22969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7322515" y="2990088"/>
            <a:ext cx="20903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487107" y="3401568"/>
            <a:ext cx="17611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S&amp;OP e o Plano de Produção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505395" y="4178808"/>
            <a:ext cx="17245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Integração organizacional, etapas e relação com o PAP.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595714" y="1801368"/>
            <a:ext cx="2090318" cy="393192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0275113" y="2121408"/>
            <a:ext cx="731520" cy="73152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50678" y="22969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9595714" y="2990088"/>
            <a:ext cx="20903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9760306" y="3401568"/>
            <a:ext cx="17611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Capacidade e exemplo prático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778594" y="4178808"/>
            <a:ext cx="17245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Estratégias de capacidade e um exemplo numérico completo.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02920" y="5961888"/>
            <a:ext cx="11183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Na Aula 02 vocês viram o PAP em Serviços — hoje comparamos com a Manufatura e fechamos com um exemplo numérico completo.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PONTE COM A AULA 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 Que Serviços Mudam o Jeito de Planejar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02920" y="1389888"/>
            <a:ext cx="111831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Na Aula 02, vocês viram que serviço é "uma experiência perecível, intangível, desenvolvida para um consumidor que desempenha o papel de coprodutor" (Fitzsimmons). Quatro características, revistas rapidamente, explicam por que o PAP em serviços não pode copiar direto o PAP em manufatura: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2920" y="1984248"/>
            <a:ext cx="2658618" cy="2880360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503045" y="2240280"/>
            <a:ext cx="658368" cy="658368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1053" y="23982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40080" y="3035808"/>
            <a:ext cx="238429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Impossibilidade de estocar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85800" y="3538728"/>
            <a:ext cx="22928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e consumo são simultâneos — não existe "estoque de atendimento" para absorver picos de demanda.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344418" y="1984248"/>
            <a:ext cx="2658618" cy="2880360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344543" y="2240280"/>
            <a:ext cx="658368" cy="658368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2551" y="23982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3481578" y="3035808"/>
            <a:ext cx="238429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Intangibilidade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527298" y="3538728"/>
            <a:ext cx="22928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 valor não está em um bem físico que se guarda; está na experiência entregue no momento do serviço.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185916" y="1984248"/>
            <a:ext cx="2658618" cy="2880360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186041" y="2240280"/>
            <a:ext cx="658368" cy="658368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4049" y="23982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6323076" y="3035808"/>
            <a:ext cx="238429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Heterogeneidade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368796" y="3538728"/>
            <a:ext cx="22928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Cada atendimento é diferente do outro — o "produto" varia conforme quem entrega e quem recebe.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027414" y="1984248"/>
            <a:ext cx="2658618" cy="2880360"/>
          </a:xfrm>
          <a:prstGeom prst="roundRect">
            <a:avLst>
              <a:gd fmla="val 275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0027539" y="2240280"/>
            <a:ext cx="658368" cy="658368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5547" y="23982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9164574" y="3035808"/>
            <a:ext cx="238429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Coprodução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210294" y="3538728"/>
            <a:ext cx="22928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 cliente participa da entrega — a operação depende da presença dele, não só dos recursos internos.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2920" y="5138928"/>
            <a:ext cx="11183112" cy="960120"/>
          </a:xfrm>
          <a:prstGeom prst="roundRect">
            <a:avLst>
              <a:gd fmla="val 7619" name="adj"/>
            </a:avLst>
          </a:prstGeom>
          <a:solidFill>
            <a:srgbClr val="FBEAE9"/>
          </a:solidFill>
          <a:ln cap="flat" cmpd="sng" w="12700">
            <a:solidFill>
              <a:srgbClr val="FBE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77240" y="5138928"/>
            <a:ext cx="106344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Consequência direta para o PAP: </a:t>
            </a: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sem a opção de estocar o produto acabado, o buffer que absorve a variação de demanda deixa de ser o estoque e passa a ser a força de trabalho (contratar, demitir, hora extra, temporários).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PONTE COM A AULA 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PAP: Serviços × Manufatura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02920" y="1527048"/>
            <a:ext cx="11183112" cy="457200"/>
          </a:xfrm>
          <a:prstGeom prst="roundRect">
            <a:avLst>
              <a:gd fmla="val 16000" name="adj"/>
            </a:avLst>
          </a:prstGeom>
          <a:solidFill>
            <a:srgbClr val="0D2C54"/>
          </a:solidFill>
          <a:ln cap="flat" cmpd="sng" w="12700">
            <a:solidFill>
              <a:srgbClr val="0D2C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40080" y="152704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9D3DC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46120" y="1527048"/>
            <a:ext cx="42199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Serviços — Aula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66076" y="1527048"/>
            <a:ext cx="42199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Manufatura — Aula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" y="1984248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40080" y="198424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O que absorve a variação da demanda?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355848" y="1984248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Força de trabalho (efetivos, temporários, HE)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575804" y="1984248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Estoque (EI / EF / EM) + eventual atraso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02920" y="2551176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40080" y="255117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Estratégia dominante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355848" y="2551176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Quase sempre "casada com a demanda"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575804" y="2551176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As três estratégias são viáveis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02920" y="3118104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40080" y="311810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Variável central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55848" y="3118104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Fₜ = Fₜ₋₁ + Cₜ − Dₜ  (saldo de temporários)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575804" y="3118104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EFₜ = EIₜ + PTₜ − Dₜ  (estoque)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02920" y="3685032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40080" y="368503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Componentes de 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355848" y="3685032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Efetivos + Temporários + HE + SUB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575804" y="3685032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Normal + HE + SUB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02920" y="4251960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40080" y="425196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Custos típicos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355848" y="4251960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Contratação, demissão, salário/hora por categoria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575804" y="4251960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Turno normal/extra, subcontratação, estocagem, atraso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02920" y="4818888"/>
            <a:ext cx="11183112" cy="566928"/>
          </a:xfrm>
          <a:prstGeom prst="roundRect">
            <a:avLst>
              <a:gd fmla="val 12903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40080" y="481888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Horizonte típico do exemplo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355848" y="4818888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6 a 12 meses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575804" y="4818888"/>
            <a:ext cx="4000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1 a 2 anos, em trimestres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02920" y="5614416"/>
            <a:ext cx="11183112" cy="868680"/>
          </a:xfrm>
          <a:prstGeom prst="roundRect">
            <a:avLst>
              <a:gd fmla="val 8421" name="adj"/>
            </a:avLst>
          </a:prstGeom>
          <a:solidFill>
            <a:srgbClr val="E7F2E9"/>
          </a:solidFill>
          <a:ln cap="flat" cmpd="sng" w="12700">
            <a:solidFill>
              <a:srgbClr val="E7F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31520" y="5614416"/>
            <a:ext cx="107259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7A34"/>
                </a:solidFill>
                <a:latin typeface="Calibri"/>
                <a:ea typeface="Calibri"/>
                <a:cs typeface="Calibri"/>
                <a:sym typeface="Calibri"/>
              </a:rPr>
              <a:t>O que não muda: </a:t>
            </a: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 mesma metodologia — agrupar em famílias, definir horizonte, prever demanda, comparar planos alternativos pelo Plano Financeiro e escolher o de menor custo. Em ambos os casos, o PAP é o "Plano de produção agregado" dentro do ciclo de S&amp;OP.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Causas do Baixo Desempenho em PCP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" y="1527048"/>
            <a:ext cx="5408676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77240" y="1801368"/>
            <a:ext cx="685800" cy="6858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1965960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/>
          <p:nvPr/>
        </p:nvSpPr>
        <p:spPr>
          <a:xfrm>
            <a:off x="1645920" y="1819656"/>
            <a:ext cx="40370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Previsão de vendas irrealista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22960" y="2670048"/>
            <a:ext cx="47685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 planejamento da produção parte de uma previsão de vendas pouco confiável, gerando planos de produção não realísticos — com falta ou excesso de produção.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277356" y="1527048"/>
            <a:ext cx="5408676" cy="301752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551676" y="1801368"/>
            <a:ext cx="685800" cy="6858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268" y="1965960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/>
          <p:nvPr/>
        </p:nvSpPr>
        <p:spPr>
          <a:xfrm>
            <a:off x="7420356" y="1819656"/>
            <a:ext cx="40370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Capacidade real desconhecida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597396" y="2670048"/>
            <a:ext cx="47685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 empresa desconhece a capacidade produtiva realmente disponível ao longo do tempo, o que leva a uma alocação inadequada de carga de trabalho — produção adiantada ou atrasada.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02920" y="4818888"/>
            <a:ext cx="11183112" cy="1234440"/>
          </a:xfrm>
          <a:prstGeom prst="roundRect">
            <a:avLst>
              <a:gd fmla="val 5926" name="adj"/>
            </a:avLst>
          </a:prstGeom>
          <a:solidFill>
            <a:srgbClr val="FBEAE9"/>
          </a:solidFill>
          <a:ln cap="flat" cmpd="sng" w="12700">
            <a:solidFill>
              <a:srgbClr val="FBEA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758952" y="5111496"/>
            <a:ext cx="640080" cy="64008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571" y="5265115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1554480" y="4818888"/>
            <a:ext cx="98115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Consequência: </a:t>
            </a: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os dois problemas se somam — a empresa erra a quantidade a produzir e erra também o ritmo em que consegue produzir, gerando descompasso entre oferta e demanda ao longo do horizonte de planejamento.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é o Planejamento Agregado da Produção?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6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02920" y="1481328"/>
            <a:ext cx="11183112" cy="1417320"/>
          </a:xfrm>
          <a:prstGeom prst="roundRect">
            <a:avLst>
              <a:gd fmla="val 5161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777240" y="1801368"/>
            <a:ext cx="777240" cy="77724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778" y="1987906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1737360" y="1645920"/>
            <a:ext cx="9628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PAP </a:t>
            </a: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 na elaboração de planos de produção para um determinado período — geralmente 1 ou 2 anos — a partir das perspectivas de vendas, da capacidade de produção e dos recursos financeiros disponíveis.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02920" y="3218688"/>
            <a:ext cx="3544824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1946148" y="3474720"/>
            <a:ext cx="658368" cy="658368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4156" y="36327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685800" y="4270248"/>
            <a:ext cx="31790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Horizonte de 1 a 2 anos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31520" y="4864608"/>
            <a:ext cx="30876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Planejamento tático, revisado periodicamente.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322064" y="3218688"/>
            <a:ext cx="3544824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765292" y="3474720"/>
            <a:ext cx="658368" cy="658368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3300" y="36327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4504944" y="4270248"/>
            <a:ext cx="31790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Processo aproximado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50664" y="4864608"/>
            <a:ext cx="30876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Grosseiro e pouco preciso; ajustado por aproximação com as previsões de demanda, sujeitas a sazonalidade, variações de mercado e momento econômico.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141208" y="3218688"/>
            <a:ext cx="3544824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9584436" y="3474720"/>
            <a:ext cx="658368" cy="658368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2444" y="36327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/>
          <p:nvPr/>
        </p:nvSpPr>
        <p:spPr>
          <a:xfrm>
            <a:off x="8324088" y="4270248"/>
            <a:ext cx="31790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Trabalha por família de produtos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369808" y="4864608"/>
            <a:ext cx="30876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Usa medidas unificadas de produção — daí o termo "agregado".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PLANEJAMENTO AGREGADO DA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Informações que Alimentam o PAP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7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 flipH="1" rot="10800000">
            <a:off x="6094476" y="1825142"/>
            <a:ext cx="9144" cy="2148840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 flipH="1" rot="10800000">
            <a:off x="6094476" y="2327875"/>
            <a:ext cx="2674331" cy="1646107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 flipH="1" rot="10800000">
            <a:off x="6094476" y="3600840"/>
            <a:ext cx="4097312" cy="373142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6094476" y="3973982"/>
            <a:ext cx="3603116" cy="1074420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6094476" y="3973982"/>
            <a:ext cx="1422982" cy="2019249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 flipH="1">
            <a:off x="4671494" y="3973982"/>
            <a:ext cx="1422982" cy="2019249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7"/>
          <p:cNvCxnSpPr/>
          <p:nvPr/>
        </p:nvCxnSpPr>
        <p:spPr>
          <a:xfrm flipH="1">
            <a:off x="2491360" y="3973982"/>
            <a:ext cx="3603116" cy="1074420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7"/>
          <p:cNvCxnSpPr/>
          <p:nvPr/>
        </p:nvCxnSpPr>
        <p:spPr>
          <a:xfrm rot="10800000">
            <a:off x="1997164" y="3600840"/>
            <a:ext cx="4097312" cy="373142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7"/>
          <p:cNvCxnSpPr/>
          <p:nvPr/>
        </p:nvCxnSpPr>
        <p:spPr>
          <a:xfrm rot="10800000">
            <a:off x="3420145" y="2327875"/>
            <a:ext cx="2674331" cy="1646107"/>
          </a:xfrm>
          <a:prstGeom prst="straightConnector1">
            <a:avLst/>
          </a:prstGeom>
          <a:noFill/>
          <a:ln cap="flat" cmpd="sng" w="15875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7"/>
          <p:cNvSpPr/>
          <p:nvPr/>
        </p:nvSpPr>
        <p:spPr>
          <a:xfrm>
            <a:off x="4860036" y="3516782"/>
            <a:ext cx="2468880" cy="914400"/>
          </a:xfrm>
          <a:prstGeom prst="roundRect">
            <a:avLst>
              <a:gd fmla="val 10000" name="adj"/>
            </a:avLst>
          </a:prstGeom>
          <a:solidFill>
            <a:srgbClr val="0D2C54"/>
          </a:solidFill>
          <a:ln>
            <a:noFill/>
          </a:ln>
          <a:effectLst>
            <a:outerShdw blurRad="127000" rotWithShape="0" algn="bl" dir="5400000" dist="38100">
              <a:srgbClr val="1F293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4951476" y="351678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Agregado da Produção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111496" y="1523390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184648" y="1523390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1. Objetivos estratégicos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785827" y="2026123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858979" y="2026123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2. Políticas/estratégias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de produção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9208808" y="3299088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9281960" y="3299088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3. Restrições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financeiras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714612" y="4746650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8787764" y="4746650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4. Unid. ou $ subcontratada,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em carteira, ou perdida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534478" y="5691479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607630" y="5691479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5. Restrições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de capacidade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688514" y="5691479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761666" y="5691479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6. Produção mensal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(em unid. ou $)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1508380" y="4746650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1581532" y="4746650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7. Níveis de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estoques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14184" y="3299088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1087336" y="3299088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8. Tamanho da força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de trabalho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437165" y="2026123"/>
            <a:ext cx="1965960" cy="603504"/>
          </a:xfrm>
          <a:prstGeom prst="roundRect">
            <a:avLst>
              <a:gd fmla="val 12121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2510317" y="2026123"/>
            <a:ext cx="18196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9. Previsões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970"/>
              <a:buFont typeface="Calibri"/>
              <a:buNone/>
            </a:pPr>
            <a:r>
              <a:rPr b="1" i="0" lang="en-US" sz="97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de demanda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PLANEJAMENTO AGREGADO DA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Decisões Envolvidas no PAP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8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8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02920" y="1618488"/>
            <a:ext cx="11183112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758952" y="180136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71" y="195498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1645920" y="1618488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Planejamento da capacidade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989320" y="1618488"/>
            <a:ext cx="54223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Ex.: número de equipamentos necessários para a produção.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02920" y="2788920"/>
            <a:ext cx="11183112" cy="1005840"/>
          </a:xfrm>
          <a:prstGeom prst="roundRect">
            <a:avLst>
              <a:gd fmla="val 7273" name="adj"/>
            </a:avLst>
          </a:prstGeom>
          <a:solidFill>
            <a:srgbClr val="F4F6F8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758952" y="2971800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571" y="3125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/>
          <p:nvPr/>
        </p:nvSpPr>
        <p:spPr>
          <a:xfrm>
            <a:off x="1645920" y="278892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Níveis de mão-de-obra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989320" y="2788920"/>
            <a:ext cx="54223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Ex.: número de pessoas necessárias para a produção.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02920" y="3959352"/>
            <a:ext cx="11183112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758952" y="4142232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571" y="429585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1645920" y="3959352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Cadência de produção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989320" y="3959352"/>
            <a:ext cx="54223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Ex.: número de unidades produzidas por unidade de tempo.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02920" y="5129784"/>
            <a:ext cx="11183112" cy="1005840"/>
          </a:xfrm>
          <a:prstGeom prst="roundRect">
            <a:avLst>
              <a:gd fmla="val 7273" name="adj"/>
            </a:avLst>
          </a:prstGeom>
          <a:solidFill>
            <a:srgbClr val="F4F6F8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758952" y="5312664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2571" y="5466283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1645920" y="5129784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Níveis de estoques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989320" y="5129784"/>
            <a:ext cx="54223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Ex.: política de estoques adotada.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PLANEJAMENTO AGREGADO DA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Objetivos do PAP e Riscos de Não Planejar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9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02920" y="1527048"/>
            <a:ext cx="5408676" cy="4480560"/>
          </a:xfrm>
          <a:prstGeom prst="roundRect">
            <a:avLst>
              <a:gd fmla="val 1633" name="adj"/>
            </a:avLst>
          </a:prstGeom>
          <a:solidFill>
            <a:srgbClr val="E7F2E9"/>
          </a:solidFill>
          <a:ln cap="flat" cmpd="sng" w="12700">
            <a:solidFill>
              <a:srgbClr val="E7F2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86" y="1944014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1554480" y="1801368"/>
            <a:ext cx="41285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Objetivos do PAP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22960" y="2578608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Determinar os níveis dos recursos necessários para satisfazer a demanda esperada, ao longo do horizonte, definindo os níveis de: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960120" y="3401568"/>
            <a:ext cx="449427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Mão-de-obra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Produção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Estoque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277356" y="1527048"/>
            <a:ext cx="5408676" cy="4480560"/>
          </a:xfrm>
          <a:prstGeom prst="roundRect">
            <a:avLst>
              <a:gd fmla="val 1633" name="adj"/>
            </a:avLst>
          </a:prstGeom>
          <a:solidFill>
            <a:srgbClr val="FBEAE9"/>
          </a:solidFill>
          <a:ln cap="flat" cmpd="sng" w="12700">
            <a:solidFill>
              <a:srgbClr val="FBEA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551676" y="1801368"/>
            <a:ext cx="594360" cy="59436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4322" y="1944014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9"/>
          <p:cNvSpPr/>
          <p:nvPr/>
        </p:nvSpPr>
        <p:spPr>
          <a:xfrm>
            <a:off x="7328916" y="1801368"/>
            <a:ext cx="41285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3261E"/>
                </a:solidFill>
                <a:latin typeface="Cambria"/>
                <a:ea typeface="Cambria"/>
                <a:cs typeface="Cambria"/>
                <a:sym typeface="Cambria"/>
              </a:rPr>
              <a:t>Se o PAP não for planejado…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597396" y="2578608"/>
            <a:ext cx="476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As decisões tomadas sem um plano agregado consistente tendem a gerar: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734556" y="3127248"/>
            <a:ext cx="4494276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Hora-extra excessiva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Excesso de estoque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Serviço insatisfatório ao cliente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Subutilização de capacidade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Prazos de entrega prolongados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Operações reativas e respostas inadequadas a oportunidades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S&amp;OP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Planejamento de Vendas e Operações (S&amp;OP)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0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0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02920" y="1572768"/>
            <a:ext cx="548640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822960" y="1847088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S&amp;OP </a:t>
            </a: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é um processo de gestão que visa alinhar as operações da empresa com as metas de vendas e as estratégias de negócio.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822960" y="308152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É um processo integrado, que conecta diferentes funções da organização — garantindo capacidade para atender à demanda prevista de forma eficiente e lucrativa.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77240" y="4224528"/>
            <a:ext cx="4937760" cy="1371600"/>
          </a:xfrm>
          <a:prstGeom prst="roundRect">
            <a:avLst>
              <a:gd fmla="val 5333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005840" y="4453128"/>
            <a:ext cx="548640" cy="54864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514" y="458480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/>
          <p:nvPr/>
        </p:nvSpPr>
        <p:spPr>
          <a:xfrm>
            <a:off x="1691640" y="436168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Objetivo principal: garantir capacidade para atender à demanda prevista com eficiência e lucratividade.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 flipH="1" rot="10800000">
            <a:off x="8869680" y="1984248"/>
            <a:ext cx="9144" cy="1508760"/>
          </a:xfrm>
          <a:prstGeom prst="straightConnector1">
            <a:avLst/>
          </a:prstGeom>
          <a:noFill/>
          <a:ln cap="flat" cmpd="sng" w="19050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0"/>
          <p:cNvCxnSpPr/>
          <p:nvPr/>
        </p:nvCxnSpPr>
        <p:spPr>
          <a:xfrm>
            <a:off x="8869680" y="3493008"/>
            <a:ext cx="1508760" cy="9144"/>
          </a:xfrm>
          <a:prstGeom prst="straightConnector1">
            <a:avLst/>
          </a:prstGeom>
          <a:noFill/>
          <a:ln cap="flat" cmpd="sng" w="19050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0"/>
          <p:cNvCxnSpPr/>
          <p:nvPr/>
        </p:nvCxnSpPr>
        <p:spPr>
          <a:xfrm>
            <a:off x="8869680" y="3493008"/>
            <a:ext cx="9144" cy="1508760"/>
          </a:xfrm>
          <a:prstGeom prst="straightConnector1">
            <a:avLst/>
          </a:prstGeom>
          <a:noFill/>
          <a:ln cap="flat" cmpd="sng" w="19050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0"/>
          <p:cNvCxnSpPr/>
          <p:nvPr/>
        </p:nvCxnSpPr>
        <p:spPr>
          <a:xfrm flipH="1">
            <a:off x="7360920" y="3493008"/>
            <a:ext cx="1508760" cy="9144"/>
          </a:xfrm>
          <a:prstGeom prst="straightConnector1">
            <a:avLst/>
          </a:prstGeom>
          <a:noFill/>
          <a:ln cap="flat" cmpd="sng" w="19050">
            <a:solidFill>
              <a:srgbClr val="C7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0"/>
          <p:cNvSpPr/>
          <p:nvPr/>
        </p:nvSpPr>
        <p:spPr>
          <a:xfrm>
            <a:off x="8183880" y="2807208"/>
            <a:ext cx="1371600" cy="13716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8183880" y="2807208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S&amp;OP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8435340" y="1549908"/>
            <a:ext cx="868680" cy="868680"/>
          </a:xfrm>
          <a:prstGeom prst="ellipse">
            <a:avLst/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3823" y="1685239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8183880" y="236372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Vendas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9944100" y="3058668"/>
            <a:ext cx="868680" cy="868680"/>
          </a:xfrm>
          <a:prstGeom prst="ellipse">
            <a:avLst/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52583" y="3193999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/>
          <p:nvPr/>
        </p:nvSpPr>
        <p:spPr>
          <a:xfrm>
            <a:off x="9692640" y="387248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Operações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435340" y="4567428"/>
            <a:ext cx="868680" cy="868680"/>
          </a:xfrm>
          <a:prstGeom prst="ellipse">
            <a:avLst/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3823" y="4702759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0"/>
          <p:cNvSpPr/>
          <p:nvPr/>
        </p:nvSpPr>
        <p:spPr>
          <a:xfrm>
            <a:off x="8183880" y="538124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Finanças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926580" y="3058668"/>
            <a:ext cx="868680" cy="868680"/>
          </a:xfrm>
          <a:prstGeom prst="ellipse">
            <a:avLst/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5063" y="3193999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/>
          <p:nvPr/>
        </p:nvSpPr>
        <p:spPr>
          <a:xfrm>
            <a:off x="6675120" y="387248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Cadeia 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Suprimentos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S&amp;OP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Fatores de Equilíbrio entre Oferta e Demanda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11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11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02920" y="1481328"/>
            <a:ext cx="111831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 objetivo do S&amp;OP é alcançado por meio da colaboração entre diferentes departamentos, para desenvolver um plano agregado que balanceie a oferta e a demanda, considerando: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02920" y="2350008"/>
            <a:ext cx="2090318" cy="265176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1228039" y="262432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658" y="27779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1"/>
          <p:cNvSpPr/>
          <p:nvPr/>
        </p:nvSpPr>
        <p:spPr>
          <a:xfrm>
            <a:off x="612648" y="3447288"/>
            <a:ext cx="18708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Capacidade de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2776118" y="2350008"/>
            <a:ext cx="2090318" cy="265176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501238" y="262432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4857" y="27779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/>
          <p:nvPr/>
        </p:nvSpPr>
        <p:spPr>
          <a:xfrm>
            <a:off x="2885846" y="3447288"/>
            <a:ext cx="18708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Estoques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049317" y="2350008"/>
            <a:ext cx="2090318" cy="265176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774436" y="262432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055" y="27779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5159045" y="3447288"/>
            <a:ext cx="18708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Recursos humanos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7322515" y="2350008"/>
            <a:ext cx="2090318" cy="265176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8047634" y="262432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1254" y="27779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"/>
          <p:cNvSpPr/>
          <p:nvPr/>
        </p:nvSpPr>
        <p:spPr>
          <a:xfrm>
            <a:off x="7432243" y="3447288"/>
            <a:ext cx="18708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Previsões de vendas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9595714" y="2350008"/>
            <a:ext cx="2090318" cy="265176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10320833" y="262432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4452" y="27779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/>
          <p:nvPr/>
        </p:nvSpPr>
        <p:spPr>
          <a:xfrm>
            <a:off x="9705442" y="3447288"/>
            <a:ext cx="18708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Restrições financeiras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502920" y="5276088"/>
            <a:ext cx="11183112" cy="960120"/>
          </a:xfrm>
          <a:prstGeom prst="roundRect">
            <a:avLst>
              <a:gd fmla="val 7619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822960" y="5276088"/>
            <a:ext cx="105430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Resultado esperado: capacidade da empresa para atender à demanda prevista de seus produtos e serviços, de forma eficiente e lucrativa.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S&amp;OP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Etapas do Processo de S&amp;OP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1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1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660" y="2505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2"/>
          <p:cNvSpPr/>
          <p:nvPr/>
        </p:nvSpPr>
        <p:spPr>
          <a:xfrm>
            <a:off x="1038606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1038606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02920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E7F2E9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612648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Revisão de demanda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30936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Avaliação das previsões de vendas e demanda de mercado.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992" y="2505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2"/>
          <p:cNvSpPr/>
          <p:nvPr/>
        </p:nvSpPr>
        <p:spPr>
          <a:xfrm>
            <a:off x="2932938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2932938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2397252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2506980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Revisão da oferta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2525268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Análise da capacidade, recursos e restrições de fornecimento.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1324" y="2505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2"/>
          <p:cNvSpPr/>
          <p:nvPr/>
        </p:nvSpPr>
        <p:spPr>
          <a:xfrm>
            <a:off x="4827270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4827270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291584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E7F2E9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401312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Reconciliação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419600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Comparação demanda × capacidade; identifica desequilíbrios.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5656" y="2505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2"/>
          <p:cNvSpPr/>
          <p:nvPr/>
        </p:nvSpPr>
        <p:spPr>
          <a:xfrm>
            <a:off x="6721602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6721602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185916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6295644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Desenvolvimento do plano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6313932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Plano agregado que equilibra oferta e demanda.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3" name="Google Shape;4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9988" y="25054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2"/>
          <p:cNvSpPr/>
          <p:nvPr/>
        </p:nvSpPr>
        <p:spPr>
          <a:xfrm>
            <a:off x="8615934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8615934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8080248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E7F2E9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8189976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Revisão executiva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208264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Alta administração alinha o plano às metas estratégicas.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0510266" y="1938528"/>
            <a:ext cx="640080" cy="64008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10510266" y="193852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9974580" y="2807208"/>
            <a:ext cx="1711452" cy="2697480"/>
          </a:xfrm>
          <a:prstGeom prst="roundRect">
            <a:avLst>
              <a:gd fmla="val 427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10084308" y="2944368"/>
            <a:ext cx="14919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Consolidação do plano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0102596" y="3630168"/>
            <a:ext cx="1455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Guia as atividades operacionais e se desagrega no Plano Mestre.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02920" y="5641848"/>
            <a:ext cx="11183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O ciclo se repete periodicamente (mensal, na maioria das empresas), mantendo vendas e operações sempre alinhadas.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S&amp;OP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Relação entre o S&amp;OP e o PAP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13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13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3991356" y="1527048"/>
            <a:ext cx="4206240" cy="566928"/>
          </a:xfrm>
          <a:prstGeom prst="roundRect">
            <a:avLst>
              <a:gd fmla="val 12903" name="adj"/>
            </a:avLst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3991356" y="1527048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Planejamento Estratégico do Negócio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3"/>
          <p:cNvCxnSpPr/>
          <p:nvPr/>
        </p:nvCxnSpPr>
        <p:spPr>
          <a:xfrm>
            <a:off x="6076188" y="2093976"/>
            <a:ext cx="36576" cy="292608"/>
          </a:xfrm>
          <a:prstGeom prst="straightConnector1">
            <a:avLst/>
          </a:prstGeom>
          <a:noFill/>
          <a:ln cap="flat" cmpd="sng" w="25400">
            <a:solidFill>
              <a:srgbClr val="5B6B7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73" name="Google Shape;473;p13"/>
          <p:cNvSpPr/>
          <p:nvPr/>
        </p:nvSpPr>
        <p:spPr>
          <a:xfrm>
            <a:off x="1545336" y="2386584"/>
            <a:ext cx="2103120" cy="1417320"/>
          </a:xfrm>
          <a:prstGeom prst="roundRect">
            <a:avLst>
              <a:gd fmla="val 5161" name="adj"/>
            </a:avLst>
          </a:prstGeom>
          <a:solidFill>
            <a:srgbClr val="0D2C54"/>
          </a:solidFill>
          <a:ln cap="flat" cmpd="sng" w="12700">
            <a:solidFill>
              <a:srgbClr val="0D2C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1545336" y="2386584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S&amp;OP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877056" y="2386584"/>
            <a:ext cx="3314700" cy="653796"/>
          </a:xfrm>
          <a:prstGeom prst="roundRect">
            <a:avLst>
              <a:gd fmla="val 11189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3931920" y="2386584"/>
            <a:ext cx="3204972" cy="653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Plano de desenvolvimento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de novos produtos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7328916" y="2386584"/>
            <a:ext cx="3314700" cy="653796"/>
          </a:xfrm>
          <a:prstGeom prst="roundRect">
            <a:avLst>
              <a:gd fmla="val 11189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7383780" y="2386584"/>
            <a:ext cx="3204972" cy="653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Plano financeiro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(Orçamento)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3877056" y="3150108"/>
            <a:ext cx="3314700" cy="653796"/>
          </a:xfrm>
          <a:prstGeom prst="roundRect">
            <a:avLst>
              <a:gd fmla="val 11189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3931920" y="3150108"/>
            <a:ext cx="3204972" cy="653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Plano de vendas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agregado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7328916" y="3150108"/>
            <a:ext cx="3314700" cy="653796"/>
          </a:xfrm>
          <a:prstGeom prst="roundRect">
            <a:avLst>
              <a:gd fmla="val 11189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7383780" y="3150108"/>
            <a:ext cx="3204972" cy="653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agregado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3"/>
          <p:cNvCxnSpPr/>
          <p:nvPr/>
        </p:nvCxnSpPr>
        <p:spPr>
          <a:xfrm>
            <a:off x="5516118" y="3803904"/>
            <a:ext cx="36576" cy="502920"/>
          </a:xfrm>
          <a:prstGeom prst="straightConnector1">
            <a:avLst/>
          </a:prstGeom>
          <a:noFill/>
          <a:ln cap="flat" cmpd="sng" w="25400">
            <a:solidFill>
              <a:srgbClr val="5B6B7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4" name="Google Shape;484;p13"/>
          <p:cNvSpPr/>
          <p:nvPr/>
        </p:nvSpPr>
        <p:spPr>
          <a:xfrm>
            <a:off x="4208526" y="4306824"/>
            <a:ext cx="26517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4208526" y="4306824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Plano de vendas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detalhado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3"/>
          <p:cNvCxnSpPr/>
          <p:nvPr/>
        </p:nvCxnSpPr>
        <p:spPr>
          <a:xfrm>
            <a:off x="8967978" y="3803904"/>
            <a:ext cx="36576" cy="502920"/>
          </a:xfrm>
          <a:prstGeom prst="straightConnector1">
            <a:avLst/>
          </a:prstGeom>
          <a:noFill/>
          <a:ln cap="flat" cmpd="sng" w="25400">
            <a:solidFill>
              <a:srgbClr val="5B6B7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7" name="Google Shape;487;p13"/>
          <p:cNvSpPr/>
          <p:nvPr/>
        </p:nvSpPr>
        <p:spPr>
          <a:xfrm>
            <a:off x="7660386" y="4306824"/>
            <a:ext cx="26517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7660386" y="4306824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Plano mestre 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produção (MPS)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CAPACIDADE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é Capacidade?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20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0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502920" y="1527048"/>
            <a:ext cx="11183112" cy="1234440"/>
          </a:xfrm>
          <a:prstGeom prst="roundRect">
            <a:avLst>
              <a:gd fmla="val 5926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777240" y="1801368"/>
            <a:ext cx="685800" cy="6858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1965960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0"/>
          <p:cNvSpPr/>
          <p:nvPr/>
        </p:nvSpPr>
        <p:spPr>
          <a:xfrm>
            <a:off x="1645920" y="1664208"/>
            <a:ext cx="97657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Capacidade é a quantidade máxima de produtos — bens e/ou serviços — que podem ser produzidos em uma unidade produtiva, num dado intervalo de tempo. É o nível máximo e potencial de uma operação, estabelecido para um período futuro.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502920" y="3035808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Normalmente calculada por hora, por dia ou por ano — a medida varia conforme o setor: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9" name="Google Shape;509;p20"/>
          <p:cNvGraphicFramePr/>
          <p:nvPr/>
        </p:nvGraphicFramePr>
        <p:xfrm>
          <a:off x="502920" y="3447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6150700"/>
                <a:gridCol w="5032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Setor / Operação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Medida de Capacidade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Fábrica de suco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litros / hora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Fábrica de aço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toneladas / mês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Cinema, teatro, estacionamento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 de lugares, ou nº por dia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Hospital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 de leitos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Serviço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nº de clientes atendidos / dia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"/>
          <p:cNvSpPr/>
          <p:nvPr/>
        </p:nvSpPr>
        <p:spPr>
          <a:xfrm>
            <a:off x="0" y="0"/>
            <a:ext cx="12191700" cy="10791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0" y="1078992"/>
            <a:ext cx="12191700" cy="54900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502920" y="164592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502920" y="420624"/>
            <a:ext cx="9601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Plano de Produção: Definição e Papel Tático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11292840" y="256032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11292840" y="448788"/>
            <a:ext cx="56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14"/>
          <p:cNvCxnSpPr/>
          <p:nvPr/>
        </p:nvCxnSpPr>
        <p:spPr>
          <a:xfrm>
            <a:off x="502920" y="6510528"/>
            <a:ext cx="11183100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14"/>
          <p:cNvSpPr/>
          <p:nvPr/>
        </p:nvSpPr>
        <p:spPr>
          <a:xfrm>
            <a:off x="502920" y="6547104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400800" y="6547104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11686032" y="6547104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02920" y="1572768"/>
            <a:ext cx="11183100" cy="1463100"/>
          </a:xfrm>
          <a:prstGeom prst="roundRect">
            <a:avLst>
              <a:gd fmla="val 5000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777240" y="1920240"/>
            <a:ext cx="777300" cy="7773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778" y="2106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4"/>
          <p:cNvSpPr/>
          <p:nvPr/>
        </p:nvSpPr>
        <p:spPr>
          <a:xfrm>
            <a:off x="1737360" y="1755648"/>
            <a:ext cx="962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Como resultado das decisões estratégicas de produção, é elaborado um plano de longo prazo, que direciona os recursos produtivos no sentido das estratégias escolhidas.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502920" y="3355848"/>
            <a:ext cx="111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Esse plano serve de base para equacionar os níveis de: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502920" y="3813048"/>
            <a:ext cx="2090400" cy="914400"/>
          </a:xfrm>
          <a:prstGeom prst="roundRect">
            <a:avLst>
              <a:gd fmla="val 80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6911" y="39227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4"/>
          <p:cNvSpPr/>
          <p:nvPr/>
        </p:nvSpPr>
        <p:spPr>
          <a:xfrm>
            <a:off x="548640" y="4361688"/>
            <a:ext cx="19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Produção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2776118" y="3813048"/>
            <a:ext cx="2090400" cy="914400"/>
          </a:xfrm>
          <a:prstGeom prst="roundRect">
            <a:avLst>
              <a:gd fmla="val 80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0110" y="39227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4"/>
          <p:cNvSpPr/>
          <p:nvPr/>
        </p:nvSpPr>
        <p:spPr>
          <a:xfrm>
            <a:off x="2821838" y="4361688"/>
            <a:ext cx="19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Estoques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5049317" y="3813048"/>
            <a:ext cx="2090400" cy="914400"/>
          </a:xfrm>
          <a:prstGeom prst="roundRect">
            <a:avLst>
              <a:gd fmla="val 80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3308" y="39227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4"/>
          <p:cNvSpPr/>
          <p:nvPr/>
        </p:nvSpPr>
        <p:spPr>
          <a:xfrm>
            <a:off x="5095037" y="4361688"/>
            <a:ext cx="19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Recursos humanos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7322515" y="3813048"/>
            <a:ext cx="2090400" cy="914400"/>
          </a:xfrm>
          <a:prstGeom prst="roundRect">
            <a:avLst>
              <a:gd fmla="val 80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66506" y="39227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4"/>
          <p:cNvSpPr/>
          <p:nvPr/>
        </p:nvSpPr>
        <p:spPr>
          <a:xfrm>
            <a:off x="7368235" y="4361688"/>
            <a:ext cx="19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Máquinas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9595714" y="3813048"/>
            <a:ext cx="2090400" cy="914400"/>
          </a:xfrm>
          <a:prstGeom prst="roundRect">
            <a:avLst>
              <a:gd fmla="val 80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39705" y="39227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4"/>
          <p:cNvSpPr/>
          <p:nvPr/>
        </p:nvSpPr>
        <p:spPr>
          <a:xfrm>
            <a:off x="9641434" y="4361688"/>
            <a:ext cx="19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Instalações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502920" y="4956048"/>
            <a:ext cx="54087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731520" y="4956048"/>
            <a:ext cx="495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Períodos de meses ou trimestres, abrangendo um ou mais anos à frente.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6277356" y="4956048"/>
            <a:ext cx="54087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6505956" y="4956048"/>
            <a:ext cx="495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É convertido em valores financeiros e serve de base para o Plano Mestre de Produção (PMP), quando as informações são desmembradas.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Entradas do Plano de Produção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0" name="Google Shape;560;p1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15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502920" y="1572768"/>
            <a:ext cx="5408676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777240" y="2258568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6" name="Google Shape;5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5" y="243413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5"/>
          <p:cNvSpPr/>
          <p:nvPr/>
        </p:nvSpPr>
        <p:spPr>
          <a:xfrm>
            <a:off x="1691640" y="1828800"/>
            <a:ext cx="3991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Recursos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1691640" y="2350008"/>
            <a:ext cx="39913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Equipamentos, instalações, força de trabalho e taxa de produção.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6277356" y="1572768"/>
            <a:ext cx="5408676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6551676" y="2258568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1" name="Google Shape;5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7241" y="243413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5"/>
          <p:cNvSpPr/>
          <p:nvPr/>
        </p:nvSpPr>
        <p:spPr>
          <a:xfrm>
            <a:off x="7466076" y="1828800"/>
            <a:ext cx="3991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Previsão da demanda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7466076" y="2350008"/>
            <a:ext cx="39913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Demanda prevista para cada família de produtos.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502920" y="3950208"/>
            <a:ext cx="5408676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777240" y="4636008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6" name="Google Shape;5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805" y="48115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5"/>
          <p:cNvSpPr/>
          <p:nvPr/>
        </p:nvSpPr>
        <p:spPr>
          <a:xfrm>
            <a:off x="1691640" y="4206240"/>
            <a:ext cx="3991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Dados de custos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1691640" y="4727448"/>
            <a:ext cx="39913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em turno normal, extra, subcontratações, estoques etc.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6277356" y="3950208"/>
            <a:ext cx="5408676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6551676" y="4636008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1" name="Google Shape;58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7241" y="48115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5"/>
          <p:cNvSpPr/>
          <p:nvPr/>
        </p:nvSpPr>
        <p:spPr>
          <a:xfrm>
            <a:off x="7466076" y="4206240"/>
            <a:ext cx="3991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Políticas alternativas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7466076" y="4727448"/>
            <a:ext cx="39913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Subcontratações, turnos extras, postergar a produção, estoques etc.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Alternativas Estratégicas de Produção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1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16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502920" y="1572768"/>
            <a:ext cx="3544824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502920" y="1572768"/>
            <a:ext cx="3544824" cy="128016"/>
          </a:xfrm>
          <a:prstGeom prst="roundRect">
            <a:avLst>
              <a:gd fmla="val 16667" name="adj"/>
            </a:avLst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1891284" y="1892808"/>
            <a:ext cx="768096" cy="768096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2" name="Google Shape;6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627" y="2077151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6"/>
          <p:cNvSpPr/>
          <p:nvPr/>
        </p:nvSpPr>
        <p:spPr>
          <a:xfrm>
            <a:off x="3544824" y="1755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685800" y="2807208"/>
            <a:ext cx="3179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Taxa constante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777240" y="3401568"/>
            <a:ext cx="2996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Mantém a capacidade fixa ao longo do horizonte; a variação de demanda é absorvida pelos estoques.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4322064" y="1572768"/>
            <a:ext cx="3544824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4322064" y="1572768"/>
            <a:ext cx="3544824" cy="128016"/>
          </a:xfrm>
          <a:prstGeom prst="roundRect">
            <a:avLst>
              <a:gd fmla="val 16667" name="adj"/>
            </a:avLst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"/>
          <p:cNvSpPr/>
          <p:nvPr/>
        </p:nvSpPr>
        <p:spPr>
          <a:xfrm>
            <a:off x="5710428" y="1892808"/>
            <a:ext cx="768096" cy="768096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4771" y="2077151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6"/>
          <p:cNvSpPr/>
          <p:nvPr/>
        </p:nvSpPr>
        <p:spPr>
          <a:xfrm>
            <a:off x="7363968" y="1755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4504944" y="2807208"/>
            <a:ext cx="3179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Taxa casada com a demanda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4596384" y="3401568"/>
            <a:ext cx="2996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Ajusta a capacidade a cada período, acompanhando a demanda — reduz estoques, exige flexibilidade de recursos.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8141208" y="1572768"/>
            <a:ext cx="3544824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8141208" y="1572768"/>
            <a:ext cx="3544824" cy="128016"/>
          </a:xfrm>
          <a:prstGeom prst="roundRect">
            <a:avLst>
              <a:gd fmla="val 16667" name="adj"/>
            </a:avLst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9529572" y="1892808"/>
            <a:ext cx="768096" cy="768096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6" name="Google Shape;6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3915" y="2077151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6"/>
          <p:cNvSpPr/>
          <p:nvPr/>
        </p:nvSpPr>
        <p:spPr>
          <a:xfrm>
            <a:off x="11183112" y="17556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D3D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8324088" y="2807208"/>
            <a:ext cx="3179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Variação em patamares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8415528" y="3401568"/>
            <a:ext cx="2996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Combina turno normal, hora extra e subcontratação em níveis intermediários entre as duas estratégias anteriores.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502920" y="5001768"/>
            <a:ext cx="11183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As três alternativas serão comparadas no exemplo numérico ao final da aula, a partir do custo total de cada plano.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Capacidade Constante × Acompanhamento da Demanda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17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17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502920" y="1527048"/>
            <a:ext cx="53629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Capacidade Constante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7" name="Google Shape;637;p17"/>
          <p:cNvGraphicFramePr/>
          <p:nvPr/>
        </p:nvGraphicFramePr>
        <p:xfrm>
          <a:off x="502920" y="1847088"/>
          <a:ext cx="5362956" cy="32461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38" name="Google Shape;638;p17"/>
          <p:cNvSpPr/>
          <p:nvPr/>
        </p:nvSpPr>
        <p:spPr>
          <a:xfrm>
            <a:off x="6323076" y="1527048"/>
            <a:ext cx="53629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Acompanhamento da Demanda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9" name="Google Shape;639;p17"/>
          <p:cNvGraphicFramePr/>
          <p:nvPr/>
        </p:nvGraphicFramePr>
        <p:xfrm>
          <a:off x="6323076" y="1847088"/>
          <a:ext cx="5362956" cy="32461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640" name="Google Shape;640;p17"/>
          <p:cNvSpPr/>
          <p:nvPr/>
        </p:nvSpPr>
        <p:spPr>
          <a:xfrm>
            <a:off x="502920" y="5276088"/>
            <a:ext cx="53629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Aplicável quando é possível manter estoques; difícil para produtos perecíveis ou de moda rápida; custos de manutenção de estoque precisam ser calculados. Geralmente não é aplicável em serviços.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6323076" y="5276088"/>
            <a:ext cx="53629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Mais adequada para operações de serviços; limitada pelas restrições internas e externas de variação dos recursos — sobretudo mão-de-obra.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Etapas para Elaborar o Plano de Produção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8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p18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18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8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8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1097280" y="1572768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1280160" y="1572768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Agrupar os bens físicos em famílias afins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502920" y="2596896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502920" y="25968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1097280" y="2523744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8"/>
          <p:cNvSpPr/>
          <p:nvPr/>
        </p:nvSpPr>
        <p:spPr>
          <a:xfrm>
            <a:off x="1280160" y="2523744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Estabelecer o horizonte de planejamento e os períodos de tempo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502920" y="3547872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50292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1097280" y="3474720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8"/>
          <p:cNvSpPr/>
          <p:nvPr/>
        </p:nvSpPr>
        <p:spPr>
          <a:xfrm>
            <a:off x="1280160" y="3474720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Determinar, período a período, a previsão de demanda (PD)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502920" y="4498848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8"/>
          <p:cNvSpPr/>
          <p:nvPr/>
        </p:nvSpPr>
        <p:spPr>
          <a:xfrm>
            <a:off x="502920" y="4498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1097280" y="4425696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1280160" y="4425696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Analisar a capacidade produtiva em turno normal: Pn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502920" y="5449824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8"/>
          <p:cNvSpPr/>
          <p:nvPr/>
        </p:nvSpPr>
        <p:spPr>
          <a:xfrm>
            <a:off x="502920" y="5449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1097280" y="5376672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1280160" y="5376672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Identificar os períodos com falta de capacidade (PD &gt; Pn)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6277356" y="1645920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627735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6871716" y="1572768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7054596" y="1572768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Aumentar a capacidade segundo a estratégia permitida, quando necessário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6277356" y="2596896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6277356" y="25968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6871716" y="2523744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7054596" y="2523744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Definir as políticas de produção e estoques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277356" y="3547872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6277356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6871716" y="3474720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8"/>
          <p:cNvSpPr/>
          <p:nvPr/>
        </p:nvSpPr>
        <p:spPr>
          <a:xfrm>
            <a:off x="7054596" y="3474720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Calcular os custos decorrentes, resultando no Plano Financeiro (PF)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6277356" y="4498848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6277356" y="4498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6871716" y="4425696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4F6F8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7054596" y="4425696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Desenvolver planos de produção alternativos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6277356" y="5449824"/>
            <a:ext cx="457200" cy="457200"/>
          </a:xfrm>
          <a:prstGeom prst="ellipse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6277356" y="5449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6871716" y="5376672"/>
            <a:ext cx="4814316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7054596" y="5376672"/>
            <a:ext cx="44485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Escolher o PP com melhor retorno financeiro no horizonte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9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Avaliação do Plano de Produção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19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19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9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973836" y="1755648"/>
            <a:ext cx="27432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9"/>
          <p:cNvSpPr/>
          <p:nvPr/>
        </p:nvSpPr>
        <p:spPr>
          <a:xfrm>
            <a:off x="1138428" y="1984248"/>
            <a:ext cx="548640" cy="548640"/>
          </a:xfrm>
          <a:prstGeom prst="ellipse">
            <a:avLst/>
          </a:prstGeom>
          <a:solidFill>
            <a:srgbClr val="E7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4" name="Google Shape;7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102" y="21159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9"/>
          <p:cNvSpPr/>
          <p:nvPr/>
        </p:nvSpPr>
        <p:spPr>
          <a:xfrm>
            <a:off x="1796796" y="1755648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Plano de Produção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19"/>
          <p:cNvCxnSpPr/>
          <p:nvPr/>
        </p:nvCxnSpPr>
        <p:spPr>
          <a:xfrm>
            <a:off x="3717036" y="2249424"/>
            <a:ext cx="1005840" cy="18288"/>
          </a:xfrm>
          <a:prstGeom prst="straightConnector1">
            <a:avLst/>
          </a:prstGeom>
          <a:noFill/>
          <a:ln cap="flat" cmpd="sng" w="31750">
            <a:solidFill>
              <a:srgbClr val="1E7A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19"/>
          <p:cNvSpPr/>
          <p:nvPr/>
        </p:nvSpPr>
        <p:spPr>
          <a:xfrm>
            <a:off x="4722876" y="1755648"/>
            <a:ext cx="27432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4887468" y="1984248"/>
            <a:ext cx="548640" cy="548640"/>
          </a:xfrm>
          <a:prstGeom prst="ellipse">
            <a:avLst/>
          </a:prstGeom>
          <a:solidFill>
            <a:srgbClr val="E7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9" name="Google Shape;7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142" y="21159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9"/>
          <p:cNvSpPr/>
          <p:nvPr/>
        </p:nvSpPr>
        <p:spPr>
          <a:xfrm>
            <a:off x="5545836" y="1755648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Valores Monetários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19"/>
          <p:cNvCxnSpPr/>
          <p:nvPr/>
        </p:nvCxnSpPr>
        <p:spPr>
          <a:xfrm>
            <a:off x="7466076" y="2249424"/>
            <a:ext cx="1005840" cy="18288"/>
          </a:xfrm>
          <a:prstGeom prst="straightConnector1">
            <a:avLst/>
          </a:prstGeom>
          <a:noFill/>
          <a:ln cap="flat" cmpd="sng" w="31750">
            <a:solidFill>
              <a:srgbClr val="1E7A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2" name="Google Shape;722;p19"/>
          <p:cNvSpPr/>
          <p:nvPr/>
        </p:nvSpPr>
        <p:spPr>
          <a:xfrm>
            <a:off x="8471916" y="1755648"/>
            <a:ext cx="2743200" cy="1005840"/>
          </a:xfrm>
          <a:prstGeom prst="roundRect">
            <a:avLst>
              <a:gd fmla="val 7273" name="adj"/>
            </a:avLst>
          </a:prstGeom>
          <a:solidFill>
            <a:srgbClr val="0D2C54"/>
          </a:solidFill>
          <a:ln cap="flat" cmpd="sng" w="12700">
            <a:solidFill>
              <a:srgbClr val="0D2C5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F293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8636508" y="1984248"/>
            <a:ext cx="548640" cy="54864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8182" y="21159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9"/>
          <p:cNvSpPr/>
          <p:nvPr/>
        </p:nvSpPr>
        <p:spPr>
          <a:xfrm>
            <a:off x="9294876" y="1755648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Plano Financeiro (PF)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502920" y="3310128"/>
            <a:ext cx="11183112" cy="1188720"/>
          </a:xfrm>
          <a:prstGeom prst="roundRect">
            <a:avLst>
              <a:gd fmla="val 6154" name="adj"/>
            </a:avLst>
          </a:prstGeom>
          <a:solidFill>
            <a:srgbClr val="E7F2E9"/>
          </a:solidFill>
          <a:ln cap="flat" cmpd="sng" w="12700">
            <a:solidFill>
              <a:srgbClr val="E7F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9"/>
          <p:cNvSpPr/>
          <p:nvPr/>
        </p:nvSpPr>
        <p:spPr>
          <a:xfrm>
            <a:off x="822960" y="3310128"/>
            <a:ext cx="105430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7A34"/>
                </a:solidFill>
                <a:latin typeface="Calibri"/>
                <a:ea typeface="Calibri"/>
                <a:cs typeface="Calibri"/>
                <a:sym typeface="Calibri"/>
              </a:rPr>
              <a:t>O Plano Financeiro (PF) </a:t>
            </a: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permite comparar os custos de diferentes estratégias de produção — ex.: produção constante, produção de acompanhamento da demanda, criação de estoques de segurança, plano sem hora extra, etc.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502920" y="4727448"/>
            <a:ext cx="11183112" cy="1051560"/>
          </a:xfrm>
          <a:prstGeom prst="roundRect">
            <a:avLst>
              <a:gd fmla="val 6957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822960" y="4727448"/>
            <a:ext cx="10543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50"/>
              <a:buFont typeface="Calibri"/>
              <a:buNone/>
            </a:pPr>
            <a:r>
              <a:rPr b="1" i="1" lang="en-US" sz="13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O melhor Plano de Produção é aquele que, seguindo as estratégias previamente definidas, apresenta o melhor resultado (menor custo) no Plano Financeiro para todo o período de estudo.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2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PLANO DE PRODUÇÃO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502925" y="420625"/>
            <a:ext cx="11183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Notação Matemática do Plano de Produção - Eq. Balan</a:t>
            </a: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ço de Estoque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2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2" name="Google Shape;742;p22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502920" y="1572768"/>
            <a:ext cx="5454396" cy="1051560"/>
          </a:xfrm>
          <a:prstGeom prst="roundRect">
            <a:avLst>
              <a:gd fmla="val 6957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502920" y="1572768"/>
            <a:ext cx="54543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EFₜ = EIₜ + PTₜ − Dₜ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6231636" y="1572768"/>
            <a:ext cx="5454396" cy="1051560"/>
          </a:xfrm>
          <a:prstGeom prst="roundRect">
            <a:avLst>
              <a:gd fmla="val 6957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/>
          <p:cNvSpPr/>
          <p:nvPr/>
        </p:nvSpPr>
        <p:spPr>
          <a:xfrm>
            <a:off x="6231636" y="1572768"/>
            <a:ext cx="54543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EFₜ = EIₜ₊₁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/>
          <p:nvPr/>
        </p:nvSpPr>
        <p:spPr>
          <a:xfrm>
            <a:off x="502920" y="2852928"/>
            <a:ext cx="5454396" cy="1051560"/>
          </a:xfrm>
          <a:prstGeom prst="roundRect">
            <a:avLst>
              <a:gd fmla="val 6957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2"/>
          <p:cNvSpPr/>
          <p:nvPr/>
        </p:nvSpPr>
        <p:spPr>
          <a:xfrm>
            <a:off x="502920" y="2852928"/>
            <a:ext cx="54543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PTₜ = Normalₜ + HEₜ + SUBₜ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6231636" y="2852928"/>
            <a:ext cx="5454396" cy="1051560"/>
          </a:xfrm>
          <a:prstGeom prst="roundRect">
            <a:avLst>
              <a:gd fmla="val 6957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2"/>
          <p:cNvSpPr/>
          <p:nvPr/>
        </p:nvSpPr>
        <p:spPr>
          <a:xfrm>
            <a:off x="6231636" y="2852928"/>
            <a:ext cx="54543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EMₜ = (EIₜ + EFₜ) /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2"/>
          <p:cNvSpPr/>
          <p:nvPr/>
        </p:nvSpPr>
        <p:spPr>
          <a:xfrm>
            <a:off x="502920" y="4270248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Onde: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502920" y="4636008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EFₜ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Estoque Final no período 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3344418" y="4636008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EIₜ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Estoque Inicial no período 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6185916" y="4636008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PTₜ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Total no período 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2"/>
          <p:cNvSpPr/>
          <p:nvPr/>
        </p:nvSpPr>
        <p:spPr>
          <a:xfrm>
            <a:off x="9027414" y="4636008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Normalₜ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em turno normal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502920" y="5294376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HEₜ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em Hora Extra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3344418" y="5294376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SUBₜ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Produção Subcontratada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6185916" y="5294376"/>
            <a:ext cx="26586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EMₜ  </a:t>
            </a: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Estoque Médio no período 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3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EXEMPLO APLICADO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Enunciado do Problema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2" name="Google Shape;772;p23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3" name="Google Shape;773;p23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3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502920" y="1435608"/>
            <a:ext cx="11183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Desenvolver um plano de produção de uma família de produtos para os próximos dois anos, com períodos trimestrais.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7" name="Google Shape;777;p23"/>
          <p:cNvGraphicFramePr/>
          <p:nvPr/>
        </p:nvGraphicFramePr>
        <p:xfrm>
          <a:off x="502920" y="207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1188725"/>
                <a:gridCol w="1100700"/>
                <a:gridCol w="1100700"/>
                <a:gridCol w="1100700"/>
                <a:gridCol w="1100700"/>
                <a:gridCol w="1100700"/>
                <a:gridCol w="1100700"/>
                <a:gridCol w="1100700"/>
                <a:gridCol w="1100700"/>
                <a:gridCol w="1188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8" name="Google Shape;778;p23"/>
          <p:cNvSpPr/>
          <p:nvPr/>
        </p:nvSpPr>
        <p:spPr>
          <a:xfrm>
            <a:off x="502920" y="2916936"/>
            <a:ext cx="11183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Estoque inicial = 50 unidades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502920" y="3355848"/>
            <a:ext cx="2090318" cy="2331720"/>
          </a:xfrm>
          <a:prstGeom prst="roundRect">
            <a:avLst>
              <a:gd fmla="val 35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3"/>
          <p:cNvSpPr/>
          <p:nvPr/>
        </p:nvSpPr>
        <p:spPr>
          <a:xfrm>
            <a:off x="1255471" y="3584448"/>
            <a:ext cx="585216" cy="585216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1" name="Google Shape;7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923" y="3724900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3"/>
          <p:cNvSpPr/>
          <p:nvPr/>
        </p:nvSpPr>
        <p:spPr>
          <a:xfrm>
            <a:off x="576072" y="4270248"/>
            <a:ext cx="19440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Turno normal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3"/>
          <p:cNvSpPr/>
          <p:nvPr/>
        </p:nvSpPr>
        <p:spPr>
          <a:xfrm>
            <a:off x="576072" y="4727448"/>
            <a:ext cx="19440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$4 / 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3"/>
          <p:cNvSpPr/>
          <p:nvPr/>
        </p:nvSpPr>
        <p:spPr>
          <a:xfrm>
            <a:off x="2776118" y="3355848"/>
            <a:ext cx="2090318" cy="2331720"/>
          </a:xfrm>
          <a:prstGeom prst="roundRect">
            <a:avLst>
              <a:gd fmla="val 35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3"/>
          <p:cNvSpPr/>
          <p:nvPr/>
        </p:nvSpPr>
        <p:spPr>
          <a:xfrm>
            <a:off x="3528670" y="3584448"/>
            <a:ext cx="585216" cy="585216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6" name="Google Shape;7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9121" y="3724900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3"/>
          <p:cNvSpPr/>
          <p:nvPr/>
        </p:nvSpPr>
        <p:spPr>
          <a:xfrm>
            <a:off x="2849270" y="4270248"/>
            <a:ext cx="19440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Turno extra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2849270" y="4727448"/>
            <a:ext cx="19440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$6 / 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5049317" y="3355848"/>
            <a:ext cx="2090318" cy="2331720"/>
          </a:xfrm>
          <a:prstGeom prst="roundRect">
            <a:avLst>
              <a:gd fmla="val 35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3"/>
          <p:cNvSpPr/>
          <p:nvPr/>
        </p:nvSpPr>
        <p:spPr>
          <a:xfrm>
            <a:off x="5801868" y="3584448"/>
            <a:ext cx="585216" cy="585216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1" name="Google Shape;7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2320" y="3724900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3"/>
          <p:cNvSpPr/>
          <p:nvPr/>
        </p:nvSpPr>
        <p:spPr>
          <a:xfrm>
            <a:off x="5122469" y="4270248"/>
            <a:ext cx="19440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Subcontratação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3"/>
          <p:cNvSpPr/>
          <p:nvPr/>
        </p:nvSpPr>
        <p:spPr>
          <a:xfrm>
            <a:off x="5122469" y="4727448"/>
            <a:ext cx="19440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$10 / 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3"/>
          <p:cNvSpPr/>
          <p:nvPr/>
        </p:nvSpPr>
        <p:spPr>
          <a:xfrm>
            <a:off x="7322515" y="3355848"/>
            <a:ext cx="2090318" cy="2331720"/>
          </a:xfrm>
          <a:prstGeom prst="roundRect">
            <a:avLst>
              <a:gd fmla="val 3500" name="adj"/>
            </a:avLst>
          </a:prstGeom>
          <a:solidFill>
            <a:srgbClr val="E7F2E9"/>
          </a:solidFill>
          <a:ln cap="flat" cmpd="sng" w="12700">
            <a:solidFill>
              <a:srgbClr val="C7D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3"/>
          <p:cNvSpPr/>
          <p:nvPr/>
        </p:nvSpPr>
        <p:spPr>
          <a:xfrm>
            <a:off x="8075066" y="3584448"/>
            <a:ext cx="585216" cy="585216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6" name="Google Shape;79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518" y="3724900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23"/>
          <p:cNvSpPr/>
          <p:nvPr/>
        </p:nvSpPr>
        <p:spPr>
          <a:xfrm>
            <a:off x="7395667" y="4270248"/>
            <a:ext cx="19440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Estocagem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3"/>
          <p:cNvSpPr/>
          <p:nvPr/>
        </p:nvSpPr>
        <p:spPr>
          <a:xfrm>
            <a:off x="7395667" y="4727448"/>
            <a:ext cx="19440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$2 / un / trim.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7A34"/>
                </a:solidFill>
                <a:latin typeface="Cambria"/>
                <a:ea typeface="Cambria"/>
                <a:cs typeface="Cambria"/>
                <a:sym typeface="Cambria"/>
              </a:rPr>
              <a:t>(sobre estoque médio)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3"/>
          <p:cNvSpPr/>
          <p:nvPr/>
        </p:nvSpPr>
        <p:spPr>
          <a:xfrm>
            <a:off x="9595714" y="3355848"/>
            <a:ext cx="2090318" cy="2331720"/>
          </a:xfrm>
          <a:prstGeom prst="roundRect">
            <a:avLst>
              <a:gd fmla="val 3500" name="adj"/>
            </a:avLst>
          </a:prstGeom>
          <a:solidFill>
            <a:srgbClr val="FBEAE9"/>
          </a:solidFill>
          <a:ln cap="flat" cmpd="sng" w="12700">
            <a:solidFill>
              <a:srgbClr val="FBE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3"/>
          <p:cNvSpPr/>
          <p:nvPr/>
        </p:nvSpPr>
        <p:spPr>
          <a:xfrm>
            <a:off x="10348265" y="3584448"/>
            <a:ext cx="585216" cy="585216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1" name="Google Shape;80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8717" y="3724900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3"/>
          <p:cNvSpPr/>
          <p:nvPr/>
        </p:nvSpPr>
        <p:spPr>
          <a:xfrm>
            <a:off x="9668866" y="4270248"/>
            <a:ext cx="19440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Atraso na entrega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9668866" y="4727448"/>
            <a:ext cx="19440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B3261E"/>
                </a:solidFill>
                <a:latin typeface="Cambria"/>
                <a:ea typeface="Cambria"/>
                <a:cs typeface="Cambria"/>
                <a:sym typeface="Cambria"/>
              </a:rPr>
              <a:t>$20 / un / trim.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4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4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EXEMPLO APLICADO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Estratégia 1 — Produção Constante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4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5" name="Google Shape;815;p24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2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502920" y="1389888"/>
            <a:ext cx="11183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Capacidade produtiva constante de 250 un./trim. (2000 ÷ 8); os estoques absorvem a variação de demanda; admitem-se atrasos, transferidos ao período seguinte.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0" name="Google Shape;820;p24"/>
          <p:cNvGraphicFramePr/>
          <p:nvPr/>
        </p:nvGraphicFramePr>
        <p:xfrm>
          <a:off x="502920" y="207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1234450"/>
                <a:gridCol w="1243575"/>
                <a:gridCol w="1243575"/>
                <a:gridCol w="1243575"/>
                <a:gridCol w="1243575"/>
                <a:gridCol w="1243575"/>
                <a:gridCol w="1243575"/>
                <a:gridCol w="1243575"/>
                <a:gridCol w="12435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Trim.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Produção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Estoque final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total ($)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</a:tr>
            </a:tbl>
          </a:graphicData>
        </a:graphic>
      </p:graphicFrame>
      <p:sp>
        <p:nvSpPr>
          <p:cNvPr id="821" name="Google Shape;821;p24"/>
          <p:cNvSpPr/>
          <p:nvPr/>
        </p:nvSpPr>
        <p:spPr>
          <a:xfrm>
            <a:off x="502920" y="395020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Custo total por trimestre ($)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2" name="Google Shape;822;p24"/>
          <p:cNvGraphicFramePr/>
          <p:nvPr/>
        </p:nvGraphicFramePr>
        <p:xfrm>
          <a:off x="502920" y="4224528"/>
          <a:ext cx="7406640" cy="1417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23" name="Google Shape;823;p24"/>
          <p:cNvSpPr/>
          <p:nvPr/>
        </p:nvSpPr>
        <p:spPr>
          <a:xfrm>
            <a:off x="8183880" y="3950208"/>
            <a:ext cx="3502152" cy="1691640"/>
          </a:xfrm>
          <a:prstGeom prst="roundRect">
            <a:avLst>
              <a:gd fmla="val 4324" name="adj"/>
            </a:avLst>
          </a:prstGeom>
          <a:solidFill>
            <a:srgbClr val="0D2C54"/>
          </a:solidFill>
          <a:ln cap="flat" cmpd="sng" w="12700">
            <a:solidFill>
              <a:srgbClr val="0D2C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4"/>
          <p:cNvSpPr/>
          <p:nvPr/>
        </p:nvSpPr>
        <p:spPr>
          <a:xfrm>
            <a:off x="8183880" y="413308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CUSTO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8183880" y="4407408"/>
            <a:ext cx="3502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$ 10.300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8183880" y="5138928"/>
            <a:ext cx="3502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8E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BD8E6"/>
                </a:solidFill>
                <a:latin typeface="Calibri"/>
                <a:ea typeface="Calibri"/>
                <a:cs typeface="Calibri"/>
                <a:sym typeface="Calibri"/>
              </a:rPr>
              <a:t>Estratégia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5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5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ATIVIDADE EM SALA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Pratique a Fórmula: Monte o Plano de Produção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5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2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9" name="Google Shape;839;p25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502920" y="1371600"/>
            <a:ext cx="11183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Uma fábrica de ventiladores portáteis planeja a produção dos próximos 6 meses com taxa de produção constante. Complete a tabela aplicando as fórmulas EFₜ = EIₜ + PTₜ − Dₜ e EMₜ = (EIₜ + EFₜ) / 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3" name="Google Shape;843;p25"/>
          <p:cNvGraphicFramePr/>
          <p:nvPr/>
        </p:nvGraphicFramePr>
        <p:xfrm>
          <a:off x="502920" y="1938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1188725"/>
                <a:gridCol w="1665725"/>
                <a:gridCol w="1665725"/>
                <a:gridCol w="1665725"/>
                <a:gridCol w="1665725"/>
                <a:gridCol w="1665725"/>
                <a:gridCol w="16657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Mês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4" name="Google Shape;844;p25"/>
          <p:cNvSpPr/>
          <p:nvPr/>
        </p:nvSpPr>
        <p:spPr>
          <a:xfrm>
            <a:off x="502920" y="2743200"/>
            <a:ext cx="11183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Estoque inicial = 20 un.   ·   Produção constante = 130 un./mês   ·   Custo de produção = $5/un   ·   Custo de estocagem = $1/un/mês (sobre o estoque médio)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502920" y="3081528"/>
            <a:ext cx="11183112" cy="822960"/>
          </a:xfrm>
          <a:prstGeom prst="roundRect">
            <a:avLst>
              <a:gd fmla="val 8889" name="adj"/>
            </a:avLst>
          </a:prstGeom>
          <a:solidFill>
            <a:srgbClr val="E7ECF3"/>
          </a:solidFill>
          <a:ln cap="flat" cmpd="sng" w="12700">
            <a:solidFill>
              <a:srgbClr val="E7EC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5"/>
          <p:cNvSpPr/>
          <p:nvPr/>
        </p:nvSpPr>
        <p:spPr>
          <a:xfrm>
            <a:off x="731520" y="3172968"/>
            <a:ext cx="10725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2C54"/>
                </a:solidFill>
                <a:latin typeface="Calibri"/>
                <a:ea typeface="Calibri"/>
                <a:cs typeface="Calibri"/>
                <a:sym typeface="Calibri"/>
              </a:rPr>
              <a:t>Mês 1 — resolvido como modelo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731520" y="3447288"/>
            <a:ext cx="10725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EI=20, PT=130, D=100  →  EF = 20+130−100 = 50.   EM = (20+50)/2 = 35  →  estocagem = $35.   Produção = 130×$5 = $650.   Custo do mês = $685.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8" name="Google Shape;848;p25"/>
          <p:cNvGraphicFramePr/>
          <p:nvPr/>
        </p:nvGraphicFramePr>
        <p:xfrm>
          <a:off x="502920" y="4041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1597575"/>
                <a:gridCol w="1597575"/>
                <a:gridCol w="1597575"/>
                <a:gridCol w="1597575"/>
                <a:gridCol w="1597575"/>
                <a:gridCol w="1597575"/>
                <a:gridCol w="159757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Mês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($)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C0C8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B7C0C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9" name="Google Shape;849;p25"/>
          <p:cNvSpPr/>
          <p:nvPr/>
        </p:nvSpPr>
        <p:spPr>
          <a:xfrm>
            <a:off x="502920" y="5943600"/>
            <a:ext cx="11183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34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E7A34"/>
                </a:solidFill>
                <a:latin typeface="Calibri"/>
                <a:ea typeface="Calibri"/>
                <a:cs typeface="Calibri"/>
                <a:sym typeface="Calibri"/>
              </a:rPr>
              <a:t>Complete os "?" e calcule o custo total do plano de 6 meses.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6"/>
          <p:cNvSpPr/>
          <p:nvPr/>
        </p:nvSpPr>
        <p:spPr>
          <a:xfrm>
            <a:off x="502920" y="16459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ATIVIDADE EM SALA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6"/>
          <p:cNvSpPr/>
          <p:nvPr/>
        </p:nvSpPr>
        <p:spPr>
          <a:xfrm>
            <a:off x="502920" y="420624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Solução — Plano de Produção Completo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6"/>
          <p:cNvSpPr/>
          <p:nvPr/>
        </p:nvSpPr>
        <p:spPr>
          <a:xfrm>
            <a:off x="11292840" y="256032"/>
            <a:ext cx="566928" cy="56692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6"/>
          <p:cNvSpPr/>
          <p:nvPr/>
        </p:nvSpPr>
        <p:spPr>
          <a:xfrm>
            <a:off x="11292840" y="448788"/>
            <a:ext cx="566928" cy="181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40"/>
              <a:buFont typeface="Cambria"/>
              <a:buNone/>
            </a:pPr>
            <a:r>
              <a:rPr b="1" i="0" lang="en-US" sz="124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1" name="Google Shape;861;p2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2" name="Google Shape;862;p26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PAP em Manufatura  •  Organização Industrial · Aula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6"/>
          <p:cNvSpPr/>
          <p:nvPr/>
        </p:nvSpPr>
        <p:spPr>
          <a:xfrm>
            <a:off x="6400800" y="65471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Prof. João Victor Queiroz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6"/>
          <p:cNvSpPr/>
          <p:nvPr/>
        </p:nvSpPr>
        <p:spPr>
          <a:xfrm>
            <a:off x="1168603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5" name="Google Shape;865;p26"/>
          <p:cNvGraphicFramePr/>
          <p:nvPr/>
        </p:nvGraphicFramePr>
        <p:xfrm>
          <a:off x="502920" y="1572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{2CAB5CC0-14BF-4D1A-B1FD-EEB5245A877B}</a:tableStyleId>
              </a:tblPr>
              <a:tblGrid>
                <a:gridCol w="1554475"/>
                <a:gridCol w="1604775"/>
                <a:gridCol w="1604775"/>
                <a:gridCol w="1604775"/>
                <a:gridCol w="1604775"/>
                <a:gridCol w="1604775"/>
                <a:gridCol w="1604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Mês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C5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Produção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Estoque final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Estoque médio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total ($)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C5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2C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3"/>
                    </a:solidFill>
                  </a:tcPr>
                </a:tc>
              </a:tr>
            </a:tbl>
          </a:graphicData>
        </a:graphic>
      </p:graphicFrame>
      <p:sp>
        <p:nvSpPr>
          <p:cNvPr id="866" name="Google Shape;866;p26"/>
          <p:cNvSpPr/>
          <p:nvPr/>
        </p:nvSpPr>
        <p:spPr>
          <a:xfrm>
            <a:off x="502920" y="37673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Custo total por mês ($)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7" name="Google Shape;867;p26"/>
          <p:cNvGraphicFramePr/>
          <p:nvPr/>
        </p:nvGraphicFramePr>
        <p:xfrm>
          <a:off x="502920" y="4041648"/>
          <a:ext cx="7406640" cy="1600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68" name="Google Shape;868;p26"/>
          <p:cNvSpPr/>
          <p:nvPr/>
        </p:nvSpPr>
        <p:spPr>
          <a:xfrm>
            <a:off x="8183880" y="3767328"/>
            <a:ext cx="3502152" cy="1874520"/>
          </a:xfrm>
          <a:prstGeom prst="roundRect">
            <a:avLst>
              <a:gd fmla="val 3902" name="adj"/>
            </a:avLst>
          </a:prstGeom>
          <a:solidFill>
            <a:srgbClr val="0D2C54"/>
          </a:solidFill>
          <a:ln cap="flat" cmpd="sng" w="12700">
            <a:solidFill>
              <a:srgbClr val="0D2C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6"/>
          <p:cNvSpPr/>
          <p:nvPr/>
        </p:nvSpPr>
        <p:spPr>
          <a:xfrm>
            <a:off x="8183880" y="3968496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CUSTO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6"/>
          <p:cNvSpPr/>
          <p:nvPr/>
        </p:nvSpPr>
        <p:spPr>
          <a:xfrm>
            <a:off x="8183880" y="4270248"/>
            <a:ext cx="3502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$ 4.090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6"/>
          <p:cNvSpPr/>
          <p:nvPr/>
        </p:nvSpPr>
        <p:spPr>
          <a:xfrm>
            <a:off x="8183880" y="4974336"/>
            <a:ext cx="35021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BD8E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BD8E6"/>
                </a:solidFill>
                <a:latin typeface="Calibri"/>
                <a:ea typeface="Calibri"/>
                <a:cs typeface="Calibri"/>
                <a:sym typeface="Calibri"/>
              </a:rPr>
              <a:t>6 meses, sem atrasos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6"/>
          <p:cNvSpPr/>
          <p:nvPr/>
        </p:nvSpPr>
        <p:spPr>
          <a:xfrm>
            <a:off x="502920" y="5641848"/>
            <a:ext cx="11183112" cy="731520"/>
          </a:xfrm>
          <a:prstGeom prst="roundRect">
            <a:avLst>
              <a:gd fmla="val 10000" name="adj"/>
            </a:avLst>
          </a:prstGeom>
          <a:solidFill>
            <a:srgbClr val="E7F2E9"/>
          </a:solidFill>
          <a:ln cap="flat" cmpd="sng" w="12700">
            <a:solidFill>
              <a:srgbClr val="E7F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6"/>
          <p:cNvSpPr/>
          <p:nvPr/>
        </p:nvSpPr>
        <p:spPr>
          <a:xfrm>
            <a:off x="731520" y="5641848"/>
            <a:ext cx="107259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Repare: como a demanda nunca ultrapassa o estoque acumulado, EF nunca fica negativo — por isso o custo por mês é bem mais estável aqui do que no trimestre 6 do exemplo anterior, onde o atraso disparou o custo.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0" name="Google Shape;880;p27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8138160" y="1188720"/>
            <a:ext cx="42062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7"/>
          <p:cNvSpPr/>
          <p:nvPr/>
        </p:nvSpPr>
        <p:spPr>
          <a:xfrm>
            <a:off x="822960" y="1371600"/>
            <a:ext cx="82296" cy="1371600"/>
          </a:xfrm>
          <a:prstGeom prst="rect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7"/>
          <p:cNvSpPr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6B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9C6B4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/>
          <p:nvPr/>
        </p:nvSpPr>
        <p:spPr>
          <a:xfrm>
            <a:off x="1051560" y="15087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Dúvidas?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João Victor Queiroz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7"/>
          <p:cNvSpPr/>
          <p:nvPr/>
        </p:nvSpPr>
        <p:spPr>
          <a:xfrm>
            <a:off x="1097280" y="3383280"/>
            <a:ext cx="6766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7"/>
          <p:cNvSpPr/>
          <p:nvPr/>
        </p:nvSpPr>
        <p:spPr>
          <a:xfrm>
            <a:off x="1325880" y="3584448"/>
            <a:ext cx="640080" cy="640080"/>
          </a:xfrm>
          <a:prstGeom prst="ellipse">
            <a:avLst/>
          </a:prstGeom>
          <a:solidFill>
            <a:srgbClr val="1E7A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7" name="Google Shape;8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499" y="373806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27"/>
          <p:cNvSpPr/>
          <p:nvPr/>
        </p:nvSpPr>
        <p:spPr>
          <a:xfrm>
            <a:off x="2148840" y="354787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Planilha de apoio — Google Colab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7">
            <a:hlinkClick r:id="rId5"/>
          </p:cNvPr>
          <p:cNvSpPr/>
          <p:nvPr/>
        </p:nvSpPr>
        <p:spPr>
          <a:xfrm>
            <a:off x="2148840" y="3913632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050" u="sng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colab.research.google.com/drive/1UNxeDKP04DMtyab0cuSxG4N4JOY3XSgv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0" name="Google Shape;890;p27"/>
          <p:cNvCxnSpPr/>
          <p:nvPr/>
        </p:nvCxnSpPr>
        <p:spPr>
          <a:xfrm>
            <a:off x="1097280" y="4846320"/>
            <a:ext cx="6766560" cy="0"/>
          </a:xfrm>
          <a:prstGeom prst="straightConnector1">
            <a:avLst/>
          </a:prstGeom>
          <a:noFill/>
          <a:ln cap="flat" cmpd="sng" w="12700">
            <a:solidFill>
              <a:srgbClr val="2C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1" name="Google Shape;891;p27"/>
          <p:cNvSpPr/>
          <p:nvPr/>
        </p:nvSpPr>
        <p:spPr>
          <a:xfrm>
            <a:off x="1097280" y="5029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5B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FA5BC"/>
                </a:solidFill>
                <a:latin typeface="Calibri"/>
                <a:ea typeface="Calibri"/>
                <a:cs typeface="Calibri"/>
                <a:sym typeface="Calibri"/>
              </a:rPr>
              <a:t>Material didático adaptado a partir das aulas do Prof. Dr. Marcelo Carneiro Gonçalves (UnB), com a comparação Serviços × Manufatura referenciando a Aula 02 (PAP em Serviços, Camilla Pimenta Barbosa), para uso em sala pelo Prof. João Victor Queiroz.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/>
          <p:nvPr/>
        </p:nvSpPr>
        <p:spPr>
          <a:xfrm>
            <a:off x="1097280" y="59436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E7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7"/>
          <p:cNvSpPr/>
          <p:nvPr/>
        </p:nvSpPr>
        <p:spPr>
          <a:xfrm>
            <a:off x="1097280" y="609904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54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D2C54"/>
                </a:solidFill>
                <a:latin typeface="Cambria"/>
                <a:ea typeface="Cambria"/>
                <a:cs typeface="Cambria"/>
                <a:sym typeface="Cambria"/>
              </a:rPr>
              <a:t>UnB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2026-09-02T02:42:40Z</dcterms:created>
  <dc:creator>Prof. João Victor Queiroz</dc:creator>
</cp:coreProperties>
</file>