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6858000" cx="12192000"/>
  <p:notesSz cx="12192000" cy="6858000"/>
  <p:embeddedFontLst>
    <p:embeddedFont>
      <p:font typeface="Helvetica Neue"/>
      <p:regular r:id="rId50"/>
      <p:bold r:id="rId51"/>
      <p:italic r:id="rId52"/>
      <p:boldItalic r:id="rId53"/>
    </p:embeddedFont>
    <p:embeddedFont>
      <p:font typeface="Noto Sans Symbols"/>
      <p:regular r:id="rId54"/>
      <p:bold r:id="rId55"/>
    </p:embeddedFont>
    <p:embeddedFont>
      <p:font typeface="Cambria Math"/>
      <p:regular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C92ADA-D85B-437F-BB6A-64D2A2958FB9}">
  <a:tblStyle styleId="{CBC92ADA-D85B-437F-BB6A-64D2A2958F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4F82F59-F091-4920-BC31-7B01EDF9B7F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HelveticaNeue-bold.fntdata"/><Relationship Id="rId50" Type="http://schemas.openxmlformats.org/officeDocument/2006/relationships/font" Target="fonts/HelveticaNeue-regular.fntdata"/><Relationship Id="rId53" Type="http://schemas.openxmlformats.org/officeDocument/2006/relationships/font" Target="fonts/HelveticaNeue-boldItalic.fntdata"/><Relationship Id="rId52" Type="http://schemas.openxmlformats.org/officeDocument/2006/relationships/font" Target="fonts/HelveticaNeue-italic.fntdata"/><Relationship Id="rId11" Type="http://schemas.openxmlformats.org/officeDocument/2006/relationships/slide" Target="slides/slide5.xml"/><Relationship Id="rId55" Type="http://schemas.openxmlformats.org/officeDocument/2006/relationships/font" Target="fonts/NotoSansSymbols-bold.fntdata"/><Relationship Id="rId10" Type="http://schemas.openxmlformats.org/officeDocument/2006/relationships/slide" Target="slides/slide4.xml"/><Relationship Id="rId54" Type="http://schemas.openxmlformats.org/officeDocument/2006/relationships/font" Target="fonts/NotoSansSymbols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CambriaMath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8670abef8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f8670abef8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8670abef8_0_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3f8670abef8_0_1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f8745e4a5d_0_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g3f8745e4a5d_0_1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8670abef8_0_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g3f8670abef8_0_2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f8670abef8_0_3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g3f8670abef8_0_3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body"/>
          </p:nvPr>
        </p:nvSpPr>
        <p:spPr>
          <a:xfrm>
            <a:off x="6622668" y="2017839"/>
            <a:ext cx="5398770" cy="227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ctrTitle"/>
          </p:nvPr>
        </p:nvSpPr>
        <p:spPr>
          <a:xfrm>
            <a:off x="906119" y="116204"/>
            <a:ext cx="3390900" cy="45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5"/>
            <a:ext cx="12179935" cy="1015365"/>
          </a:xfrm>
          <a:custGeom>
            <a:rect b="b" l="l" r="r" t="t"/>
            <a:pathLst>
              <a:path extrusionOk="0" h="1015365" w="12179935">
                <a:moveTo>
                  <a:pt x="12179427" y="0"/>
                </a:moveTo>
                <a:lnTo>
                  <a:pt x="0" y="0"/>
                </a:lnTo>
                <a:lnTo>
                  <a:pt x="0" y="1015212"/>
                </a:lnTo>
                <a:lnTo>
                  <a:pt x="12179427" y="1015212"/>
                </a:lnTo>
                <a:lnTo>
                  <a:pt x="12179427" y="0"/>
                </a:ln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1070164"/>
            <a:ext cx="12179935" cy="55244"/>
          </a:xfrm>
          <a:custGeom>
            <a:rect b="b" l="l" r="r" t="t"/>
            <a:pathLst>
              <a:path extrusionOk="0" h="55244" w="12179935">
                <a:moveTo>
                  <a:pt x="12179427" y="0"/>
                </a:moveTo>
                <a:lnTo>
                  <a:pt x="0" y="0"/>
                </a:lnTo>
                <a:lnTo>
                  <a:pt x="0" y="54674"/>
                </a:lnTo>
                <a:lnTo>
                  <a:pt x="12179427" y="54674"/>
                </a:lnTo>
                <a:lnTo>
                  <a:pt x="12179427" y="0"/>
                </a:lnTo>
                <a:close/>
              </a:path>
            </a:pathLst>
          </a:custGeom>
          <a:solidFill>
            <a:srgbClr val="208B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0" y="6658498"/>
            <a:ext cx="12179300" cy="191770"/>
          </a:xfrm>
          <a:custGeom>
            <a:rect b="b" l="l" r="r" t="t"/>
            <a:pathLst>
              <a:path extrusionOk="0" h="191770" w="12179300">
                <a:moveTo>
                  <a:pt x="12179300" y="0"/>
                </a:moveTo>
                <a:lnTo>
                  <a:pt x="0" y="0"/>
                </a:lnTo>
                <a:lnTo>
                  <a:pt x="0" y="191185"/>
                </a:lnTo>
                <a:lnTo>
                  <a:pt x="12179300" y="191185"/>
                </a:lnTo>
                <a:lnTo>
                  <a:pt x="12179300" y="0"/>
                </a:lnTo>
                <a:close/>
              </a:path>
            </a:pathLst>
          </a:custGeom>
          <a:solidFill>
            <a:srgbClr val="0033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10561319" y="301879"/>
            <a:ext cx="1416050" cy="1059815"/>
          </a:xfrm>
          <a:custGeom>
            <a:rect b="b" l="l" r="r" t="t"/>
            <a:pathLst>
              <a:path extrusionOk="0" h="1059815" w="1416050">
                <a:moveTo>
                  <a:pt x="707898" y="0"/>
                </a:moveTo>
                <a:lnTo>
                  <a:pt x="580644" y="8509"/>
                </a:lnTo>
                <a:lnTo>
                  <a:pt x="460882" y="33147"/>
                </a:lnTo>
                <a:lnTo>
                  <a:pt x="350647" y="72262"/>
                </a:lnTo>
                <a:lnTo>
                  <a:pt x="251840" y="124587"/>
                </a:lnTo>
                <a:lnTo>
                  <a:pt x="166497" y="188468"/>
                </a:lnTo>
                <a:lnTo>
                  <a:pt x="96647" y="262382"/>
                </a:lnTo>
                <a:lnTo>
                  <a:pt x="44323" y="344932"/>
                </a:lnTo>
                <a:lnTo>
                  <a:pt x="11429" y="434594"/>
                </a:lnTo>
                <a:lnTo>
                  <a:pt x="0" y="529844"/>
                </a:lnTo>
                <a:lnTo>
                  <a:pt x="11429" y="625094"/>
                </a:lnTo>
                <a:lnTo>
                  <a:pt x="44323" y="714756"/>
                </a:lnTo>
                <a:lnTo>
                  <a:pt x="96647" y="797306"/>
                </a:lnTo>
                <a:lnTo>
                  <a:pt x="166497" y="871347"/>
                </a:lnTo>
                <a:lnTo>
                  <a:pt x="251840" y="935101"/>
                </a:lnTo>
                <a:lnTo>
                  <a:pt x="350647" y="987425"/>
                </a:lnTo>
                <a:lnTo>
                  <a:pt x="460882" y="1026668"/>
                </a:lnTo>
                <a:lnTo>
                  <a:pt x="580644" y="1051306"/>
                </a:lnTo>
                <a:lnTo>
                  <a:pt x="707898" y="1059815"/>
                </a:lnTo>
                <a:lnTo>
                  <a:pt x="835151" y="1051306"/>
                </a:lnTo>
                <a:lnTo>
                  <a:pt x="954912" y="1026668"/>
                </a:lnTo>
                <a:lnTo>
                  <a:pt x="1065149" y="987425"/>
                </a:lnTo>
                <a:lnTo>
                  <a:pt x="1163954" y="935101"/>
                </a:lnTo>
                <a:lnTo>
                  <a:pt x="1249299" y="871347"/>
                </a:lnTo>
                <a:lnTo>
                  <a:pt x="1319149" y="797306"/>
                </a:lnTo>
                <a:lnTo>
                  <a:pt x="1371473" y="714756"/>
                </a:lnTo>
                <a:lnTo>
                  <a:pt x="1404365" y="625094"/>
                </a:lnTo>
                <a:lnTo>
                  <a:pt x="1415796" y="529844"/>
                </a:lnTo>
                <a:lnTo>
                  <a:pt x="1404365" y="434594"/>
                </a:lnTo>
                <a:lnTo>
                  <a:pt x="1371473" y="344932"/>
                </a:lnTo>
                <a:lnTo>
                  <a:pt x="1319149" y="262382"/>
                </a:lnTo>
                <a:lnTo>
                  <a:pt x="1249299" y="188468"/>
                </a:lnTo>
                <a:lnTo>
                  <a:pt x="1163954" y="124587"/>
                </a:lnTo>
                <a:lnTo>
                  <a:pt x="1065149" y="72262"/>
                </a:lnTo>
                <a:lnTo>
                  <a:pt x="954912" y="33147"/>
                </a:lnTo>
                <a:lnTo>
                  <a:pt x="835151" y="8509"/>
                </a:lnTo>
                <a:lnTo>
                  <a:pt x="707898" y="0"/>
                </a:lnTo>
                <a:close/>
              </a:path>
            </a:pathLst>
          </a:custGeom>
          <a:solidFill>
            <a:srgbClr val="208B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10661903" y="375031"/>
            <a:ext cx="1214755" cy="913765"/>
          </a:xfrm>
          <a:custGeom>
            <a:rect b="b" l="l" r="r" t="t"/>
            <a:pathLst>
              <a:path extrusionOk="0" h="913765" w="1214754">
                <a:moveTo>
                  <a:pt x="607314" y="0"/>
                </a:moveTo>
                <a:lnTo>
                  <a:pt x="484886" y="9271"/>
                </a:lnTo>
                <a:lnTo>
                  <a:pt x="370840" y="35814"/>
                </a:lnTo>
                <a:lnTo>
                  <a:pt x="267716" y="77978"/>
                </a:lnTo>
                <a:lnTo>
                  <a:pt x="177926" y="133731"/>
                </a:lnTo>
                <a:lnTo>
                  <a:pt x="103759" y="201295"/>
                </a:lnTo>
                <a:lnTo>
                  <a:pt x="47751" y="278892"/>
                </a:lnTo>
                <a:lnTo>
                  <a:pt x="12319" y="364617"/>
                </a:lnTo>
                <a:lnTo>
                  <a:pt x="0" y="456692"/>
                </a:lnTo>
                <a:lnTo>
                  <a:pt x="12319" y="548767"/>
                </a:lnTo>
                <a:lnTo>
                  <a:pt x="47751" y="634492"/>
                </a:lnTo>
                <a:lnTo>
                  <a:pt x="103759" y="712089"/>
                </a:lnTo>
                <a:lnTo>
                  <a:pt x="177926" y="779653"/>
                </a:lnTo>
                <a:lnTo>
                  <a:pt x="267716" y="835406"/>
                </a:lnTo>
                <a:lnTo>
                  <a:pt x="370840" y="877443"/>
                </a:lnTo>
                <a:lnTo>
                  <a:pt x="484886" y="904113"/>
                </a:lnTo>
                <a:lnTo>
                  <a:pt x="607314" y="913384"/>
                </a:lnTo>
                <a:lnTo>
                  <a:pt x="729615" y="904113"/>
                </a:lnTo>
                <a:lnTo>
                  <a:pt x="843661" y="877443"/>
                </a:lnTo>
                <a:lnTo>
                  <a:pt x="946785" y="835406"/>
                </a:lnTo>
                <a:lnTo>
                  <a:pt x="1036701" y="779653"/>
                </a:lnTo>
                <a:lnTo>
                  <a:pt x="1110869" y="712089"/>
                </a:lnTo>
                <a:lnTo>
                  <a:pt x="1166876" y="634492"/>
                </a:lnTo>
                <a:lnTo>
                  <a:pt x="1202181" y="548767"/>
                </a:lnTo>
                <a:lnTo>
                  <a:pt x="1214501" y="456692"/>
                </a:lnTo>
                <a:lnTo>
                  <a:pt x="1202181" y="364617"/>
                </a:lnTo>
                <a:lnTo>
                  <a:pt x="1166876" y="278892"/>
                </a:lnTo>
                <a:lnTo>
                  <a:pt x="1110869" y="201295"/>
                </a:lnTo>
                <a:lnTo>
                  <a:pt x="1036701" y="133731"/>
                </a:lnTo>
                <a:lnTo>
                  <a:pt x="946785" y="77978"/>
                </a:lnTo>
                <a:lnTo>
                  <a:pt x="843661" y="35814"/>
                </a:lnTo>
                <a:lnTo>
                  <a:pt x="729615" y="9271"/>
                </a:lnTo>
                <a:lnTo>
                  <a:pt x="6073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35639" y="530453"/>
            <a:ext cx="868679" cy="60365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6622668" y="2017839"/>
            <a:ext cx="5398770" cy="227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5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6.png"/><Relationship Id="rId22" Type="http://schemas.openxmlformats.org/officeDocument/2006/relationships/image" Target="../media/image24.png"/><Relationship Id="rId21" Type="http://schemas.openxmlformats.org/officeDocument/2006/relationships/image" Target="../media/image10.png"/><Relationship Id="rId24" Type="http://schemas.openxmlformats.org/officeDocument/2006/relationships/image" Target="../media/image27.png"/><Relationship Id="rId23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5.jpg"/><Relationship Id="rId9" Type="http://schemas.openxmlformats.org/officeDocument/2006/relationships/image" Target="../media/image11.png"/><Relationship Id="rId25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14.png"/><Relationship Id="rId11" Type="http://schemas.openxmlformats.org/officeDocument/2006/relationships/image" Target="../media/image4.png"/><Relationship Id="rId10" Type="http://schemas.openxmlformats.org/officeDocument/2006/relationships/image" Target="../media/image7.png"/><Relationship Id="rId13" Type="http://schemas.openxmlformats.org/officeDocument/2006/relationships/image" Target="../media/image3.png"/><Relationship Id="rId12" Type="http://schemas.openxmlformats.org/officeDocument/2006/relationships/image" Target="../media/image19.png"/><Relationship Id="rId15" Type="http://schemas.openxmlformats.org/officeDocument/2006/relationships/image" Target="../media/image8.png"/><Relationship Id="rId14" Type="http://schemas.openxmlformats.org/officeDocument/2006/relationships/image" Target="../media/image13.png"/><Relationship Id="rId17" Type="http://schemas.openxmlformats.org/officeDocument/2006/relationships/image" Target="../media/image2.png"/><Relationship Id="rId16" Type="http://schemas.openxmlformats.org/officeDocument/2006/relationships/image" Target="../media/image22.png"/><Relationship Id="rId19" Type="http://schemas.openxmlformats.org/officeDocument/2006/relationships/image" Target="../media/image17.png"/><Relationship Id="rId1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42.png"/><Relationship Id="rId22" Type="http://schemas.openxmlformats.org/officeDocument/2006/relationships/image" Target="../media/image44.png"/><Relationship Id="rId21" Type="http://schemas.openxmlformats.org/officeDocument/2006/relationships/image" Target="../media/image34.png"/><Relationship Id="rId24" Type="http://schemas.openxmlformats.org/officeDocument/2006/relationships/image" Target="../media/image52.png"/><Relationship Id="rId23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Relationship Id="rId4" Type="http://schemas.openxmlformats.org/officeDocument/2006/relationships/image" Target="../media/image25.png"/><Relationship Id="rId9" Type="http://schemas.openxmlformats.org/officeDocument/2006/relationships/image" Target="../media/image26.png"/><Relationship Id="rId26" Type="http://schemas.openxmlformats.org/officeDocument/2006/relationships/image" Target="../media/image50.png"/><Relationship Id="rId25" Type="http://schemas.openxmlformats.org/officeDocument/2006/relationships/image" Target="../media/image47.png"/><Relationship Id="rId28" Type="http://schemas.openxmlformats.org/officeDocument/2006/relationships/image" Target="../media/image46.png"/><Relationship Id="rId27" Type="http://schemas.openxmlformats.org/officeDocument/2006/relationships/image" Target="../media/image48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Relationship Id="rId29" Type="http://schemas.openxmlformats.org/officeDocument/2006/relationships/image" Target="../media/image61.png"/><Relationship Id="rId7" Type="http://schemas.openxmlformats.org/officeDocument/2006/relationships/image" Target="../media/image20.png"/><Relationship Id="rId8" Type="http://schemas.openxmlformats.org/officeDocument/2006/relationships/image" Target="../media/image28.png"/><Relationship Id="rId31" Type="http://schemas.openxmlformats.org/officeDocument/2006/relationships/image" Target="../media/image54.png"/><Relationship Id="rId30" Type="http://schemas.openxmlformats.org/officeDocument/2006/relationships/image" Target="../media/image53.png"/><Relationship Id="rId11" Type="http://schemas.openxmlformats.org/officeDocument/2006/relationships/image" Target="../media/image30.png"/><Relationship Id="rId33" Type="http://schemas.openxmlformats.org/officeDocument/2006/relationships/image" Target="../media/image43.png"/><Relationship Id="rId10" Type="http://schemas.openxmlformats.org/officeDocument/2006/relationships/image" Target="../media/image38.png"/><Relationship Id="rId32" Type="http://schemas.openxmlformats.org/officeDocument/2006/relationships/image" Target="../media/image49.png"/><Relationship Id="rId13" Type="http://schemas.openxmlformats.org/officeDocument/2006/relationships/image" Target="../media/image29.png"/><Relationship Id="rId35" Type="http://schemas.openxmlformats.org/officeDocument/2006/relationships/image" Target="../media/image55.png"/><Relationship Id="rId12" Type="http://schemas.openxmlformats.org/officeDocument/2006/relationships/image" Target="../media/image35.png"/><Relationship Id="rId34" Type="http://schemas.openxmlformats.org/officeDocument/2006/relationships/image" Target="../media/image51.png"/><Relationship Id="rId15" Type="http://schemas.openxmlformats.org/officeDocument/2006/relationships/image" Target="../media/image37.png"/><Relationship Id="rId37" Type="http://schemas.openxmlformats.org/officeDocument/2006/relationships/image" Target="../media/image60.png"/><Relationship Id="rId14" Type="http://schemas.openxmlformats.org/officeDocument/2006/relationships/image" Target="../media/image56.png"/><Relationship Id="rId36" Type="http://schemas.openxmlformats.org/officeDocument/2006/relationships/image" Target="../media/image59.png"/><Relationship Id="rId17" Type="http://schemas.openxmlformats.org/officeDocument/2006/relationships/image" Target="../media/image39.png"/><Relationship Id="rId16" Type="http://schemas.openxmlformats.org/officeDocument/2006/relationships/image" Target="../media/image45.png"/><Relationship Id="rId19" Type="http://schemas.openxmlformats.org/officeDocument/2006/relationships/image" Target="../media/image41.png"/><Relationship Id="rId18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5.png"/><Relationship Id="rId4" Type="http://schemas.openxmlformats.org/officeDocument/2006/relationships/image" Target="../media/image63.png"/><Relationship Id="rId5" Type="http://schemas.openxmlformats.org/officeDocument/2006/relationships/image" Target="../media/image79.png"/><Relationship Id="rId6" Type="http://schemas.openxmlformats.org/officeDocument/2006/relationships/image" Target="../media/image73.png"/><Relationship Id="rId7" Type="http://schemas.openxmlformats.org/officeDocument/2006/relationships/image" Target="../media/image70.png"/><Relationship Id="rId8" Type="http://schemas.openxmlformats.org/officeDocument/2006/relationships/image" Target="../media/image7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1.png"/><Relationship Id="rId4" Type="http://schemas.openxmlformats.org/officeDocument/2006/relationships/image" Target="../media/image69.png"/><Relationship Id="rId9" Type="http://schemas.openxmlformats.org/officeDocument/2006/relationships/image" Target="../media/image80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8.png"/><Relationship Id="rId11" Type="http://schemas.openxmlformats.org/officeDocument/2006/relationships/image" Target="../media/image85.png"/><Relationship Id="rId10" Type="http://schemas.openxmlformats.org/officeDocument/2006/relationships/image" Target="../media/image8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2.jpg"/><Relationship Id="rId4" Type="http://schemas.openxmlformats.org/officeDocument/2006/relationships/image" Target="../media/image8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7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colab.research.google.com/drive/1iQ3uNIHrPWHz4EwdAKSzpx4R6S8kRPz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/>
        </p:nvSpPr>
        <p:spPr>
          <a:xfrm>
            <a:off x="3330805" y="4951756"/>
            <a:ext cx="5090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Camilla Pimenta Barbosa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2270" lvl="0" marL="667385" marR="651510" rtl="0" algn="l">
              <a:lnSpc>
                <a:spcPct val="102299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Bacharela em Engenharia de Produção </a:t>
            </a:r>
            <a:endParaRPr sz="1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2270" lvl="0" marL="667385" marR="651510" rtl="0" algn="l">
              <a:lnSpc>
                <a:spcPct val="102299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Mestranda em Sistemas Mecatrônicos</a:t>
            </a:r>
            <a:endParaRPr sz="1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2270" lvl="0" marL="667385" marR="651510" rtl="0" algn="ctr">
              <a:lnSpc>
                <a:spcPct val="102299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pimentacamilla5@gmail.com</a:t>
            </a:r>
            <a:endParaRPr sz="13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descr="$PPTXTitle" id="50" name="Google Shape;50;p7"/>
          <p:cNvSpPr txBox="1"/>
          <p:nvPr>
            <p:ph type="title"/>
          </p:nvPr>
        </p:nvSpPr>
        <p:spPr>
          <a:xfrm>
            <a:off x="3127501" y="2774708"/>
            <a:ext cx="5938520" cy="937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50">
                <a:solidFill>
                  <a:srgbClr val="000000"/>
                </a:solidFill>
              </a:rPr>
              <a:t>PAP em Serviços</a:t>
            </a:r>
            <a:endParaRPr sz="5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5" name="Google Shape;55;p8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3300">
            <a:spAutoFit/>
          </a:bodyPr>
          <a:lstStyle/>
          <a:p>
            <a:pPr indent="0" lvl="0" marL="338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Conceitos de Serviços</a:t>
            </a:r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391528" y="2419858"/>
            <a:ext cx="10313670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236854" lvl="0" marL="2489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Font typeface="Noto Sans Symbols"/>
              <a:buChar char="✔"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“Um Serviço é uma experiência perecível, intangível, desenvolvida para um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consumidor que desempenha o papel de coprodutor” (Fitzsimmons)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0535" y="1362709"/>
            <a:ext cx="3304843" cy="18293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62" name="Google Shape;62;p9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450">
            <a:spAutoFit/>
          </a:bodyPr>
          <a:lstStyle/>
          <a:p>
            <a:pPr indent="0" lvl="0" marL="1784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importância dos serviços na economia</a:t>
            </a:r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242655" y="1388173"/>
            <a:ext cx="4775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7949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 Symbols"/>
              <a:buChar char="✔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Em todos os países desenvolvidos o setor de serviços ocupa posição de destaque.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82825" y="2212400"/>
            <a:ext cx="55977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8288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 Symbols"/>
              <a:buChar char="✔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O principal indicador tem sido a participação do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setor na geração de riqueza, refletida no PIB.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242655" y="3036633"/>
            <a:ext cx="49770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7949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 Symbols"/>
              <a:buChar char="✔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Além de ser responsável pela maior parcela do PIB mundial, apresenta-se, como a parcela mais dinâmica da economia.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242655" y="4135818"/>
            <a:ext cx="51321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7949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 Symbols"/>
              <a:buChar char="✔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Participação no PIB e o número de empregos no setor crescem a taxas elevadas do que os demais setores econômicos.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7" name="Google Shape;6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59" y="3338355"/>
            <a:ext cx="5513832" cy="34024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9"/>
          <p:cNvGrpSpPr/>
          <p:nvPr/>
        </p:nvGrpSpPr>
        <p:grpSpPr>
          <a:xfrm>
            <a:off x="5805504" y="1364820"/>
            <a:ext cx="2973374" cy="1824219"/>
            <a:chOff x="5805504" y="1364820"/>
            <a:chExt cx="2973374" cy="1824219"/>
          </a:xfrm>
        </p:grpSpPr>
        <p:pic>
          <p:nvPicPr>
            <p:cNvPr id="69" name="Google Shape;69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05504" y="1364820"/>
              <a:ext cx="2973374" cy="18242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9"/>
            <p:cNvSpPr/>
            <p:nvPr/>
          </p:nvSpPr>
          <p:spPr>
            <a:xfrm>
              <a:off x="5806145" y="2947374"/>
              <a:ext cx="2972435" cy="241300"/>
            </a:xfrm>
            <a:custGeom>
              <a:rect b="b" l="l" r="r" t="t"/>
              <a:pathLst>
                <a:path extrusionOk="0" h="241300" w="2972434">
                  <a:moveTo>
                    <a:pt x="0" y="3412"/>
                  </a:moveTo>
                  <a:lnTo>
                    <a:pt x="14518" y="39944"/>
                  </a:lnTo>
                  <a:lnTo>
                    <a:pt x="43069" y="74478"/>
                  </a:lnTo>
                  <a:lnTo>
                    <a:pt x="72409" y="108322"/>
                  </a:lnTo>
                  <a:lnTo>
                    <a:pt x="102524" y="141463"/>
                  </a:lnTo>
                  <a:lnTo>
                    <a:pt x="133399" y="173885"/>
                  </a:lnTo>
                  <a:lnTo>
                    <a:pt x="165021" y="205574"/>
                  </a:lnTo>
                  <a:lnTo>
                    <a:pt x="197374" y="236516"/>
                  </a:lnTo>
                  <a:lnTo>
                    <a:pt x="220034" y="241024"/>
                  </a:lnTo>
                  <a:lnTo>
                    <a:pt x="219562" y="240604"/>
                  </a:lnTo>
                  <a:lnTo>
                    <a:pt x="186436" y="209685"/>
                  </a:lnTo>
                  <a:lnTo>
                    <a:pt x="154055" y="177991"/>
                  </a:lnTo>
                  <a:lnTo>
                    <a:pt x="122433" y="145537"/>
                  </a:lnTo>
                  <a:lnTo>
                    <a:pt x="91585" y="112337"/>
                  </a:lnTo>
                  <a:lnTo>
                    <a:pt x="61526" y="78408"/>
                  </a:lnTo>
                  <a:lnTo>
                    <a:pt x="32271" y="43764"/>
                  </a:lnTo>
                  <a:lnTo>
                    <a:pt x="3835" y="8420"/>
                  </a:lnTo>
                  <a:lnTo>
                    <a:pt x="0" y="3412"/>
                  </a:lnTo>
                  <a:close/>
                </a:path>
                <a:path extrusionOk="0" h="241300" w="2972434">
                  <a:moveTo>
                    <a:pt x="2972093" y="0"/>
                  </a:moveTo>
                  <a:lnTo>
                    <a:pt x="2937188" y="43764"/>
                  </a:lnTo>
                  <a:lnTo>
                    <a:pt x="2907918" y="78408"/>
                  </a:lnTo>
                  <a:lnTo>
                    <a:pt x="2877843" y="112338"/>
                  </a:lnTo>
                  <a:lnTo>
                    <a:pt x="2846979" y="145537"/>
                  </a:lnTo>
                  <a:lnTo>
                    <a:pt x="2815341" y="177991"/>
                  </a:lnTo>
                  <a:lnTo>
                    <a:pt x="2782944" y="209686"/>
                  </a:lnTo>
                  <a:lnTo>
                    <a:pt x="2749803" y="240604"/>
                  </a:lnTo>
                  <a:lnTo>
                    <a:pt x="2749330" y="241025"/>
                  </a:lnTo>
                  <a:lnTo>
                    <a:pt x="2767089" y="241025"/>
                  </a:lnTo>
                  <a:lnTo>
                    <a:pt x="2804400" y="205575"/>
                  </a:lnTo>
                  <a:lnTo>
                    <a:pt x="2836038" y="173885"/>
                  </a:lnTo>
                  <a:lnTo>
                    <a:pt x="2866930" y="141463"/>
                  </a:lnTo>
                  <a:lnTo>
                    <a:pt x="2897061" y="108322"/>
                  </a:lnTo>
                  <a:lnTo>
                    <a:pt x="2926417" y="74478"/>
                  </a:lnTo>
                  <a:lnTo>
                    <a:pt x="2954984" y="39944"/>
                  </a:lnTo>
                  <a:lnTo>
                    <a:pt x="2972093" y="18246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>
              <a:off x="8555476" y="2947374"/>
              <a:ext cx="222885" cy="241300"/>
            </a:xfrm>
            <a:custGeom>
              <a:rect b="b" l="l" r="r" t="t"/>
              <a:pathLst>
                <a:path extrusionOk="0" h="241300" w="222884">
                  <a:moveTo>
                    <a:pt x="222762" y="0"/>
                  </a:moveTo>
                  <a:lnTo>
                    <a:pt x="187857" y="43764"/>
                  </a:lnTo>
                  <a:lnTo>
                    <a:pt x="158587" y="78408"/>
                  </a:lnTo>
                  <a:lnTo>
                    <a:pt x="128512" y="112338"/>
                  </a:lnTo>
                  <a:lnTo>
                    <a:pt x="97648" y="145537"/>
                  </a:lnTo>
                  <a:lnTo>
                    <a:pt x="66010" y="177991"/>
                  </a:lnTo>
                  <a:lnTo>
                    <a:pt x="33613" y="209686"/>
                  </a:lnTo>
                  <a:lnTo>
                    <a:pt x="472" y="240604"/>
                  </a:lnTo>
                  <a:lnTo>
                    <a:pt x="0" y="241025"/>
                  </a:lnTo>
                </a:path>
              </a:pathLst>
            </a:cu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2" name="Google Shape;72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05505" y="2950147"/>
              <a:ext cx="221314" cy="2388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p9"/>
            <p:cNvSpPr/>
            <p:nvPr/>
          </p:nvSpPr>
          <p:spPr>
            <a:xfrm>
              <a:off x="8573235" y="2965620"/>
              <a:ext cx="205104" cy="222885"/>
            </a:xfrm>
            <a:custGeom>
              <a:rect b="b" l="l" r="r" t="t"/>
              <a:pathLst>
                <a:path extrusionOk="0" h="222885" w="205104">
                  <a:moveTo>
                    <a:pt x="0" y="222778"/>
                  </a:moveTo>
                  <a:lnTo>
                    <a:pt x="37311" y="187328"/>
                  </a:lnTo>
                  <a:lnTo>
                    <a:pt x="68948" y="155639"/>
                  </a:lnTo>
                  <a:lnTo>
                    <a:pt x="99840" y="123216"/>
                  </a:lnTo>
                  <a:lnTo>
                    <a:pt x="129971" y="90076"/>
                  </a:lnTo>
                  <a:lnTo>
                    <a:pt x="159327" y="56231"/>
                  </a:lnTo>
                  <a:lnTo>
                    <a:pt x="187894" y="21697"/>
                  </a:lnTo>
                  <a:lnTo>
                    <a:pt x="205004" y="0"/>
                  </a:lnTo>
                </a:path>
              </a:pathLst>
            </a:cu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5806145" y="2965620"/>
              <a:ext cx="2972435" cy="222885"/>
            </a:xfrm>
            <a:custGeom>
              <a:rect b="b" l="l" r="r" t="t"/>
              <a:pathLst>
                <a:path extrusionOk="0" h="222885" w="2972434">
                  <a:moveTo>
                    <a:pt x="0" y="3275"/>
                  </a:moveTo>
                  <a:lnTo>
                    <a:pt x="37861" y="67523"/>
                  </a:lnTo>
                  <a:lnTo>
                    <a:pt x="67316" y="101492"/>
                  </a:lnTo>
                  <a:lnTo>
                    <a:pt x="97549" y="134756"/>
                  </a:lnTo>
                  <a:lnTo>
                    <a:pt x="128545" y="167298"/>
                  </a:lnTo>
                  <a:lnTo>
                    <a:pt x="160289" y="199105"/>
                  </a:lnTo>
                  <a:lnTo>
                    <a:pt x="202313" y="222778"/>
                  </a:lnTo>
                  <a:lnTo>
                    <a:pt x="197374" y="218270"/>
                  </a:lnTo>
                  <a:lnTo>
                    <a:pt x="165021" y="187328"/>
                  </a:lnTo>
                  <a:lnTo>
                    <a:pt x="133399" y="155638"/>
                  </a:lnTo>
                  <a:lnTo>
                    <a:pt x="102524" y="123216"/>
                  </a:lnTo>
                  <a:lnTo>
                    <a:pt x="72409" y="90075"/>
                  </a:lnTo>
                  <a:lnTo>
                    <a:pt x="43069" y="56231"/>
                  </a:lnTo>
                  <a:lnTo>
                    <a:pt x="14518" y="21697"/>
                  </a:lnTo>
                  <a:lnTo>
                    <a:pt x="0" y="3275"/>
                  </a:lnTo>
                  <a:close/>
                </a:path>
                <a:path extrusionOk="0" h="222885" w="2972434">
                  <a:moveTo>
                    <a:pt x="2972093" y="0"/>
                  </a:moveTo>
                  <a:lnTo>
                    <a:pt x="2926417" y="56231"/>
                  </a:lnTo>
                  <a:lnTo>
                    <a:pt x="2897061" y="90076"/>
                  </a:lnTo>
                  <a:lnTo>
                    <a:pt x="2866930" y="123216"/>
                  </a:lnTo>
                  <a:lnTo>
                    <a:pt x="2836038" y="155639"/>
                  </a:lnTo>
                  <a:lnTo>
                    <a:pt x="2804400" y="187328"/>
                  </a:lnTo>
                  <a:lnTo>
                    <a:pt x="2772031" y="218270"/>
                  </a:lnTo>
                  <a:lnTo>
                    <a:pt x="2767089" y="222778"/>
                  </a:lnTo>
                  <a:lnTo>
                    <a:pt x="2784229" y="222778"/>
                  </a:lnTo>
                  <a:lnTo>
                    <a:pt x="2840747" y="167298"/>
                  </a:lnTo>
                  <a:lnTo>
                    <a:pt x="2871753" y="134756"/>
                  </a:lnTo>
                  <a:lnTo>
                    <a:pt x="2901996" y="101493"/>
                  </a:lnTo>
                  <a:lnTo>
                    <a:pt x="2931462" y="67523"/>
                  </a:lnTo>
                  <a:lnTo>
                    <a:pt x="2960136" y="32862"/>
                  </a:lnTo>
                  <a:lnTo>
                    <a:pt x="2972093" y="17700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8573235" y="2965620"/>
              <a:ext cx="205104" cy="222885"/>
            </a:xfrm>
            <a:custGeom>
              <a:rect b="b" l="l" r="r" t="t"/>
              <a:pathLst>
                <a:path extrusionOk="0" h="222885" w="205104">
                  <a:moveTo>
                    <a:pt x="205004" y="0"/>
                  </a:moveTo>
                  <a:lnTo>
                    <a:pt x="159327" y="56231"/>
                  </a:lnTo>
                  <a:lnTo>
                    <a:pt x="129971" y="90076"/>
                  </a:lnTo>
                  <a:lnTo>
                    <a:pt x="99840" y="123216"/>
                  </a:lnTo>
                  <a:lnTo>
                    <a:pt x="68948" y="155639"/>
                  </a:lnTo>
                  <a:lnTo>
                    <a:pt x="37311" y="187328"/>
                  </a:lnTo>
                  <a:lnTo>
                    <a:pt x="4941" y="218270"/>
                  </a:lnTo>
                  <a:lnTo>
                    <a:pt x="0" y="222778"/>
                  </a:lnTo>
                </a:path>
              </a:pathLst>
            </a:cu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6" name="Google Shape;76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805505" y="2968256"/>
              <a:ext cx="203593" cy="2207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9"/>
            <p:cNvSpPr/>
            <p:nvPr/>
          </p:nvSpPr>
          <p:spPr>
            <a:xfrm>
              <a:off x="8590375" y="2983321"/>
              <a:ext cx="187960" cy="205104"/>
            </a:xfrm>
            <a:custGeom>
              <a:rect b="b" l="l" r="r" t="t"/>
              <a:pathLst>
                <a:path extrusionOk="0" h="205105" w="187959">
                  <a:moveTo>
                    <a:pt x="0" y="205078"/>
                  </a:moveTo>
                  <a:lnTo>
                    <a:pt x="56517" y="149598"/>
                  </a:lnTo>
                  <a:lnTo>
                    <a:pt x="87524" y="117056"/>
                  </a:lnTo>
                  <a:lnTo>
                    <a:pt x="117767" y="83793"/>
                  </a:lnTo>
                  <a:lnTo>
                    <a:pt x="147233" y="49823"/>
                  </a:lnTo>
                  <a:lnTo>
                    <a:pt x="175906" y="15162"/>
                  </a:lnTo>
                  <a:lnTo>
                    <a:pt x="187864" y="0"/>
                  </a:lnTo>
                </a:path>
              </a:pathLst>
            </a:cu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5806145" y="2983321"/>
              <a:ext cx="2972435" cy="205104"/>
            </a:xfrm>
            <a:custGeom>
              <a:rect b="b" l="l" r="r" t="t"/>
              <a:pathLst>
                <a:path extrusionOk="0" h="205105" w="2972434">
                  <a:moveTo>
                    <a:pt x="0" y="3494"/>
                  </a:moveTo>
                  <a:lnTo>
                    <a:pt x="32086" y="61252"/>
                  </a:lnTo>
                  <a:lnTo>
                    <a:pt x="61655" y="95346"/>
                  </a:lnTo>
                  <a:lnTo>
                    <a:pt x="92005" y="128730"/>
                  </a:lnTo>
                  <a:lnTo>
                    <a:pt x="123121" y="161391"/>
                  </a:lnTo>
                  <a:lnTo>
                    <a:pt x="154989" y="193314"/>
                  </a:lnTo>
                  <a:lnTo>
                    <a:pt x="185044" y="205078"/>
                  </a:lnTo>
                  <a:lnTo>
                    <a:pt x="160289" y="181405"/>
                  </a:lnTo>
                  <a:lnTo>
                    <a:pt x="128545" y="149598"/>
                  </a:lnTo>
                  <a:lnTo>
                    <a:pt x="97549" y="117056"/>
                  </a:lnTo>
                  <a:lnTo>
                    <a:pt x="67316" y="83792"/>
                  </a:lnTo>
                  <a:lnTo>
                    <a:pt x="37861" y="49823"/>
                  </a:lnTo>
                  <a:lnTo>
                    <a:pt x="9197" y="15162"/>
                  </a:lnTo>
                  <a:lnTo>
                    <a:pt x="0" y="3494"/>
                  </a:lnTo>
                  <a:close/>
                </a:path>
                <a:path extrusionOk="0" h="205105" w="2972434">
                  <a:moveTo>
                    <a:pt x="2972093" y="0"/>
                  </a:moveTo>
                  <a:lnTo>
                    <a:pt x="2931462" y="49823"/>
                  </a:lnTo>
                  <a:lnTo>
                    <a:pt x="2901996" y="83793"/>
                  </a:lnTo>
                  <a:lnTo>
                    <a:pt x="2871753" y="117056"/>
                  </a:lnTo>
                  <a:lnTo>
                    <a:pt x="2840747" y="149598"/>
                  </a:lnTo>
                  <a:lnTo>
                    <a:pt x="2808992" y="181406"/>
                  </a:lnTo>
                  <a:lnTo>
                    <a:pt x="2784229" y="205078"/>
                  </a:lnTo>
                  <a:lnTo>
                    <a:pt x="2801691" y="205078"/>
                  </a:lnTo>
                  <a:lnTo>
                    <a:pt x="2845866" y="161392"/>
                  </a:lnTo>
                  <a:lnTo>
                    <a:pt x="2876984" y="128731"/>
                  </a:lnTo>
                  <a:lnTo>
                    <a:pt x="2907337" y="95346"/>
                  </a:lnTo>
                  <a:lnTo>
                    <a:pt x="2936908" y="61253"/>
                  </a:lnTo>
                  <a:lnTo>
                    <a:pt x="2965685" y="26465"/>
                  </a:lnTo>
                  <a:lnTo>
                    <a:pt x="2972093" y="18338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8590375" y="2983321"/>
              <a:ext cx="187960" cy="205104"/>
            </a:xfrm>
            <a:custGeom>
              <a:rect b="b" l="l" r="r" t="t"/>
              <a:pathLst>
                <a:path extrusionOk="0" h="205105" w="187959">
                  <a:moveTo>
                    <a:pt x="187864" y="0"/>
                  </a:moveTo>
                  <a:lnTo>
                    <a:pt x="147233" y="49823"/>
                  </a:lnTo>
                  <a:lnTo>
                    <a:pt x="117767" y="83793"/>
                  </a:lnTo>
                  <a:lnTo>
                    <a:pt x="87524" y="117056"/>
                  </a:lnTo>
                  <a:lnTo>
                    <a:pt x="56517" y="149598"/>
                  </a:lnTo>
                  <a:lnTo>
                    <a:pt x="24763" y="181406"/>
                  </a:lnTo>
                  <a:lnTo>
                    <a:pt x="0" y="205078"/>
                  </a:lnTo>
                </a:path>
              </a:pathLst>
            </a:cu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" name="Google Shape;80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805505" y="2986175"/>
              <a:ext cx="186324" cy="202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9"/>
            <p:cNvSpPr/>
            <p:nvPr/>
          </p:nvSpPr>
          <p:spPr>
            <a:xfrm>
              <a:off x="8607836" y="3001659"/>
              <a:ext cx="170815" cy="187325"/>
            </a:xfrm>
            <a:custGeom>
              <a:rect b="b" l="l" r="r" t="t"/>
              <a:pathLst>
                <a:path extrusionOk="0" h="187325" w="170815">
                  <a:moveTo>
                    <a:pt x="0" y="186740"/>
                  </a:moveTo>
                  <a:lnTo>
                    <a:pt x="44175" y="143053"/>
                  </a:lnTo>
                  <a:lnTo>
                    <a:pt x="75293" y="110392"/>
                  </a:lnTo>
                  <a:lnTo>
                    <a:pt x="105645" y="77008"/>
                  </a:lnTo>
                  <a:lnTo>
                    <a:pt x="135217" y="42914"/>
                  </a:lnTo>
                  <a:lnTo>
                    <a:pt x="163994" y="8126"/>
                  </a:lnTo>
                  <a:lnTo>
                    <a:pt x="170402" y="0"/>
                  </a:lnTo>
                </a:path>
              </a:pathLst>
            </a:cu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5806145" y="3001659"/>
              <a:ext cx="2972435" cy="187325"/>
            </a:xfrm>
            <a:custGeom>
              <a:rect b="b" l="l" r="r" t="t"/>
              <a:pathLst>
                <a:path extrusionOk="0" h="187325" w="2972434">
                  <a:moveTo>
                    <a:pt x="0" y="3925"/>
                  </a:moveTo>
                  <a:lnTo>
                    <a:pt x="27010" y="54075"/>
                  </a:lnTo>
                  <a:lnTo>
                    <a:pt x="56690" y="88291"/>
                  </a:lnTo>
                  <a:lnTo>
                    <a:pt x="87152" y="121795"/>
                  </a:lnTo>
                  <a:lnTo>
                    <a:pt x="118384" y="154573"/>
                  </a:lnTo>
                  <a:lnTo>
                    <a:pt x="150504" y="186739"/>
                  </a:lnTo>
                  <a:lnTo>
                    <a:pt x="167293" y="186739"/>
                  </a:lnTo>
                  <a:lnTo>
                    <a:pt x="154989" y="174976"/>
                  </a:lnTo>
                  <a:lnTo>
                    <a:pt x="123121" y="143053"/>
                  </a:lnTo>
                  <a:lnTo>
                    <a:pt x="92005" y="110392"/>
                  </a:lnTo>
                  <a:lnTo>
                    <a:pt x="61655" y="77008"/>
                  </a:lnTo>
                  <a:lnTo>
                    <a:pt x="32086" y="42914"/>
                  </a:lnTo>
                  <a:lnTo>
                    <a:pt x="3312" y="8126"/>
                  </a:lnTo>
                  <a:lnTo>
                    <a:pt x="0" y="3925"/>
                  </a:lnTo>
                  <a:close/>
                </a:path>
                <a:path extrusionOk="0" h="187325" w="2972434">
                  <a:moveTo>
                    <a:pt x="2972093" y="0"/>
                  </a:moveTo>
                  <a:lnTo>
                    <a:pt x="2936908" y="42914"/>
                  </a:lnTo>
                  <a:lnTo>
                    <a:pt x="2907336" y="77008"/>
                  </a:lnTo>
                  <a:lnTo>
                    <a:pt x="2876984" y="110392"/>
                  </a:lnTo>
                  <a:lnTo>
                    <a:pt x="2845866" y="143053"/>
                  </a:lnTo>
                  <a:lnTo>
                    <a:pt x="2813996" y="174976"/>
                  </a:lnTo>
                  <a:lnTo>
                    <a:pt x="2801691" y="186740"/>
                  </a:lnTo>
                  <a:lnTo>
                    <a:pt x="2818498" y="186740"/>
                  </a:lnTo>
                  <a:lnTo>
                    <a:pt x="2850621" y="154573"/>
                  </a:lnTo>
                  <a:lnTo>
                    <a:pt x="2881856" y="121795"/>
                  </a:lnTo>
                  <a:lnTo>
                    <a:pt x="2912323" y="88291"/>
                  </a:lnTo>
                  <a:lnTo>
                    <a:pt x="2942006" y="54076"/>
                  </a:lnTo>
                  <a:lnTo>
                    <a:pt x="2970892" y="19163"/>
                  </a:lnTo>
                  <a:lnTo>
                    <a:pt x="2972093" y="17640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9"/>
            <p:cNvSpPr/>
            <p:nvPr/>
          </p:nvSpPr>
          <p:spPr>
            <a:xfrm>
              <a:off x="8607836" y="3001659"/>
              <a:ext cx="170815" cy="187325"/>
            </a:xfrm>
            <a:custGeom>
              <a:rect b="b" l="l" r="r" t="t"/>
              <a:pathLst>
                <a:path extrusionOk="0" h="187325" w="170815">
                  <a:moveTo>
                    <a:pt x="170402" y="0"/>
                  </a:moveTo>
                  <a:lnTo>
                    <a:pt x="135217" y="42914"/>
                  </a:lnTo>
                  <a:lnTo>
                    <a:pt x="105645" y="77008"/>
                  </a:lnTo>
                  <a:lnTo>
                    <a:pt x="75293" y="110392"/>
                  </a:lnTo>
                  <a:lnTo>
                    <a:pt x="44175" y="143053"/>
                  </a:lnTo>
                  <a:lnTo>
                    <a:pt x="12305" y="174976"/>
                  </a:lnTo>
                  <a:lnTo>
                    <a:pt x="0" y="186740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4" name="Google Shape;84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805505" y="3004945"/>
              <a:ext cx="168573" cy="1840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9"/>
            <p:cNvSpPr/>
            <p:nvPr/>
          </p:nvSpPr>
          <p:spPr>
            <a:xfrm>
              <a:off x="8624643" y="3019300"/>
              <a:ext cx="153670" cy="169545"/>
            </a:xfrm>
            <a:custGeom>
              <a:rect b="b" l="l" r="r" t="t"/>
              <a:pathLst>
                <a:path extrusionOk="0" h="169544" w="153670">
                  <a:moveTo>
                    <a:pt x="0" y="169099"/>
                  </a:moveTo>
                  <a:lnTo>
                    <a:pt x="32123" y="136932"/>
                  </a:lnTo>
                  <a:lnTo>
                    <a:pt x="63358" y="104154"/>
                  </a:lnTo>
                  <a:lnTo>
                    <a:pt x="93825" y="70650"/>
                  </a:lnTo>
                  <a:lnTo>
                    <a:pt x="123508" y="36435"/>
                  </a:lnTo>
                  <a:lnTo>
                    <a:pt x="152394" y="1522"/>
                  </a:lnTo>
                  <a:lnTo>
                    <a:pt x="153595" y="0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5806145" y="3019300"/>
              <a:ext cx="2972435" cy="169545"/>
            </a:xfrm>
            <a:custGeom>
              <a:rect b="b" l="l" r="r" t="t"/>
              <a:pathLst>
                <a:path extrusionOk="0" h="169544" w="2972434">
                  <a:moveTo>
                    <a:pt x="0" y="3783"/>
                  </a:moveTo>
                  <a:lnTo>
                    <a:pt x="37722" y="66727"/>
                  </a:lnTo>
                  <a:lnTo>
                    <a:pt x="67475" y="100166"/>
                  </a:lnTo>
                  <a:lnTo>
                    <a:pt x="97982" y="132906"/>
                  </a:lnTo>
                  <a:lnTo>
                    <a:pt x="129231" y="164931"/>
                  </a:lnTo>
                  <a:lnTo>
                    <a:pt x="150504" y="169098"/>
                  </a:lnTo>
                  <a:lnTo>
                    <a:pt x="118384" y="136932"/>
                  </a:lnTo>
                  <a:lnTo>
                    <a:pt x="87152" y="104154"/>
                  </a:lnTo>
                  <a:lnTo>
                    <a:pt x="56690" y="70650"/>
                  </a:lnTo>
                  <a:lnTo>
                    <a:pt x="27010" y="36434"/>
                  </a:lnTo>
                  <a:lnTo>
                    <a:pt x="0" y="3783"/>
                  </a:lnTo>
                  <a:close/>
                </a:path>
                <a:path extrusionOk="0" h="169544" w="2972434">
                  <a:moveTo>
                    <a:pt x="2972093" y="0"/>
                  </a:moveTo>
                  <a:lnTo>
                    <a:pt x="2942006" y="36435"/>
                  </a:lnTo>
                  <a:lnTo>
                    <a:pt x="2912323" y="70650"/>
                  </a:lnTo>
                  <a:lnTo>
                    <a:pt x="2881856" y="104154"/>
                  </a:lnTo>
                  <a:lnTo>
                    <a:pt x="2850621" y="136932"/>
                  </a:lnTo>
                  <a:lnTo>
                    <a:pt x="2818498" y="169099"/>
                  </a:lnTo>
                  <a:lnTo>
                    <a:pt x="2835457" y="169099"/>
                  </a:lnTo>
                  <a:lnTo>
                    <a:pt x="2870958" y="132906"/>
                  </a:lnTo>
                  <a:lnTo>
                    <a:pt x="2901460" y="100167"/>
                  </a:lnTo>
                  <a:lnTo>
                    <a:pt x="2931208" y="66727"/>
                  </a:lnTo>
                  <a:lnTo>
                    <a:pt x="2960187" y="32601"/>
                  </a:lnTo>
                  <a:lnTo>
                    <a:pt x="2972093" y="17907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8624643" y="3019300"/>
              <a:ext cx="153670" cy="169545"/>
            </a:xfrm>
            <a:custGeom>
              <a:rect b="b" l="l" r="r" t="t"/>
              <a:pathLst>
                <a:path extrusionOk="0" h="169544" w="153670">
                  <a:moveTo>
                    <a:pt x="153595" y="0"/>
                  </a:moveTo>
                  <a:lnTo>
                    <a:pt x="123508" y="36435"/>
                  </a:lnTo>
                  <a:lnTo>
                    <a:pt x="93825" y="70650"/>
                  </a:lnTo>
                  <a:lnTo>
                    <a:pt x="63358" y="104154"/>
                  </a:lnTo>
                  <a:lnTo>
                    <a:pt x="32123" y="136932"/>
                  </a:lnTo>
                  <a:lnTo>
                    <a:pt x="135" y="168970"/>
                  </a:lnTo>
                  <a:lnTo>
                    <a:pt x="0" y="169099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8" name="Google Shape;88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805505" y="3022444"/>
              <a:ext cx="151783" cy="1665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9"/>
            <p:cNvSpPr/>
            <p:nvPr/>
          </p:nvSpPr>
          <p:spPr>
            <a:xfrm>
              <a:off x="8641602" y="3037208"/>
              <a:ext cx="137160" cy="151765"/>
            </a:xfrm>
            <a:custGeom>
              <a:rect b="b" l="l" r="r" t="t"/>
              <a:pathLst>
                <a:path extrusionOk="0" h="151764" w="137159">
                  <a:moveTo>
                    <a:pt x="0" y="151191"/>
                  </a:moveTo>
                  <a:lnTo>
                    <a:pt x="35500" y="114998"/>
                  </a:lnTo>
                  <a:lnTo>
                    <a:pt x="66003" y="82259"/>
                  </a:lnTo>
                  <a:lnTo>
                    <a:pt x="95751" y="48819"/>
                  </a:lnTo>
                  <a:lnTo>
                    <a:pt x="124730" y="14694"/>
                  </a:lnTo>
                  <a:lnTo>
                    <a:pt x="136636" y="0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5806145" y="3037208"/>
              <a:ext cx="2972435" cy="151765"/>
            </a:xfrm>
            <a:custGeom>
              <a:rect b="b" l="l" r="r" t="t"/>
              <a:pathLst>
                <a:path extrusionOk="0" h="151764" w="2972434">
                  <a:moveTo>
                    <a:pt x="0" y="3910"/>
                  </a:moveTo>
                  <a:lnTo>
                    <a:pt x="32475" y="60131"/>
                  </a:lnTo>
                  <a:lnTo>
                    <a:pt x="62329" y="93696"/>
                  </a:lnTo>
                  <a:lnTo>
                    <a:pt x="92941" y="126558"/>
                  </a:lnTo>
                  <a:lnTo>
                    <a:pt x="133489" y="151191"/>
                  </a:lnTo>
                  <a:lnTo>
                    <a:pt x="129231" y="147023"/>
                  </a:lnTo>
                  <a:lnTo>
                    <a:pt x="97982" y="114998"/>
                  </a:lnTo>
                  <a:lnTo>
                    <a:pt x="67475" y="82258"/>
                  </a:lnTo>
                  <a:lnTo>
                    <a:pt x="37722" y="48819"/>
                  </a:lnTo>
                  <a:lnTo>
                    <a:pt x="8738" y="14693"/>
                  </a:lnTo>
                  <a:lnTo>
                    <a:pt x="0" y="3910"/>
                  </a:lnTo>
                  <a:close/>
                </a:path>
                <a:path extrusionOk="0" h="151764" w="2972434">
                  <a:moveTo>
                    <a:pt x="2972093" y="0"/>
                  </a:moveTo>
                  <a:lnTo>
                    <a:pt x="2931208" y="48819"/>
                  </a:lnTo>
                  <a:lnTo>
                    <a:pt x="2901460" y="82259"/>
                  </a:lnTo>
                  <a:lnTo>
                    <a:pt x="2870958" y="114998"/>
                  </a:lnTo>
                  <a:lnTo>
                    <a:pt x="2839714" y="147024"/>
                  </a:lnTo>
                  <a:lnTo>
                    <a:pt x="2835457" y="151191"/>
                  </a:lnTo>
                  <a:lnTo>
                    <a:pt x="2851866" y="151191"/>
                  </a:lnTo>
                  <a:lnTo>
                    <a:pt x="2906518" y="93696"/>
                  </a:lnTo>
                  <a:lnTo>
                    <a:pt x="2936381" y="60131"/>
                  </a:lnTo>
                  <a:lnTo>
                    <a:pt x="2965471" y="25878"/>
                  </a:lnTo>
                  <a:lnTo>
                    <a:pt x="2972093" y="17706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8641602" y="3037208"/>
              <a:ext cx="137160" cy="151765"/>
            </a:xfrm>
            <a:custGeom>
              <a:rect b="b" l="l" r="r" t="t"/>
              <a:pathLst>
                <a:path extrusionOk="0" h="151764" w="137159">
                  <a:moveTo>
                    <a:pt x="136636" y="0"/>
                  </a:moveTo>
                  <a:lnTo>
                    <a:pt x="95751" y="48819"/>
                  </a:lnTo>
                  <a:lnTo>
                    <a:pt x="66003" y="82259"/>
                  </a:lnTo>
                  <a:lnTo>
                    <a:pt x="35500" y="114998"/>
                  </a:lnTo>
                  <a:lnTo>
                    <a:pt x="4256" y="147024"/>
                  </a:lnTo>
                  <a:lnTo>
                    <a:pt x="0" y="151191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2" name="Google Shape;92;p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805505" y="3040479"/>
              <a:ext cx="134769" cy="148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9"/>
            <p:cNvSpPr/>
            <p:nvPr/>
          </p:nvSpPr>
          <p:spPr>
            <a:xfrm>
              <a:off x="8658011" y="3054914"/>
              <a:ext cx="120650" cy="133985"/>
            </a:xfrm>
            <a:custGeom>
              <a:rect b="b" l="l" r="r" t="t"/>
              <a:pathLst>
                <a:path extrusionOk="0" h="133985" w="120650">
                  <a:moveTo>
                    <a:pt x="0" y="133484"/>
                  </a:moveTo>
                  <a:lnTo>
                    <a:pt x="24033" y="108851"/>
                  </a:lnTo>
                  <a:lnTo>
                    <a:pt x="54652" y="75989"/>
                  </a:lnTo>
                  <a:lnTo>
                    <a:pt x="84514" y="42424"/>
                  </a:lnTo>
                  <a:lnTo>
                    <a:pt x="113605" y="8171"/>
                  </a:lnTo>
                  <a:lnTo>
                    <a:pt x="120227" y="0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5806145" y="3054914"/>
              <a:ext cx="2972435" cy="133985"/>
            </a:xfrm>
            <a:custGeom>
              <a:rect b="b" l="l" r="r" t="t"/>
              <a:pathLst>
                <a:path extrusionOk="0" h="133985" w="2972434">
                  <a:moveTo>
                    <a:pt x="0" y="3982"/>
                  </a:moveTo>
                  <a:lnTo>
                    <a:pt x="27460" y="53842"/>
                  </a:lnTo>
                  <a:lnTo>
                    <a:pt x="57423" y="87521"/>
                  </a:lnTo>
                  <a:lnTo>
                    <a:pt x="88148" y="120495"/>
                  </a:lnTo>
                  <a:lnTo>
                    <a:pt x="116969" y="133484"/>
                  </a:lnTo>
                  <a:lnTo>
                    <a:pt x="92941" y="108851"/>
                  </a:lnTo>
                  <a:lnTo>
                    <a:pt x="62329" y="75989"/>
                  </a:lnTo>
                  <a:lnTo>
                    <a:pt x="32475" y="42424"/>
                  </a:lnTo>
                  <a:lnTo>
                    <a:pt x="3393" y="8171"/>
                  </a:lnTo>
                  <a:lnTo>
                    <a:pt x="0" y="3982"/>
                  </a:lnTo>
                  <a:close/>
                </a:path>
                <a:path extrusionOk="0" h="133985" w="2972434">
                  <a:moveTo>
                    <a:pt x="2972093" y="0"/>
                  </a:moveTo>
                  <a:lnTo>
                    <a:pt x="2936381" y="42424"/>
                  </a:lnTo>
                  <a:lnTo>
                    <a:pt x="2906518" y="75989"/>
                  </a:lnTo>
                  <a:lnTo>
                    <a:pt x="2875899" y="108851"/>
                  </a:lnTo>
                  <a:lnTo>
                    <a:pt x="2851866" y="133484"/>
                  </a:lnTo>
                  <a:lnTo>
                    <a:pt x="2868270" y="133484"/>
                  </a:lnTo>
                  <a:lnTo>
                    <a:pt x="2911669" y="87521"/>
                  </a:lnTo>
                  <a:lnTo>
                    <a:pt x="2941634" y="53842"/>
                  </a:lnTo>
                  <a:lnTo>
                    <a:pt x="2970825" y="19471"/>
                  </a:lnTo>
                  <a:lnTo>
                    <a:pt x="2972093" y="17906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8658011" y="3054914"/>
              <a:ext cx="120650" cy="133985"/>
            </a:xfrm>
            <a:custGeom>
              <a:rect b="b" l="l" r="r" t="t"/>
              <a:pathLst>
                <a:path extrusionOk="0" h="133985" w="120650">
                  <a:moveTo>
                    <a:pt x="120227" y="0"/>
                  </a:moveTo>
                  <a:lnTo>
                    <a:pt x="113605" y="8171"/>
                  </a:lnTo>
                  <a:lnTo>
                    <a:pt x="84514" y="42424"/>
                  </a:lnTo>
                  <a:lnTo>
                    <a:pt x="54652" y="75989"/>
                  </a:lnTo>
                  <a:lnTo>
                    <a:pt x="24033" y="108851"/>
                  </a:lnTo>
                  <a:lnTo>
                    <a:pt x="0" y="133484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6" name="Google Shape;96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805505" y="3058257"/>
              <a:ext cx="118249" cy="1307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9"/>
            <p:cNvSpPr/>
            <p:nvPr/>
          </p:nvSpPr>
          <p:spPr>
            <a:xfrm>
              <a:off x="8674416" y="3072821"/>
              <a:ext cx="104139" cy="116205"/>
            </a:xfrm>
            <a:custGeom>
              <a:rect b="b" l="l" r="r" t="t"/>
              <a:pathLst>
                <a:path extrusionOk="0" h="116205" w="104140">
                  <a:moveTo>
                    <a:pt x="0" y="115577"/>
                  </a:moveTo>
                  <a:lnTo>
                    <a:pt x="12673" y="102589"/>
                  </a:lnTo>
                  <a:lnTo>
                    <a:pt x="43398" y="69614"/>
                  </a:lnTo>
                  <a:lnTo>
                    <a:pt x="73364" y="35935"/>
                  </a:lnTo>
                  <a:lnTo>
                    <a:pt x="102554" y="1564"/>
                  </a:lnTo>
                  <a:lnTo>
                    <a:pt x="103823" y="0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9"/>
            <p:cNvSpPr/>
            <p:nvPr/>
          </p:nvSpPr>
          <p:spPr>
            <a:xfrm>
              <a:off x="5806145" y="3072821"/>
              <a:ext cx="2972435" cy="116205"/>
            </a:xfrm>
            <a:custGeom>
              <a:rect b="b" l="l" r="r" t="t"/>
              <a:pathLst>
                <a:path extrusionOk="0" h="116205" w="2972434">
                  <a:moveTo>
                    <a:pt x="0" y="3600"/>
                  </a:moveTo>
                  <a:lnTo>
                    <a:pt x="22210" y="47291"/>
                  </a:lnTo>
                  <a:lnTo>
                    <a:pt x="52275" y="81092"/>
                  </a:lnTo>
                  <a:lnTo>
                    <a:pt x="83103" y="114186"/>
                  </a:lnTo>
                  <a:lnTo>
                    <a:pt x="100820" y="115577"/>
                  </a:lnTo>
                  <a:lnTo>
                    <a:pt x="88148" y="102588"/>
                  </a:lnTo>
                  <a:lnTo>
                    <a:pt x="57423" y="69614"/>
                  </a:lnTo>
                  <a:lnTo>
                    <a:pt x="27460" y="35935"/>
                  </a:lnTo>
                  <a:lnTo>
                    <a:pt x="0" y="3600"/>
                  </a:lnTo>
                  <a:close/>
                </a:path>
                <a:path extrusionOk="0" h="116205" w="2972434">
                  <a:moveTo>
                    <a:pt x="2972093" y="0"/>
                  </a:moveTo>
                  <a:lnTo>
                    <a:pt x="2941634" y="35935"/>
                  </a:lnTo>
                  <a:lnTo>
                    <a:pt x="2911669" y="69614"/>
                  </a:lnTo>
                  <a:lnTo>
                    <a:pt x="2880944" y="102589"/>
                  </a:lnTo>
                  <a:lnTo>
                    <a:pt x="2868270" y="115577"/>
                  </a:lnTo>
                  <a:lnTo>
                    <a:pt x="2884384" y="115577"/>
                  </a:lnTo>
                  <a:lnTo>
                    <a:pt x="2885742" y="114186"/>
                  </a:lnTo>
                  <a:lnTo>
                    <a:pt x="2916578" y="81092"/>
                  </a:lnTo>
                  <a:lnTo>
                    <a:pt x="2946651" y="47291"/>
                  </a:lnTo>
                  <a:lnTo>
                    <a:pt x="2972093" y="17335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8674416" y="3072821"/>
              <a:ext cx="104139" cy="116205"/>
            </a:xfrm>
            <a:custGeom>
              <a:rect b="b" l="l" r="r" t="t"/>
              <a:pathLst>
                <a:path extrusionOk="0" h="116205" w="104140">
                  <a:moveTo>
                    <a:pt x="103823" y="0"/>
                  </a:moveTo>
                  <a:lnTo>
                    <a:pt x="102554" y="1564"/>
                  </a:lnTo>
                  <a:lnTo>
                    <a:pt x="73364" y="35935"/>
                  </a:lnTo>
                  <a:lnTo>
                    <a:pt x="43398" y="69614"/>
                  </a:lnTo>
                  <a:lnTo>
                    <a:pt x="12673" y="102589"/>
                  </a:lnTo>
                  <a:lnTo>
                    <a:pt x="0" y="115577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0" name="Google Shape;100;p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805505" y="3075782"/>
              <a:ext cx="102100" cy="1132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9"/>
            <p:cNvSpPr/>
            <p:nvPr/>
          </p:nvSpPr>
          <p:spPr>
            <a:xfrm>
              <a:off x="8690530" y="3090157"/>
              <a:ext cx="88265" cy="98425"/>
            </a:xfrm>
            <a:custGeom>
              <a:rect b="b" l="l" r="r" t="t"/>
              <a:pathLst>
                <a:path extrusionOk="0" h="98425" w="88265">
                  <a:moveTo>
                    <a:pt x="0" y="98242"/>
                  </a:moveTo>
                  <a:lnTo>
                    <a:pt x="1357" y="96851"/>
                  </a:lnTo>
                  <a:lnTo>
                    <a:pt x="32193" y="63757"/>
                  </a:lnTo>
                  <a:lnTo>
                    <a:pt x="62266" y="29956"/>
                  </a:lnTo>
                  <a:lnTo>
                    <a:pt x="87709" y="0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5806145" y="3090157"/>
              <a:ext cx="2972435" cy="98425"/>
            </a:xfrm>
            <a:custGeom>
              <a:rect b="b" l="l" r="r" t="t"/>
              <a:pathLst>
                <a:path extrusionOk="0" h="98425" w="2972434">
                  <a:moveTo>
                    <a:pt x="0" y="3797"/>
                  </a:moveTo>
                  <a:lnTo>
                    <a:pt x="33183" y="59763"/>
                  </a:lnTo>
                  <a:lnTo>
                    <a:pt x="63314" y="92810"/>
                  </a:lnTo>
                  <a:lnTo>
                    <a:pt x="84460" y="98242"/>
                  </a:lnTo>
                  <a:lnTo>
                    <a:pt x="83103" y="96850"/>
                  </a:lnTo>
                  <a:lnTo>
                    <a:pt x="52275" y="63757"/>
                  </a:lnTo>
                  <a:lnTo>
                    <a:pt x="22210" y="29956"/>
                  </a:lnTo>
                  <a:lnTo>
                    <a:pt x="0" y="3797"/>
                  </a:lnTo>
                  <a:close/>
                </a:path>
                <a:path extrusionOk="0" h="98425" w="2972434">
                  <a:moveTo>
                    <a:pt x="2972093" y="0"/>
                  </a:moveTo>
                  <a:lnTo>
                    <a:pt x="2946651" y="29956"/>
                  </a:lnTo>
                  <a:lnTo>
                    <a:pt x="2916578" y="63757"/>
                  </a:lnTo>
                  <a:lnTo>
                    <a:pt x="2885742" y="96851"/>
                  </a:lnTo>
                  <a:lnTo>
                    <a:pt x="2884384" y="98242"/>
                  </a:lnTo>
                  <a:lnTo>
                    <a:pt x="2900429" y="98242"/>
                  </a:lnTo>
                  <a:lnTo>
                    <a:pt x="2905611" y="92811"/>
                  </a:lnTo>
                  <a:lnTo>
                    <a:pt x="2935736" y="59764"/>
                  </a:lnTo>
                  <a:lnTo>
                    <a:pt x="2965112" y="26034"/>
                  </a:lnTo>
                  <a:lnTo>
                    <a:pt x="2972093" y="17641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8690530" y="3090157"/>
              <a:ext cx="88265" cy="98425"/>
            </a:xfrm>
            <a:custGeom>
              <a:rect b="b" l="l" r="r" t="t"/>
              <a:pathLst>
                <a:path extrusionOk="0" h="98425" w="88265">
                  <a:moveTo>
                    <a:pt x="87709" y="0"/>
                  </a:moveTo>
                  <a:lnTo>
                    <a:pt x="62266" y="29956"/>
                  </a:lnTo>
                  <a:lnTo>
                    <a:pt x="32193" y="63757"/>
                  </a:lnTo>
                  <a:lnTo>
                    <a:pt x="1357" y="96851"/>
                  </a:lnTo>
                  <a:lnTo>
                    <a:pt x="0" y="98242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4" name="Google Shape;104;p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805505" y="3093314"/>
              <a:ext cx="85740" cy="95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9"/>
            <p:cNvSpPr/>
            <p:nvPr/>
          </p:nvSpPr>
          <p:spPr>
            <a:xfrm>
              <a:off x="8706575" y="3107798"/>
              <a:ext cx="71755" cy="80645"/>
            </a:xfrm>
            <a:custGeom>
              <a:rect b="b" l="l" r="r" t="t"/>
              <a:pathLst>
                <a:path extrusionOk="0" h="80644" w="71754">
                  <a:moveTo>
                    <a:pt x="0" y="80600"/>
                  </a:moveTo>
                  <a:lnTo>
                    <a:pt x="5181" y="75169"/>
                  </a:lnTo>
                  <a:lnTo>
                    <a:pt x="35306" y="42122"/>
                  </a:lnTo>
                  <a:lnTo>
                    <a:pt x="64682" y="8393"/>
                  </a:lnTo>
                  <a:lnTo>
                    <a:pt x="71664" y="0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5806145" y="3107798"/>
              <a:ext cx="2972435" cy="80645"/>
            </a:xfrm>
            <a:custGeom>
              <a:rect b="b" l="l" r="r" t="t"/>
              <a:pathLst>
                <a:path extrusionOk="0" h="80644" w="2972434">
                  <a:moveTo>
                    <a:pt x="0" y="3823"/>
                  </a:moveTo>
                  <a:lnTo>
                    <a:pt x="0" y="21458"/>
                  </a:lnTo>
                  <a:lnTo>
                    <a:pt x="27913" y="53515"/>
                  </a:lnTo>
                  <a:lnTo>
                    <a:pt x="52598" y="80600"/>
                  </a:lnTo>
                  <a:lnTo>
                    <a:pt x="68496" y="80600"/>
                  </a:lnTo>
                  <a:lnTo>
                    <a:pt x="63314" y="75168"/>
                  </a:lnTo>
                  <a:lnTo>
                    <a:pt x="33183" y="42122"/>
                  </a:lnTo>
                  <a:lnTo>
                    <a:pt x="3801" y="8392"/>
                  </a:lnTo>
                  <a:lnTo>
                    <a:pt x="0" y="3823"/>
                  </a:lnTo>
                  <a:close/>
                </a:path>
                <a:path extrusionOk="0" h="80644" w="2972434">
                  <a:moveTo>
                    <a:pt x="2972093" y="0"/>
                  </a:moveTo>
                  <a:lnTo>
                    <a:pt x="2965112" y="8393"/>
                  </a:lnTo>
                  <a:lnTo>
                    <a:pt x="2935736" y="42122"/>
                  </a:lnTo>
                  <a:lnTo>
                    <a:pt x="2905611" y="75169"/>
                  </a:lnTo>
                  <a:lnTo>
                    <a:pt x="2900429" y="80600"/>
                  </a:lnTo>
                  <a:lnTo>
                    <a:pt x="2916515" y="80600"/>
                  </a:lnTo>
                  <a:lnTo>
                    <a:pt x="2941222" y="53516"/>
                  </a:lnTo>
                  <a:lnTo>
                    <a:pt x="2970727" y="19663"/>
                  </a:lnTo>
                  <a:lnTo>
                    <a:pt x="2972093" y="18022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8706575" y="3107798"/>
              <a:ext cx="71755" cy="80645"/>
            </a:xfrm>
            <a:custGeom>
              <a:rect b="b" l="l" r="r" t="t"/>
              <a:pathLst>
                <a:path extrusionOk="0" h="80644" w="71754">
                  <a:moveTo>
                    <a:pt x="71664" y="0"/>
                  </a:moveTo>
                  <a:lnTo>
                    <a:pt x="64682" y="8393"/>
                  </a:lnTo>
                  <a:lnTo>
                    <a:pt x="35306" y="42122"/>
                  </a:lnTo>
                  <a:lnTo>
                    <a:pt x="5181" y="75169"/>
                  </a:lnTo>
                  <a:lnTo>
                    <a:pt x="0" y="80600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8" name="Google Shape;108;p9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805505" y="3110982"/>
              <a:ext cx="69776" cy="7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9"/>
            <p:cNvSpPr/>
            <p:nvPr/>
          </p:nvSpPr>
          <p:spPr>
            <a:xfrm>
              <a:off x="8722660" y="3125821"/>
              <a:ext cx="55880" cy="62865"/>
            </a:xfrm>
            <a:custGeom>
              <a:rect b="b" l="l" r="r" t="t"/>
              <a:pathLst>
                <a:path extrusionOk="0" h="62864" w="55879">
                  <a:moveTo>
                    <a:pt x="0" y="62578"/>
                  </a:moveTo>
                  <a:lnTo>
                    <a:pt x="24707" y="35493"/>
                  </a:lnTo>
                  <a:lnTo>
                    <a:pt x="54212" y="1641"/>
                  </a:lnTo>
                  <a:lnTo>
                    <a:pt x="55578" y="0"/>
                  </a:lnTo>
                </a:path>
              </a:pathLst>
            </a:custGeom>
            <a:noFill/>
            <a:ln cap="flat" cmpd="sng" w="9525">
              <a:solidFill>
                <a:srgbClr val="D2D2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9"/>
            <p:cNvSpPr/>
            <p:nvPr/>
          </p:nvSpPr>
          <p:spPr>
            <a:xfrm>
              <a:off x="5806145" y="3125821"/>
              <a:ext cx="2972435" cy="62865"/>
            </a:xfrm>
            <a:custGeom>
              <a:rect b="b" l="l" r="r" t="t"/>
              <a:pathLst>
                <a:path extrusionOk="0" h="62864" w="2972434">
                  <a:moveTo>
                    <a:pt x="0" y="3436"/>
                  </a:moveTo>
                  <a:lnTo>
                    <a:pt x="0" y="20936"/>
                  </a:lnTo>
                  <a:lnTo>
                    <a:pt x="22954" y="47301"/>
                  </a:lnTo>
                  <a:lnTo>
                    <a:pt x="36876" y="62578"/>
                  </a:lnTo>
                  <a:lnTo>
                    <a:pt x="52598" y="62578"/>
                  </a:lnTo>
                  <a:lnTo>
                    <a:pt x="27913" y="35493"/>
                  </a:lnTo>
                  <a:lnTo>
                    <a:pt x="0" y="3436"/>
                  </a:lnTo>
                  <a:close/>
                </a:path>
                <a:path extrusionOk="0" h="62864" w="2972434">
                  <a:moveTo>
                    <a:pt x="2972093" y="0"/>
                  </a:moveTo>
                  <a:lnTo>
                    <a:pt x="2970727" y="1641"/>
                  </a:lnTo>
                  <a:lnTo>
                    <a:pt x="2941222" y="35493"/>
                  </a:lnTo>
                  <a:lnTo>
                    <a:pt x="2916515" y="62578"/>
                  </a:lnTo>
                  <a:lnTo>
                    <a:pt x="2932473" y="62578"/>
                  </a:lnTo>
                  <a:lnTo>
                    <a:pt x="2946402" y="47302"/>
                  </a:lnTo>
                  <a:lnTo>
                    <a:pt x="2972093" y="17811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5806145" y="3125821"/>
              <a:ext cx="2972435" cy="62865"/>
            </a:xfrm>
            <a:custGeom>
              <a:rect b="b" l="l" r="r" t="t"/>
              <a:pathLst>
                <a:path extrusionOk="0" h="62864" w="2972434">
                  <a:moveTo>
                    <a:pt x="2972093" y="0"/>
                  </a:moveTo>
                  <a:lnTo>
                    <a:pt x="2970727" y="1641"/>
                  </a:lnTo>
                  <a:lnTo>
                    <a:pt x="2941222" y="35493"/>
                  </a:lnTo>
                  <a:lnTo>
                    <a:pt x="2916515" y="62578"/>
                  </a:lnTo>
                </a:path>
                <a:path extrusionOk="0" h="62864" w="2972434">
                  <a:moveTo>
                    <a:pt x="52598" y="62578"/>
                  </a:moveTo>
                  <a:lnTo>
                    <a:pt x="27913" y="35493"/>
                  </a:lnTo>
                  <a:lnTo>
                    <a:pt x="0" y="3436"/>
                  </a:lnTo>
                </a:path>
                <a:path extrusionOk="0" h="62864" w="2972434">
                  <a:moveTo>
                    <a:pt x="0" y="20936"/>
                  </a:moveTo>
                  <a:lnTo>
                    <a:pt x="22954" y="47301"/>
                  </a:lnTo>
                  <a:lnTo>
                    <a:pt x="36876" y="62578"/>
                  </a:lnTo>
                </a:path>
                <a:path extrusionOk="0" h="62864" w="2972434">
                  <a:moveTo>
                    <a:pt x="2932473" y="62578"/>
                  </a:moveTo>
                  <a:lnTo>
                    <a:pt x="2946402" y="47302"/>
                  </a:lnTo>
                  <a:lnTo>
                    <a:pt x="2972093" y="17811"/>
                  </a:lnTo>
                </a:path>
              </a:pathLst>
            </a:custGeom>
            <a:noFill/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5806145" y="3143632"/>
              <a:ext cx="2972435" cy="45085"/>
            </a:xfrm>
            <a:custGeom>
              <a:rect b="b" l="l" r="r" t="t"/>
              <a:pathLst>
                <a:path extrusionOk="0" h="45085" w="2972434">
                  <a:moveTo>
                    <a:pt x="0" y="3125"/>
                  </a:moveTo>
                  <a:lnTo>
                    <a:pt x="0" y="20619"/>
                  </a:lnTo>
                  <a:lnTo>
                    <a:pt x="17632" y="40874"/>
                  </a:lnTo>
                  <a:lnTo>
                    <a:pt x="21178" y="44766"/>
                  </a:lnTo>
                  <a:lnTo>
                    <a:pt x="36876" y="44766"/>
                  </a:lnTo>
                  <a:lnTo>
                    <a:pt x="22954" y="29490"/>
                  </a:lnTo>
                  <a:lnTo>
                    <a:pt x="0" y="3125"/>
                  </a:lnTo>
                  <a:close/>
                </a:path>
                <a:path extrusionOk="0" h="45085" w="2972434">
                  <a:moveTo>
                    <a:pt x="2972093" y="0"/>
                  </a:moveTo>
                  <a:lnTo>
                    <a:pt x="2946402" y="29490"/>
                  </a:lnTo>
                  <a:lnTo>
                    <a:pt x="2932473" y="44767"/>
                  </a:lnTo>
                  <a:lnTo>
                    <a:pt x="2947926" y="44767"/>
                  </a:lnTo>
                  <a:lnTo>
                    <a:pt x="2951475" y="40874"/>
                  </a:lnTo>
                  <a:lnTo>
                    <a:pt x="2972093" y="17203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9"/>
            <p:cNvSpPr/>
            <p:nvPr/>
          </p:nvSpPr>
          <p:spPr>
            <a:xfrm>
              <a:off x="5806145" y="3143632"/>
              <a:ext cx="2972435" cy="45085"/>
            </a:xfrm>
            <a:custGeom>
              <a:rect b="b" l="l" r="r" t="t"/>
              <a:pathLst>
                <a:path extrusionOk="0" h="45085" w="2972434">
                  <a:moveTo>
                    <a:pt x="2972093" y="0"/>
                  </a:moveTo>
                  <a:lnTo>
                    <a:pt x="2946402" y="29490"/>
                  </a:lnTo>
                  <a:lnTo>
                    <a:pt x="2932473" y="44767"/>
                  </a:lnTo>
                </a:path>
                <a:path extrusionOk="0" h="45085" w="2972434">
                  <a:moveTo>
                    <a:pt x="36876" y="44766"/>
                  </a:moveTo>
                  <a:lnTo>
                    <a:pt x="22954" y="29490"/>
                  </a:lnTo>
                  <a:lnTo>
                    <a:pt x="0" y="3125"/>
                  </a:lnTo>
                </a:path>
                <a:path extrusionOk="0" h="45085" w="2972434">
                  <a:moveTo>
                    <a:pt x="0" y="20619"/>
                  </a:moveTo>
                  <a:lnTo>
                    <a:pt x="17632" y="40874"/>
                  </a:lnTo>
                  <a:lnTo>
                    <a:pt x="21178" y="44766"/>
                  </a:lnTo>
                </a:path>
                <a:path extrusionOk="0" h="45085" w="2972434">
                  <a:moveTo>
                    <a:pt x="2947926" y="44767"/>
                  </a:moveTo>
                  <a:lnTo>
                    <a:pt x="2951475" y="40874"/>
                  </a:lnTo>
                  <a:lnTo>
                    <a:pt x="2972093" y="17203"/>
                  </a:lnTo>
                </a:path>
              </a:pathLst>
            </a:custGeom>
            <a:noFill/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9"/>
            <p:cNvSpPr/>
            <p:nvPr/>
          </p:nvSpPr>
          <p:spPr>
            <a:xfrm>
              <a:off x="5806145" y="3160836"/>
              <a:ext cx="2972435" cy="27940"/>
            </a:xfrm>
            <a:custGeom>
              <a:rect b="b" l="l" r="r" t="t"/>
              <a:pathLst>
                <a:path extrusionOk="0" h="27939" w="2972434">
                  <a:moveTo>
                    <a:pt x="0" y="3415"/>
                  </a:moveTo>
                  <a:lnTo>
                    <a:pt x="0" y="20832"/>
                  </a:lnTo>
                  <a:lnTo>
                    <a:pt x="6004" y="27563"/>
                  </a:lnTo>
                  <a:lnTo>
                    <a:pt x="21178" y="27563"/>
                  </a:lnTo>
                  <a:lnTo>
                    <a:pt x="17632" y="23670"/>
                  </a:lnTo>
                  <a:lnTo>
                    <a:pt x="0" y="3415"/>
                  </a:lnTo>
                  <a:close/>
                </a:path>
                <a:path extrusionOk="0" h="27939" w="2972434">
                  <a:moveTo>
                    <a:pt x="2972093" y="0"/>
                  </a:moveTo>
                  <a:lnTo>
                    <a:pt x="2951475" y="23670"/>
                  </a:lnTo>
                  <a:lnTo>
                    <a:pt x="2947926" y="27563"/>
                  </a:lnTo>
                  <a:lnTo>
                    <a:pt x="2963484" y="27563"/>
                  </a:lnTo>
                  <a:lnTo>
                    <a:pt x="2970492" y="19712"/>
                  </a:lnTo>
                  <a:lnTo>
                    <a:pt x="2972093" y="17835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9"/>
            <p:cNvSpPr/>
            <p:nvPr/>
          </p:nvSpPr>
          <p:spPr>
            <a:xfrm>
              <a:off x="5806145" y="3160836"/>
              <a:ext cx="2972435" cy="27940"/>
            </a:xfrm>
            <a:custGeom>
              <a:rect b="b" l="l" r="r" t="t"/>
              <a:pathLst>
                <a:path extrusionOk="0" h="27939" w="2972434">
                  <a:moveTo>
                    <a:pt x="2972093" y="0"/>
                  </a:moveTo>
                  <a:lnTo>
                    <a:pt x="2951475" y="23670"/>
                  </a:lnTo>
                  <a:lnTo>
                    <a:pt x="2947926" y="27563"/>
                  </a:lnTo>
                </a:path>
                <a:path extrusionOk="0" h="27939" w="2972434">
                  <a:moveTo>
                    <a:pt x="21178" y="27563"/>
                  </a:moveTo>
                  <a:lnTo>
                    <a:pt x="17632" y="23670"/>
                  </a:lnTo>
                  <a:lnTo>
                    <a:pt x="0" y="3415"/>
                  </a:lnTo>
                </a:path>
                <a:path extrusionOk="0" h="27939" w="2972434">
                  <a:moveTo>
                    <a:pt x="0" y="20832"/>
                  </a:moveTo>
                  <a:lnTo>
                    <a:pt x="6004" y="27563"/>
                  </a:lnTo>
                </a:path>
                <a:path extrusionOk="0" h="27939" w="2972434">
                  <a:moveTo>
                    <a:pt x="2963484" y="27563"/>
                  </a:moveTo>
                  <a:lnTo>
                    <a:pt x="2970492" y="19712"/>
                  </a:lnTo>
                  <a:lnTo>
                    <a:pt x="2972093" y="17835"/>
                  </a:lnTo>
                </a:path>
              </a:pathLst>
            </a:custGeom>
            <a:noFill/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9"/>
            <p:cNvSpPr/>
            <p:nvPr/>
          </p:nvSpPr>
          <p:spPr>
            <a:xfrm>
              <a:off x="5806145" y="3178671"/>
              <a:ext cx="2972435" cy="10160"/>
            </a:xfrm>
            <a:custGeom>
              <a:rect b="b" l="l" r="r" t="t"/>
              <a:pathLst>
                <a:path extrusionOk="0" h="10160" w="2972434">
                  <a:moveTo>
                    <a:pt x="0" y="2997"/>
                  </a:moveTo>
                  <a:lnTo>
                    <a:pt x="0" y="9727"/>
                  </a:lnTo>
                  <a:lnTo>
                    <a:pt x="6004" y="9727"/>
                  </a:lnTo>
                  <a:lnTo>
                    <a:pt x="0" y="2997"/>
                  </a:lnTo>
                  <a:close/>
                </a:path>
                <a:path extrusionOk="0" h="10160" w="2972434">
                  <a:moveTo>
                    <a:pt x="2972093" y="0"/>
                  </a:moveTo>
                  <a:lnTo>
                    <a:pt x="2970492" y="1877"/>
                  </a:lnTo>
                  <a:lnTo>
                    <a:pt x="2963484" y="9728"/>
                  </a:lnTo>
                  <a:lnTo>
                    <a:pt x="2972093" y="9728"/>
                  </a:lnTo>
                  <a:lnTo>
                    <a:pt x="297209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9"/>
            <p:cNvSpPr/>
            <p:nvPr/>
          </p:nvSpPr>
          <p:spPr>
            <a:xfrm>
              <a:off x="5806145" y="3178671"/>
              <a:ext cx="2972435" cy="10160"/>
            </a:xfrm>
            <a:custGeom>
              <a:rect b="b" l="l" r="r" t="t"/>
              <a:pathLst>
                <a:path extrusionOk="0" h="10160" w="2972434">
                  <a:moveTo>
                    <a:pt x="2972093" y="0"/>
                  </a:moveTo>
                  <a:lnTo>
                    <a:pt x="2970492" y="1877"/>
                  </a:lnTo>
                  <a:lnTo>
                    <a:pt x="2963484" y="9728"/>
                  </a:lnTo>
                </a:path>
                <a:path extrusionOk="0" h="10160" w="2972434">
                  <a:moveTo>
                    <a:pt x="6004" y="9727"/>
                  </a:moveTo>
                  <a:lnTo>
                    <a:pt x="0" y="2997"/>
                  </a:lnTo>
                </a:path>
              </a:pathLst>
            </a:custGeom>
            <a:noFill/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" name="Google Shape;118;p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631013" y="1985013"/>
              <a:ext cx="586148" cy="835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626022" y="2040134"/>
              <a:ext cx="833718" cy="853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167640" y="1980899"/>
              <a:ext cx="1287988" cy="12020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9"/>
            <p:cNvSpPr/>
            <p:nvPr/>
          </p:nvSpPr>
          <p:spPr>
            <a:xfrm>
              <a:off x="6816442" y="2176521"/>
              <a:ext cx="212725" cy="453390"/>
            </a:xfrm>
            <a:custGeom>
              <a:rect b="b" l="l" r="r" t="t"/>
              <a:pathLst>
                <a:path extrusionOk="0" h="453389" w="212725">
                  <a:moveTo>
                    <a:pt x="0" y="0"/>
                  </a:moveTo>
                  <a:lnTo>
                    <a:pt x="0" y="452955"/>
                  </a:lnTo>
                  <a:lnTo>
                    <a:pt x="212348" y="52927"/>
                  </a:lnTo>
                  <a:lnTo>
                    <a:pt x="162021" y="30195"/>
                  </a:lnTo>
                  <a:lnTo>
                    <a:pt x="109465" y="13608"/>
                  </a:lnTo>
                  <a:lnTo>
                    <a:pt x="55263" y="3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9"/>
            <p:cNvSpPr/>
            <p:nvPr/>
          </p:nvSpPr>
          <p:spPr>
            <a:xfrm>
              <a:off x="6816442" y="2229449"/>
              <a:ext cx="452120" cy="474345"/>
            </a:xfrm>
            <a:custGeom>
              <a:rect b="b" l="l" r="r" t="t"/>
              <a:pathLst>
                <a:path extrusionOk="0" h="474344" w="452120">
                  <a:moveTo>
                    <a:pt x="212348" y="0"/>
                  </a:moveTo>
                  <a:lnTo>
                    <a:pt x="0" y="400028"/>
                  </a:lnTo>
                  <a:lnTo>
                    <a:pt x="446088" y="474236"/>
                  </a:lnTo>
                  <a:lnTo>
                    <a:pt x="451547" y="426327"/>
                  </a:lnTo>
                  <a:lnTo>
                    <a:pt x="451906" y="378814"/>
                  </a:lnTo>
                  <a:lnTo>
                    <a:pt x="447333" y="332034"/>
                  </a:lnTo>
                  <a:lnTo>
                    <a:pt x="437999" y="286328"/>
                  </a:lnTo>
                  <a:lnTo>
                    <a:pt x="424075" y="242035"/>
                  </a:lnTo>
                  <a:lnTo>
                    <a:pt x="405729" y="199493"/>
                  </a:lnTo>
                  <a:lnTo>
                    <a:pt x="383133" y="159041"/>
                  </a:lnTo>
                  <a:lnTo>
                    <a:pt x="356457" y="121018"/>
                  </a:lnTo>
                  <a:lnTo>
                    <a:pt x="325870" y="85763"/>
                  </a:lnTo>
                  <a:lnTo>
                    <a:pt x="291543" y="53616"/>
                  </a:lnTo>
                  <a:lnTo>
                    <a:pt x="253645" y="24915"/>
                  </a:lnTo>
                  <a:lnTo>
                    <a:pt x="212348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6365436" y="2176521"/>
              <a:ext cx="897255" cy="905510"/>
            </a:xfrm>
            <a:custGeom>
              <a:rect b="b" l="l" r="r" t="t"/>
              <a:pathLst>
                <a:path extrusionOk="0" h="905510" w="897254">
                  <a:moveTo>
                    <a:pt x="451005" y="0"/>
                  </a:moveTo>
                  <a:lnTo>
                    <a:pt x="404270" y="2405"/>
                  </a:lnTo>
                  <a:lnTo>
                    <a:pt x="358785" y="9474"/>
                  </a:lnTo>
                  <a:lnTo>
                    <a:pt x="314811" y="20986"/>
                  </a:lnTo>
                  <a:lnTo>
                    <a:pt x="272610" y="36720"/>
                  </a:lnTo>
                  <a:lnTo>
                    <a:pt x="232445" y="56458"/>
                  </a:lnTo>
                  <a:lnTo>
                    <a:pt x="194576" y="79978"/>
                  </a:lnTo>
                  <a:lnTo>
                    <a:pt x="159266" y="107059"/>
                  </a:lnTo>
                  <a:lnTo>
                    <a:pt x="126778" y="137482"/>
                  </a:lnTo>
                  <a:lnTo>
                    <a:pt x="97372" y="171026"/>
                  </a:lnTo>
                  <a:lnTo>
                    <a:pt x="71310" y="207471"/>
                  </a:lnTo>
                  <a:lnTo>
                    <a:pt x="48855" y="246596"/>
                  </a:lnTo>
                  <a:lnTo>
                    <a:pt x="30269" y="288182"/>
                  </a:lnTo>
                  <a:lnTo>
                    <a:pt x="15813" y="332007"/>
                  </a:lnTo>
                  <a:lnTo>
                    <a:pt x="5749" y="377851"/>
                  </a:lnTo>
                  <a:lnTo>
                    <a:pt x="220" y="427037"/>
                  </a:lnTo>
                  <a:lnTo>
                    <a:pt x="0" y="475537"/>
                  </a:lnTo>
                  <a:lnTo>
                    <a:pt x="4861" y="523035"/>
                  </a:lnTo>
                  <a:lnTo>
                    <a:pt x="14577" y="569214"/>
                  </a:lnTo>
                  <a:lnTo>
                    <a:pt x="28921" y="613757"/>
                  </a:lnTo>
                  <a:lnTo>
                    <a:pt x="47663" y="656348"/>
                  </a:lnTo>
                  <a:lnTo>
                    <a:pt x="70577" y="696669"/>
                  </a:lnTo>
                  <a:lnTo>
                    <a:pt x="97436" y="734405"/>
                  </a:lnTo>
                  <a:lnTo>
                    <a:pt x="128011" y="769239"/>
                  </a:lnTo>
                  <a:lnTo>
                    <a:pt x="162076" y="800853"/>
                  </a:lnTo>
                  <a:lnTo>
                    <a:pt x="199403" y="828931"/>
                  </a:lnTo>
                  <a:lnTo>
                    <a:pt x="239764" y="853156"/>
                  </a:lnTo>
                  <a:lnTo>
                    <a:pt x="282932" y="873212"/>
                  </a:lnTo>
                  <a:lnTo>
                    <a:pt x="328680" y="888782"/>
                  </a:lnTo>
                  <a:lnTo>
                    <a:pt x="376779" y="899549"/>
                  </a:lnTo>
                  <a:lnTo>
                    <a:pt x="425751" y="904948"/>
                  </a:lnTo>
                  <a:lnTo>
                    <a:pt x="474059" y="905049"/>
                  </a:lnTo>
                  <a:lnTo>
                    <a:pt x="521385" y="900077"/>
                  </a:lnTo>
                  <a:lnTo>
                    <a:pt x="567412" y="890259"/>
                  </a:lnTo>
                  <a:lnTo>
                    <a:pt x="611822" y="875822"/>
                  </a:lnTo>
                  <a:lnTo>
                    <a:pt x="654297" y="856991"/>
                  </a:lnTo>
                  <a:lnTo>
                    <a:pt x="694520" y="833994"/>
                  </a:lnTo>
                  <a:lnTo>
                    <a:pt x="732173" y="807055"/>
                  </a:lnTo>
                  <a:lnTo>
                    <a:pt x="766938" y="776403"/>
                  </a:lnTo>
                  <a:lnTo>
                    <a:pt x="798497" y="742263"/>
                  </a:lnTo>
                  <a:lnTo>
                    <a:pt x="826534" y="704861"/>
                  </a:lnTo>
                  <a:lnTo>
                    <a:pt x="850729" y="664423"/>
                  </a:lnTo>
                  <a:lnTo>
                    <a:pt x="870766" y="621177"/>
                  </a:lnTo>
                  <a:lnTo>
                    <a:pt x="886327" y="575349"/>
                  </a:lnTo>
                  <a:lnTo>
                    <a:pt x="897093" y="527164"/>
                  </a:lnTo>
                  <a:lnTo>
                    <a:pt x="451005" y="452955"/>
                  </a:lnTo>
                  <a:lnTo>
                    <a:pt x="451005" y="0"/>
                  </a:lnTo>
                  <a:close/>
                </a:path>
              </a:pathLst>
            </a:custGeom>
            <a:solidFill>
              <a:srgbClr val="9BBA5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4" name="Google Shape;124;p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6768268" y="2320404"/>
              <a:ext cx="247350" cy="220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6786276" y="2339015"/>
              <a:ext cx="174441" cy="1100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891948" y="2439313"/>
              <a:ext cx="292736" cy="220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9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909864" y="2457924"/>
              <a:ext cx="221252" cy="1377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9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960781" y="2457924"/>
              <a:ext cx="170336" cy="63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9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516192" y="2687121"/>
              <a:ext cx="293412" cy="2162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9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534803" y="2705733"/>
              <a:ext cx="220566" cy="1102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9"/>
            <p:cNvSpPr/>
            <p:nvPr/>
          </p:nvSpPr>
          <p:spPr>
            <a:xfrm>
              <a:off x="7849391" y="2270036"/>
              <a:ext cx="73660" cy="73660"/>
            </a:xfrm>
            <a:custGeom>
              <a:rect b="b" l="l" r="r" t="t"/>
              <a:pathLst>
                <a:path extrusionOk="0" h="73660" w="73659">
                  <a:moveTo>
                    <a:pt x="73494" y="0"/>
                  </a:moveTo>
                  <a:lnTo>
                    <a:pt x="0" y="0"/>
                  </a:lnTo>
                  <a:lnTo>
                    <a:pt x="0" y="73065"/>
                  </a:lnTo>
                  <a:lnTo>
                    <a:pt x="73494" y="73065"/>
                  </a:lnTo>
                  <a:lnTo>
                    <a:pt x="73494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7849392" y="2623124"/>
              <a:ext cx="73660" cy="69215"/>
            </a:xfrm>
            <a:custGeom>
              <a:rect b="b" l="l" r="r" t="t"/>
              <a:pathLst>
                <a:path extrusionOk="0" h="69214" w="73659">
                  <a:moveTo>
                    <a:pt x="73494" y="0"/>
                  </a:moveTo>
                  <a:lnTo>
                    <a:pt x="0" y="0"/>
                  </a:lnTo>
                  <a:lnTo>
                    <a:pt x="0" y="68988"/>
                  </a:lnTo>
                  <a:lnTo>
                    <a:pt x="73494" y="68988"/>
                  </a:lnTo>
                  <a:lnTo>
                    <a:pt x="73494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7849392" y="2972135"/>
              <a:ext cx="73660" cy="69215"/>
            </a:xfrm>
            <a:custGeom>
              <a:rect b="b" l="l" r="r" t="t"/>
              <a:pathLst>
                <a:path extrusionOk="0" h="69214" w="73659">
                  <a:moveTo>
                    <a:pt x="73494" y="0"/>
                  </a:moveTo>
                  <a:lnTo>
                    <a:pt x="0" y="0"/>
                  </a:lnTo>
                  <a:lnTo>
                    <a:pt x="0" y="68988"/>
                  </a:lnTo>
                  <a:lnTo>
                    <a:pt x="73494" y="68988"/>
                  </a:lnTo>
                  <a:lnTo>
                    <a:pt x="73494" y="0"/>
                  </a:lnTo>
                  <a:close/>
                </a:path>
              </a:pathLst>
            </a:custGeom>
            <a:solidFill>
              <a:srgbClr val="9BBA5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9"/>
          <p:cNvSpPr txBox="1"/>
          <p:nvPr/>
        </p:nvSpPr>
        <p:spPr>
          <a:xfrm>
            <a:off x="5806145" y="1365514"/>
            <a:ext cx="2969260" cy="1818639"/>
          </a:xfrm>
          <a:prstGeom prst="rect">
            <a:avLst/>
          </a:pr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6500">
            <a:spAutoFit/>
          </a:bodyPr>
          <a:lstStyle/>
          <a:p>
            <a:pPr indent="415925" lvl="0" marL="354330" marR="346075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PIB Brasil - 1º trimestre 2020 - IBGE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2147570" rtl="0" algn="l">
              <a:lnSpc>
                <a:spcPct val="116500"/>
              </a:lnSpc>
              <a:spcBef>
                <a:spcPts val="131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Agropecuária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82994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34035" rtl="0" algn="ctr">
              <a:lnSpc>
                <a:spcPct val="108571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214757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Indústria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758825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72%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214757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Serviços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39" name="Google Shape;139;p10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5650">
            <a:spAutoFit/>
          </a:bodyPr>
          <a:lstStyle/>
          <a:p>
            <a:pPr indent="0" lvl="0" marL="3232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que diferencia produto de serviço?</a:t>
            </a:r>
            <a:endParaRPr/>
          </a:p>
        </p:txBody>
      </p:sp>
      <p:sp>
        <p:nvSpPr>
          <p:cNvPr id="140" name="Google Shape;140;p10"/>
          <p:cNvSpPr txBox="1"/>
          <p:nvPr/>
        </p:nvSpPr>
        <p:spPr>
          <a:xfrm>
            <a:off x="4934839" y="1658822"/>
            <a:ext cx="2141855" cy="204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5080" rtl="0" algn="ctr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375F92"/>
                </a:solidFill>
                <a:latin typeface="Calibri"/>
                <a:ea typeface="Calibri"/>
                <a:cs typeface="Calibri"/>
                <a:sym typeface="Calibri"/>
              </a:rPr>
              <a:t>Produtos </a:t>
            </a: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b="1" lang="en-US" sz="44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Serviços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4997196" y="4047235"/>
            <a:ext cx="2231390" cy="2030730"/>
          </a:xfrm>
          <a:custGeom>
            <a:rect b="b" l="l" r="r" t="t"/>
            <a:pathLst>
              <a:path extrusionOk="0" h="2030729" w="2231390">
                <a:moveTo>
                  <a:pt x="0" y="1015238"/>
                </a:moveTo>
                <a:lnTo>
                  <a:pt x="1148" y="968765"/>
                </a:lnTo>
                <a:lnTo>
                  <a:pt x="4559" y="922829"/>
                </a:lnTo>
                <a:lnTo>
                  <a:pt x="10184" y="877475"/>
                </a:lnTo>
                <a:lnTo>
                  <a:pt x="17974" y="832746"/>
                </a:lnTo>
                <a:lnTo>
                  <a:pt x="27879" y="788688"/>
                </a:lnTo>
                <a:lnTo>
                  <a:pt x="39851" y="745345"/>
                </a:lnTo>
                <a:lnTo>
                  <a:pt x="53840" y="702763"/>
                </a:lnTo>
                <a:lnTo>
                  <a:pt x="69796" y="660986"/>
                </a:lnTo>
                <a:lnTo>
                  <a:pt x="87671" y="620059"/>
                </a:lnTo>
                <a:lnTo>
                  <a:pt x="107415" y="580027"/>
                </a:lnTo>
                <a:lnTo>
                  <a:pt x="128980" y="540934"/>
                </a:lnTo>
                <a:lnTo>
                  <a:pt x="152315" y="502825"/>
                </a:lnTo>
                <a:lnTo>
                  <a:pt x="177371" y="465746"/>
                </a:lnTo>
                <a:lnTo>
                  <a:pt x="204100" y="429741"/>
                </a:lnTo>
                <a:lnTo>
                  <a:pt x="232452" y="394854"/>
                </a:lnTo>
                <a:lnTo>
                  <a:pt x="262378" y="361131"/>
                </a:lnTo>
                <a:lnTo>
                  <a:pt x="293829" y="328616"/>
                </a:lnTo>
                <a:lnTo>
                  <a:pt x="326755" y="297354"/>
                </a:lnTo>
                <a:lnTo>
                  <a:pt x="361107" y="267390"/>
                </a:lnTo>
                <a:lnTo>
                  <a:pt x="396835" y="238769"/>
                </a:lnTo>
                <a:lnTo>
                  <a:pt x="433892" y="211536"/>
                </a:lnTo>
                <a:lnTo>
                  <a:pt x="472226" y="185734"/>
                </a:lnTo>
                <a:lnTo>
                  <a:pt x="511790" y="161410"/>
                </a:lnTo>
                <a:lnTo>
                  <a:pt x="552534" y="138608"/>
                </a:lnTo>
                <a:lnTo>
                  <a:pt x="594409" y="117373"/>
                </a:lnTo>
                <a:lnTo>
                  <a:pt x="637364" y="97749"/>
                </a:lnTo>
                <a:lnTo>
                  <a:pt x="681353" y="79781"/>
                </a:lnTo>
                <a:lnTo>
                  <a:pt x="726323" y="63515"/>
                </a:lnTo>
                <a:lnTo>
                  <a:pt x="772228" y="48994"/>
                </a:lnTo>
                <a:lnTo>
                  <a:pt x="819017" y="36264"/>
                </a:lnTo>
                <a:lnTo>
                  <a:pt x="866641" y="25370"/>
                </a:lnTo>
                <a:lnTo>
                  <a:pt x="915052" y="16356"/>
                </a:lnTo>
                <a:lnTo>
                  <a:pt x="964199" y="9267"/>
                </a:lnTo>
                <a:lnTo>
                  <a:pt x="1014033" y="4148"/>
                </a:lnTo>
                <a:lnTo>
                  <a:pt x="1064506" y="1044"/>
                </a:lnTo>
                <a:lnTo>
                  <a:pt x="1115567" y="0"/>
                </a:lnTo>
                <a:lnTo>
                  <a:pt x="1166629" y="1044"/>
                </a:lnTo>
                <a:lnTo>
                  <a:pt x="1217102" y="4148"/>
                </a:lnTo>
                <a:lnTo>
                  <a:pt x="1266936" y="9267"/>
                </a:lnTo>
                <a:lnTo>
                  <a:pt x="1316083" y="16356"/>
                </a:lnTo>
                <a:lnTo>
                  <a:pt x="1364494" y="25370"/>
                </a:lnTo>
                <a:lnTo>
                  <a:pt x="1412118" y="36264"/>
                </a:lnTo>
                <a:lnTo>
                  <a:pt x="1458907" y="48994"/>
                </a:lnTo>
                <a:lnTo>
                  <a:pt x="1504812" y="63515"/>
                </a:lnTo>
                <a:lnTo>
                  <a:pt x="1549782" y="79781"/>
                </a:lnTo>
                <a:lnTo>
                  <a:pt x="1593771" y="97749"/>
                </a:lnTo>
                <a:lnTo>
                  <a:pt x="1636726" y="117373"/>
                </a:lnTo>
                <a:lnTo>
                  <a:pt x="1678601" y="138608"/>
                </a:lnTo>
                <a:lnTo>
                  <a:pt x="1719345" y="161410"/>
                </a:lnTo>
                <a:lnTo>
                  <a:pt x="1758909" y="185734"/>
                </a:lnTo>
                <a:lnTo>
                  <a:pt x="1797243" y="211536"/>
                </a:lnTo>
                <a:lnTo>
                  <a:pt x="1834300" y="238769"/>
                </a:lnTo>
                <a:lnTo>
                  <a:pt x="1870028" y="267390"/>
                </a:lnTo>
                <a:lnTo>
                  <a:pt x="1904380" y="297354"/>
                </a:lnTo>
                <a:lnTo>
                  <a:pt x="1937306" y="328616"/>
                </a:lnTo>
                <a:lnTo>
                  <a:pt x="1968757" y="361131"/>
                </a:lnTo>
                <a:lnTo>
                  <a:pt x="1998683" y="394854"/>
                </a:lnTo>
                <a:lnTo>
                  <a:pt x="2027035" y="429741"/>
                </a:lnTo>
                <a:lnTo>
                  <a:pt x="2053764" y="465746"/>
                </a:lnTo>
                <a:lnTo>
                  <a:pt x="2078820" y="502825"/>
                </a:lnTo>
                <a:lnTo>
                  <a:pt x="2102155" y="540934"/>
                </a:lnTo>
                <a:lnTo>
                  <a:pt x="2123720" y="580027"/>
                </a:lnTo>
                <a:lnTo>
                  <a:pt x="2143464" y="620059"/>
                </a:lnTo>
                <a:lnTo>
                  <a:pt x="2161339" y="660986"/>
                </a:lnTo>
                <a:lnTo>
                  <a:pt x="2177295" y="702763"/>
                </a:lnTo>
                <a:lnTo>
                  <a:pt x="2191284" y="745345"/>
                </a:lnTo>
                <a:lnTo>
                  <a:pt x="2203256" y="788688"/>
                </a:lnTo>
                <a:lnTo>
                  <a:pt x="2213161" y="832746"/>
                </a:lnTo>
                <a:lnTo>
                  <a:pt x="2220951" y="877475"/>
                </a:lnTo>
                <a:lnTo>
                  <a:pt x="2226576" y="922829"/>
                </a:lnTo>
                <a:lnTo>
                  <a:pt x="2229987" y="968765"/>
                </a:lnTo>
                <a:lnTo>
                  <a:pt x="2231135" y="1015238"/>
                </a:lnTo>
                <a:lnTo>
                  <a:pt x="2229987" y="1061709"/>
                </a:lnTo>
                <a:lnTo>
                  <a:pt x="2226576" y="1107644"/>
                </a:lnTo>
                <a:lnTo>
                  <a:pt x="2220951" y="1152998"/>
                </a:lnTo>
                <a:lnTo>
                  <a:pt x="2213161" y="1197726"/>
                </a:lnTo>
                <a:lnTo>
                  <a:pt x="2203256" y="1241783"/>
                </a:lnTo>
                <a:lnTo>
                  <a:pt x="2191284" y="1285125"/>
                </a:lnTo>
                <a:lnTo>
                  <a:pt x="2177295" y="1327707"/>
                </a:lnTo>
                <a:lnTo>
                  <a:pt x="2161339" y="1369484"/>
                </a:lnTo>
                <a:lnTo>
                  <a:pt x="2143464" y="1410411"/>
                </a:lnTo>
                <a:lnTo>
                  <a:pt x="2123720" y="1450443"/>
                </a:lnTo>
                <a:lnTo>
                  <a:pt x="2102155" y="1489535"/>
                </a:lnTo>
                <a:lnTo>
                  <a:pt x="2078820" y="1527644"/>
                </a:lnTo>
                <a:lnTo>
                  <a:pt x="2053764" y="1564723"/>
                </a:lnTo>
                <a:lnTo>
                  <a:pt x="2027035" y="1600729"/>
                </a:lnTo>
                <a:lnTo>
                  <a:pt x="1998683" y="1635616"/>
                </a:lnTo>
                <a:lnTo>
                  <a:pt x="1968757" y="1669339"/>
                </a:lnTo>
                <a:lnTo>
                  <a:pt x="1937306" y="1701854"/>
                </a:lnTo>
                <a:lnTo>
                  <a:pt x="1904380" y="1733116"/>
                </a:lnTo>
                <a:lnTo>
                  <a:pt x="1870028" y="1763080"/>
                </a:lnTo>
                <a:lnTo>
                  <a:pt x="1834300" y="1791702"/>
                </a:lnTo>
                <a:lnTo>
                  <a:pt x="1797243" y="1818935"/>
                </a:lnTo>
                <a:lnTo>
                  <a:pt x="1758909" y="1844737"/>
                </a:lnTo>
                <a:lnTo>
                  <a:pt x="1719345" y="1869061"/>
                </a:lnTo>
                <a:lnTo>
                  <a:pt x="1678601" y="1891864"/>
                </a:lnTo>
                <a:lnTo>
                  <a:pt x="1636726" y="1913100"/>
                </a:lnTo>
                <a:lnTo>
                  <a:pt x="1593771" y="1932724"/>
                </a:lnTo>
                <a:lnTo>
                  <a:pt x="1549782" y="1950692"/>
                </a:lnTo>
                <a:lnTo>
                  <a:pt x="1504812" y="1966959"/>
                </a:lnTo>
                <a:lnTo>
                  <a:pt x="1458907" y="1981480"/>
                </a:lnTo>
                <a:lnTo>
                  <a:pt x="1412118" y="1994210"/>
                </a:lnTo>
                <a:lnTo>
                  <a:pt x="1364494" y="2005104"/>
                </a:lnTo>
                <a:lnTo>
                  <a:pt x="1316083" y="2014118"/>
                </a:lnTo>
                <a:lnTo>
                  <a:pt x="1266936" y="2021207"/>
                </a:lnTo>
                <a:lnTo>
                  <a:pt x="1217102" y="2026326"/>
                </a:lnTo>
                <a:lnTo>
                  <a:pt x="1166629" y="2029431"/>
                </a:lnTo>
                <a:lnTo>
                  <a:pt x="1115567" y="2030476"/>
                </a:lnTo>
                <a:lnTo>
                  <a:pt x="1064506" y="2029431"/>
                </a:lnTo>
                <a:lnTo>
                  <a:pt x="1014033" y="2026326"/>
                </a:lnTo>
                <a:lnTo>
                  <a:pt x="964199" y="2021207"/>
                </a:lnTo>
                <a:lnTo>
                  <a:pt x="915052" y="2014118"/>
                </a:lnTo>
                <a:lnTo>
                  <a:pt x="866641" y="2005104"/>
                </a:lnTo>
                <a:lnTo>
                  <a:pt x="819017" y="1994210"/>
                </a:lnTo>
                <a:lnTo>
                  <a:pt x="772228" y="1981480"/>
                </a:lnTo>
                <a:lnTo>
                  <a:pt x="726323" y="1966959"/>
                </a:lnTo>
                <a:lnTo>
                  <a:pt x="681353" y="1950692"/>
                </a:lnTo>
                <a:lnTo>
                  <a:pt x="637364" y="1932724"/>
                </a:lnTo>
                <a:lnTo>
                  <a:pt x="594409" y="1913100"/>
                </a:lnTo>
                <a:lnTo>
                  <a:pt x="552534" y="1891864"/>
                </a:lnTo>
                <a:lnTo>
                  <a:pt x="511790" y="1869061"/>
                </a:lnTo>
                <a:lnTo>
                  <a:pt x="472226" y="1844737"/>
                </a:lnTo>
                <a:lnTo>
                  <a:pt x="433892" y="1818935"/>
                </a:lnTo>
                <a:lnTo>
                  <a:pt x="396835" y="1791702"/>
                </a:lnTo>
                <a:lnTo>
                  <a:pt x="361107" y="1763080"/>
                </a:lnTo>
                <a:lnTo>
                  <a:pt x="326755" y="1733116"/>
                </a:lnTo>
                <a:lnTo>
                  <a:pt x="293829" y="1701854"/>
                </a:lnTo>
                <a:lnTo>
                  <a:pt x="262378" y="1669339"/>
                </a:lnTo>
                <a:lnTo>
                  <a:pt x="232452" y="1635616"/>
                </a:lnTo>
                <a:lnTo>
                  <a:pt x="204100" y="1600729"/>
                </a:lnTo>
                <a:lnTo>
                  <a:pt x="177371" y="1564723"/>
                </a:lnTo>
                <a:lnTo>
                  <a:pt x="152315" y="1527644"/>
                </a:lnTo>
                <a:lnTo>
                  <a:pt x="128980" y="1489535"/>
                </a:lnTo>
                <a:lnTo>
                  <a:pt x="107415" y="1450443"/>
                </a:lnTo>
                <a:lnTo>
                  <a:pt x="87671" y="1410411"/>
                </a:lnTo>
                <a:lnTo>
                  <a:pt x="69796" y="1369484"/>
                </a:lnTo>
                <a:lnTo>
                  <a:pt x="53840" y="1327707"/>
                </a:lnTo>
                <a:lnTo>
                  <a:pt x="39851" y="1285125"/>
                </a:lnTo>
                <a:lnTo>
                  <a:pt x="27879" y="1241783"/>
                </a:lnTo>
                <a:lnTo>
                  <a:pt x="17974" y="1197726"/>
                </a:lnTo>
                <a:lnTo>
                  <a:pt x="10184" y="1152998"/>
                </a:lnTo>
                <a:lnTo>
                  <a:pt x="4559" y="1107644"/>
                </a:lnTo>
                <a:lnTo>
                  <a:pt x="1148" y="1061709"/>
                </a:lnTo>
                <a:lnTo>
                  <a:pt x="0" y="1015238"/>
                </a:lnTo>
                <a:close/>
              </a:path>
            </a:pathLst>
          </a:custGeom>
          <a:noFill/>
          <a:ln cap="flat" cmpd="sng" w="254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 txBox="1"/>
          <p:nvPr/>
        </p:nvSpPr>
        <p:spPr>
          <a:xfrm>
            <a:off x="5682488" y="4896421"/>
            <a:ext cx="86614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Perecível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3031235" y="3516757"/>
            <a:ext cx="2231390" cy="2030730"/>
          </a:xfrm>
          <a:custGeom>
            <a:rect b="b" l="l" r="r" t="t"/>
            <a:pathLst>
              <a:path extrusionOk="0" h="2030729" w="2231390">
                <a:moveTo>
                  <a:pt x="0" y="1015237"/>
                </a:moveTo>
                <a:lnTo>
                  <a:pt x="1148" y="968765"/>
                </a:lnTo>
                <a:lnTo>
                  <a:pt x="4559" y="922829"/>
                </a:lnTo>
                <a:lnTo>
                  <a:pt x="10184" y="877475"/>
                </a:lnTo>
                <a:lnTo>
                  <a:pt x="17974" y="832746"/>
                </a:lnTo>
                <a:lnTo>
                  <a:pt x="27879" y="788688"/>
                </a:lnTo>
                <a:lnTo>
                  <a:pt x="39851" y="745345"/>
                </a:lnTo>
                <a:lnTo>
                  <a:pt x="53840" y="702763"/>
                </a:lnTo>
                <a:lnTo>
                  <a:pt x="69796" y="660986"/>
                </a:lnTo>
                <a:lnTo>
                  <a:pt x="87671" y="620059"/>
                </a:lnTo>
                <a:lnTo>
                  <a:pt x="107415" y="580027"/>
                </a:lnTo>
                <a:lnTo>
                  <a:pt x="128980" y="540934"/>
                </a:lnTo>
                <a:lnTo>
                  <a:pt x="152315" y="502825"/>
                </a:lnTo>
                <a:lnTo>
                  <a:pt x="177371" y="465746"/>
                </a:lnTo>
                <a:lnTo>
                  <a:pt x="204100" y="429741"/>
                </a:lnTo>
                <a:lnTo>
                  <a:pt x="232452" y="394854"/>
                </a:lnTo>
                <a:lnTo>
                  <a:pt x="262378" y="361131"/>
                </a:lnTo>
                <a:lnTo>
                  <a:pt x="293829" y="328616"/>
                </a:lnTo>
                <a:lnTo>
                  <a:pt x="326755" y="297354"/>
                </a:lnTo>
                <a:lnTo>
                  <a:pt x="361107" y="267390"/>
                </a:lnTo>
                <a:lnTo>
                  <a:pt x="396835" y="238769"/>
                </a:lnTo>
                <a:lnTo>
                  <a:pt x="433892" y="211536"/>
                </a:lnTo>
                <a:lnTo>
                  <a:pt x="472226" y="185734"/>
                </a:lnTo>
                <a:lnTo>
                  <a:pt x="511790" y="161410"/>
                </a:lnTo>
                <a:lnTo>
                  <a:pt x="552534" y="138608"/>
                </a:lnTo>
                <a:lnTo>
                  <a:pt x="594409" y="117373"/>
                </a:lnTo>
                <a:lnTo>
                  <a:pt x="637364" y="97749"/>
                </a:lnTo>
                <a:lnTo>
                  <a:pt x="681353" y="79781"/>
                </a:lnTo>
                <a:lnTo>
                  <a:pt x="726323" y="63515"/>
                </a:lnTo>
                <a:lnTo>
                  <a:pt x="772228" y="48994"/>
                </a:lnTo>
                <a:lnTo>
                  <a:pt x="819017" y="36264"/>
                </a:lnTo>
                <a:lnTo>
                  <a:pt x="866641" y="25370"/>
                </a:lnTo>
                <a:lnTo>
                  <a:pt x="915052" y="16356"/>
                </a:lnTo>
                <a:lnTo>
                  <a:pt x="964199" y="9267"/>
                </a:lnTo>
                <a:lnTo>
                  <a:pt x="1014033" y="4148"/>
                </a:lnTo>
                <a:lnTo>
                  <a:pt x="1064506" y="1044"/>
                </a:lnTo>
                <a:lnTo>
                  <a:pt x="1115567" y="0"/>
                </a:lnTo>
                <a:lnTo>
                  <a:pt x="1166629" y="1044"/>
                </a:lnTo>
                <a:lnTo>
                  <a:pt x="1217102" y="4148"/>
                </a:lnTo>
                <a:lnTo>
                  <a:pt x="1266936" y="9267"/>
                </a:lnTo>
                <a:lnTo>
                  <a:pt x="1316083" y="16356"/>
                </a:lnTo>
                <a:lnTo>
                  <a:pt x="1364494" y="25370"/>
                </a:lnTo>
                <a:lnTo>
                  <a:pt x="1412118" y="36264"/>
                </a:lnTo>
                <a:lnTo>
                  <a:pt x="1458907" y="48994"/>
                </a:lnTo>
                <a:lnTo>
                  <a:pt x="1504812" y="63515"/>
                </a:lnTo>
                <a:lnTo>
                  <a:pt x="1549782" y="79781"/>
                </a:lnTo>
                <a:lnTo>
                  <a:pt x="1593771" y="97749"/>
                </a:lnTo>
                <a:lnTo>
                  <a:pt x="1636726" y="117373"/>
                </a:lnTo>
                <a:lnTo>
                  <a:pt x="1678601" y="138608"/>
                </a:lnTo>
                <a:lnTo>
                  <a:pt x="1719345" y="161410"/>
                </a:lnTo>
                <a:lnTo>
                  <a:pt x="1758909" y="185734"/>
                </a:lnTo>
                <a:lnTo>
                  <a:pt x="1797243" y="211536"/>
                </a:lnTo>
                <a:lnTo>
                  <a:pt x="1834300" y="238769"/>
                </a:lnTo>
                <a:lnTo>
                  <a:pt x="1870028" y="267390"/>
                </a:lnTo>
                <a:lnTo>
                  <a:pt x="1904380" y="297354"/>
                </a:lnTo>
                <a:lnTo>
                  <a:pt x="1937306" y="328616"/>
                </a:lnTo>
                <a:lnTo>
                  <a:pt x="1968757" y="361131"/>
                </a:lnTo>
                <a:lnTo>
                  <a:pt x="1998683" y="394854"/>
                </a:lnTo>
                <a:lnTo>
                  <a:pt x="2027035" y="429741"/>
                </a:lnTo>
                <a:lnTo>
                  <a:pt x="2053764" y="465746"/>
                </a:lnTo>
                <a:lnTo>
                  <a:pt x="2078820" y="502825"/>
                </a:lnTo>
                <a:lnTo>
                  <a:pt x="2102155" y="540934"/>
                </a:lnTo>
                <a:lnTo>
                  <a:pt x="2123720" y="580027"/>
                </a:lnTo>
                <a:lnTo>
                  <a:pt x="2143464" y="620059"/>
                </a:lnTo>
                <a:lnTo>
                  <a:pt x="2161339" y="660986"/>
                </a:lnTo>
                <a:lnTo>
                  <a:pt x="2177295" y="702763"/>
                </a:lnTo>
                <a:lnTo>
                  <a:pt x="2191284" y="745345"/>
                </a:lnTo>
                <a:lnTo>
                  <a:pt x="2203256" y="788688"/>
                </a:lnTo>
                <a:lnTo>
                  <a:pt x="2213161" y="832746"/>
                </a:lnTo>
                <a:lnTo>
                  <a:pt x="2220951" y="877475"/>
                </a:lnTo>
                <a:lnTo>
                  <a:pt x="2226576" y="922829"/>
                </a:lnTo>
                <a:lnTo>
                  <a:pt x="2229987" y="968765"/>
                </a:lnTo>
                <a:lnTo>
                  <a:pt x="2231136" y="1015237"/>
                </a:lnTo>
                <a:lnTo>
                  <a:pt x="2229987" y="1061710"/>
                </a:lnTo>
                <a:lnTo>
                  <a:pt x="2226576" y="1107646"/>
                </a:lnTo>
                <a:lnTo>
                  <a:pt x="2220951" y="1153000"/>
                </a:lnTo>
                <a:lnTo>
                  <a:pt x="2213161" y="1197729"/>
                </a:lnTo>
                <a:lnTo>
                  <a:pt x="2203256" y="1241787"/>
                </a:lnTo>
                <a:lnTo>
                  <a:pt x="2191284" y="1285130"/>
                </a:lnTo>
                <a:lnTo>
                  <a:pt x="2177295" y="1327712"/>
                </a:lnTo>
                <a:lnTo>
                  <a:pt x="2161339" y="1369489"/>
                </a:lnTo>
                <a:lnTo>
                  <a:pt x="2143464" y="1410416"/>
                </a:lnTo>
                <a:lnTo>
                  <a:pt x="2123720" y="1450448"/>
                </a:lnTo>
                <a:lnTo>
                  <a:pt x="2102155" y="1489541"/>
                </a:lnTo>
                <a:lnTo>
                  <a:pt x="2078820" y="1527650"/>
                </a:lnTo>
                <a:lnTo>
                  <a:pt x="2053764" y="1564729"/>
                </a:lnTo>
                <a:lnTo>
                  <a:pt x="2027035" y="1600734"/>
                </a:lnTo>
                <a:lnTo>
                  <a:pt x="1998683" y="1635621"/>
                </a:lnTo>
                <a:lnTo>
                  <a:pt x="1968757" y="1669344"/>
                </a:lnTo>
                <a:lnTo>
                  <a:pt x="1937306" y="1701859"/>
                </a:lnTo>
                <a:lnTo>
                  <a:pt x="1904380" y="1733121"/>
                </a:lnTo>
                <a:lnTo>
                  <a:pt x="1870028" y="1763085"/>
                </a:lnTo>
                <a:lnTo>
                  <a:pt x="1834300" y="1791706"/>
                </a:lnTo>
                <a:lnTo>
                  <a:pt x="1797243" y="1818939"/>
                </a:lnTo>
                <a:lnTo>
                  <a:pt x="1758909" y="1844741"/>
                </a:lnTo>
                <a:lnTo>
                  <a:pt x="1719345" y="1869065"/>
                </a:lnTo>
                <a:lnTo>
                  <a:pt x="1678601" y="1891867"/>
                </a:lnTo>
                <a:lnTo>
                  <a:pt x="1636726" y="1913102"/>
                </a:lnTo>
                <a:lnTo>
                  <a:pt x="1593771" y="1932726"/>
                </a:lnTo>
                <a:lnTo>
                  <a:pt x="1549782" y="1950694"/>
                </a:lnTo>
                <a:lnTo>
                  <a:pt x="1504812" y="1966960"/>
                </a:lnTo>
                <a:lnTo>
                  <a:pt x="1458907" y="1981481"/>
                </a:lnTo>
                <a:lnTo>
                  <a:pt x="1412118" y="1994211"/>
                </a:lnTo>
                <a:lnTo>
                  <a:pt x="1364494" y="2005105"/>
                </a:lnTo>
                <a:lnTo>
                  <a:pt x="1316083" y="2014119"/>
                </a:lnTo>
                <a:lnTo>
                  <a:pt x="1266936" y="2021208"/>
                </a:lnTo>
                <a:lnTo>
                  <a:pt x="1217102" y="2026327"/>
                </a:lnTo>
                <a:lnTo>
                  <a:pt x="1166629" y="2029431"/>
                </a:lnTo>
                <a:lnTo>
                  <a:pt x="1115567" y="2030476"/>
                </a:lnTo>
                <a:lnTo>
                  <a:pt x="1064506" y="2029431"/>
                </a:lnTo>
                <a:lnTo>
                  <a:pt x="1014033" y="2026327"/>
                </a:lnTo>
                <a:lnTo>
                  <a:pt x="964199" y="2021208"/>
                </a:lnTo>
                <a:lnTo>
                  <a:pt x="915052" y="2014119"/>
                </a:lnTo>
                <a:lnTo>
                  <a:pt x="866641" y="2005105"/>
                </a:lnTo>
                <a:lnTo>
                  <a:pt x="819017" y="1994211"/>
                </a:lnTo>
                <a:lnTo>
                  <a:pt x="772228" y="1981481"/>
                </a:lnTo>
                <a:lnTo>
                  <a:pt x="726323" y="1966960"/>
                </a:lnTo>
                <a:lnTo>
                  <a:pt x="681353" y="1950694"/>
                </a:lnTo>
                <a:lnTo>
                  <a:pt x="637364" y="1932726"/>
                </a:lnTo>
                <a:lnTo>
                  <a:pt x="594409" y="1913102"/>
                </a:lnTo>
                <a:lnTo>
                  <a:pt x="552534" y="1891867"/>
                </a:lnTo>
                <a:lnTo>
                  <a:pt x="511790" y="1869065"/>
                </a:lnTo>
                <a:lnTo>
                  <a:pt x="472226" y="1844741"/>
                </a:lnTo>
                <a:lnTo>
                  <a:pt x="433892" y="1818939"/>
                </a:lnTo>
                <a:lnTo>
                  <a:pt x="396835" y="1791706"/>
                </a:lnTo>
                <a:lnTo>
                  <a:pt x="361107" y="1763085"/>
                </a:lnTo>
                <a:lnTo>
                  <a:pt x="326755" y="1733121"/>
                </a:lnTo>
                <a:lnTo>
                  <a:pt x="293829" y="1701859"/>
                </a:lnTo>
                <a:lnTo>
                  <a:pt x="262378" y="1669344"/>
                </a:lnTo>
                <a:lnTo>
                  <a:pt x="232452" y="1635621"/>
                </a:lnTo>
                <a:lnTo>
                  <a:pt x="204100" y="1600734"/>
                </a:lnTo>
                <a:lnTo>
                  <a:pt x="177371" y="1564729"/>
                </a:lnTo>
                <a:lnTo>
                  <a:pt x="152315" y="1527650"/>
                </a:lnTo>
                <a:lnTo>
                  <a:pt x="128980" y="1489541"/>
                </a:lnTo>
                <a:lnTo>
                  <a:pt x="107415" y="1450448"/>
                </a:lnTo>
                <a:lnTo>
                  <a:pt x="87671" y="1410416"/>
                </a:lnTo>
                <a:lnTo>
                  <a:pt x="69796" y="1369489"/>
                </a:lnTo>
                <a:lnTo>
                  <a:pt x="53840" y="1327712"/>
                </a:lnTo>
                <a:lnTo>
                  <a:pt x="39851" y="1285130"/>
                </a:lnTo>
                <a:lnTo>
                  <a:pt x="27879" y="1241787"/>
                </a:lnTo>
                <a:lnTo>
                  <a:pt x="17974" y="1197729"/>
                </a:lnTo>
                <a:lnTo>
                  <a:pt x="10184" y="1153000"/>
                </a:lnTo>
                <a:lnTo>
                  <a:pt x="4559" y="1107646"/>
                </a:lnTo>
                <a:lnTo>
                  <a:pt x="1148" y="1061710"/>
                </a:lnTo>
                <a:lnTo>
                  <a:pt x="0" y="1015237"/>
                </a:lnTo>
                <a:close/>
              </a:path>
            </a:pathLst>
          </a:custGeom>
          <a:noFill/>
          <a:ln cap="flat" cmpd="sng" w="254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 txBox="1"/>
          <p:nvPr/>
        </p:nvSpPr>
        <p:spPr>
          <a:xfrm>
            <a:off x="3678301" y="4364799"/>
            <a:ext cx="928369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Intangível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899147" y="3333877"/>
            <a:ext cx="2231390" cy="2030730"/>
          </a:xfrm>
          <a:custGeom>
            <a:rect b="b" l="l" r="r" t="t"/>
            <a:pathLst>
              <a:path extrusionOk="0" h="2030729" w="2231390">
                <a:moveTo>
                  <a:pt x="0" y="1015238"/>
                </a:moveTo>
                <a:lnTo>
                  <a:pt x="1148" y="968765"/>
                </a:lnTo>
                <a:lnTo>
                  <a:pt x="4559" y="922829"/>
                </a:lnTo>
                <a:lnTo>
                  <a:pt x="10184" y="877475"/>
                </a:lnTo>
                <a:lnTo>
                  <a:pt x="17974" y="832746"/>
                </a:lnTo>
                <a:lnTo>
                  <a:pt x="27879" y="788688"/>
                </a:lnTo>
                <a:lnTo>
                  <a:pt x="39851" y="745345"/>
                </a:lnTo>
                <a:lnTo>
                  <a:pt x="53840" y="702763"/>
                </a:lnTo>
                <a:lnTo>
                  <a:pt x="69796" y="660986"/>
                </a:lnTo>
                <a:lnTo>
                  <a:pt x="87671" y="620059"/>
                </a:lnTo>
                <a:lnTo>
                  <a:pt x="107415" y="580027"/>
                </a:lnTo>
                <a:lnTo>
                  <a:pt x="128980" y="540934"/>
                </a:lnTo>
                <a:lnTo>
                  <a:pt x="152315" y="502825"/>
                </a:lnTo>
                <a:lnTo>
                  <a:pt x="177371" y="465746"/>
                </a:lnTo>
                <a:lnTo>
                  <a:pt x="204100" y="429741"/>
                </a:lnTo>
                <a:lnTo>
                  <a:pt x="232452" y="394854"/>
                </a:lnTo>
                <a:lnTo>
                  <a:pt x="262378" y="361131"/>
                </a:lnTo>
                <a:lnTo>
                  <a:pt x="293829" y="328616"/>
                </a:lnTo>
                <a:lnTo>
                  <a:pt x="326755" y="297354"/>
                </a:lnTo>
                <a:lnTo>
                  <a:pt x="361107" y="267390"/>
                </a:lnTo>
                <a:lnTo>
                  <a:pt x="396835" y="238769"/>
                </a:lnTo>
                <a:lnTo>
                  <a:pt x="433892" y="211536"/>
                </a:lnTo>
                <a:lnTo>
                  <a:pt x="472226" y="185734"/>
                </a:lnTo>
                <a:lnTo>
                  <a:pt x="511790" y="161410"/>
                </a:lnTo>
                <a:lnTo>
                  <a:pt x="552534" y="138608"/>
                </a:lnTo>
                <a:lnTo>
                  <a:pt x="594409" y="117373"/>
                </a:lnTo>
                <a:lnTo>
                  <a:pt x="637364" y="97749"/>
                </a:lnTo>
                <a:lnTo>
                  <a:pt x="681353" y="79781"/>
                </a:lnTo>
                <a:lnTo>
                  <a:pt x="726323" y="63515"/>
                </a:lnTo>
                <a:lnTo>
                  <a:pt x="772228" y="48994"/>
                </a:lnTo>
                <a:lnTo>
                  <a:pt x="819017" y="36264"/>
                </a:lnTo>
                <a:lnTo>
                  <a:pt x="866641" y="25370"/>
                </a:lnTo>
                <a:lnTo>
                  <a:pt x="915052" y="16356"/>
                </a:lnTo>
                <a:lnTo>
                  <a:pt x="964199" y="9267"/>
                </a:lnTo>
                <a:lnTo>
                  <a:pt x="1014033" y="4148"/>
                </a:lnTo>
                <a:lnTo>
                  <a:pt x="1064506" y="1044"/>
                </a:lnTo>
                <a:lnTo>
                  <a:pt x="1115568" y="0"/>
                </a:lnTo>
                <a:lnTo>
                  <a:pt x="1166629" y="1044"/>
                </a:lnTo>
                <a:lnTo>
                  <a:pt x="1217102" y="4148"/>
                </a:lnTo>
                <a:lnTo>
                  <a:pt x="1266936" y="9267"/>
                </a:lnTo>
                <a:lnTo>
                  <a:pt x="1316083" y="16356"/>
                </a:lnTo>
                <a:lnTo>
                  <a:pt x="1364494" y="25370"/>
                </a:lnTo>
                <a:lnTo>
                  <a:pt x="1412118" y="36264"/>
                </a:lnTo>
                <a:lnTo>
                  <a:pt x="1458907" y="48994"/>
                </a:lnTo>
                <a:lnTo>
                  <a:pt x="1504812" y="63515"/>
                </a:lnTo>
                <a:lnTo>
                  <a:pt x="1549782" y="79781"/>
                </a:lnTo>
                <a:lnTo>
                  <a:pt x="1593771" y="97749"/>
                </a:lnTo>
                <a:lnTo>
                  <a:pt x="1636726" y="117373"/>
                </a:lnTo>
                <a:lnTo>
                  <a:pt x="1678601" y="138608"/>
                </a:lnTo>
                <a:lnTo>
                  <a:pt x="1719345" y="161410"/>
                </a:lnTo>
                <a:lnTo>
                  <a:pt x="1758909" y="185734"/>
                </a:lnTo>
                <a:lnTo>
                  <a:pt x="1797243" y="211536"/>
                </a:lnTo>
                <a:lnTo>
                  <a:pt x="1834300" y="238769"/>
                </a:lnTo>
                <a:lnTo>
                  <a:pt x="1870028" y="267390"/>
                </a:lnTo>
                <a:lnTo>
                  <a:pt x="1904380" y="297354"/>
                </a:lnTo>
                <a:lnTo>
                  <a:pt x="1937306" y="328616"/>
                </a:lnTo>
                <a:lnTo>
                  <a:pt x="1968757" y="361131"/>
                </a:lnTo>
                <a:lnTo>
                  <a:pt x="1998683" y="394854"/>
                </a:lnTo>
                <a:lnTo>
                  <a:pt x="2027035" y="429741"/>
                </a:lnTo>
                <a:lnTo>
                  <a:pt x="2053764" y="465746"/>
                </a:lnTo>
                <a:lnTo>
                  <a:pt x="2078820" y="502825"/>
                </a:lnTo>
                <a:lnTo>
                  <a:pt x="2102155" y="540934"/>
                </a:lnTo>
                <a:lnTo>
                  <a:pt x="2123720" y="580027"/>
                </a:lnTo>
                <a:lnTo>
                  <a:pt x="2143464" y="620059"/>
                </a:lnTo>
                <a:lnTo>
                  <a:pt x="2161339" y="660986"/>
                </a:lnTo>
                <a:lnTo>
                  <a:pt x="2177295" y="702763"/>
                </a:lnTo>
                <a:lnTo>
                  <a:pt x="2191284" y="745345"/>
                </a:lnTo>
                <a:lnTo>
                  <a:pt x="2203256" y="788688"/>
                </a:lnTo>
                <a:lnTo>
                  <a:pt x="2213161" y="832746"/>
                </a:lnTo>
                <a:lnTo>
                  <a:pt x="2220951" y="877475"/>
                </a:lnTo>
                <a:lnTo>
                  <a:pt x="2226576" y="922829"/>
                </a:lnTo>
                <a:lnTo>
                  <a:pt x="2229987" y="968765"/>
                </a:lnTo>
                <a:lnTo>
                  <a:pt x="2231135" y="1015238"/>
                </a:lnTo>
                <a:lnTo>
                  <a:pt x="2229987" y="1061710"/>
                </a:lnTo>
                <a:lnTo>
                  <a:pt x="2226576" y="1107646"/>
                </a:lnTo>
                <a:lnTo>
                  <a:pt x="2220951" y="1153000"/>
                </a:lnTo>
                <a:lnTo>
                  <a:pt x="2213161" y="1197729"/>
                </a:lnTo>
                <a:lnTo>
                  <a:pt x="2203256" y="1241787"/>
                </a:lnTo>
                <a:lnTo>
                  <a:pt x="2191284" y="1285130"/>
                </a:lnTo>
                <a:lnTo>
                  <a:pt x="2177295" y="1327712"/>
                </a:lnTo>
                <a:lnTo>
                  <a:pt x="2161339" y="1369489"/>
                </a:lnTo>
                <a:lnTo>
                  <a:pt x="2143464" y="1410416"/>
                </a:lnTo>
                <a:lnTo>
                  <a:pt x="2123720" y="1450448"/>
                </a:lnTo>
                <a:lnTo>
                  <a:pt x="2102155" y="1489541"/>
                </a:lnTo>
                <a:lnTo>
                  <a:pt x="2078820" y="1527650"/>
                </a:lnTo>
                <a:lnTo>
                  <a:pt x="2053764" y="1564729"/>
                </a:lnTo>
                <a:lnTo>
                  <a:pt x="2027035" y="1600734"/>
                </a:lnTo>
                <a:lnTo>
                  <a:pt x="1998683" y="1635621"/>
                </a:lnTo>
                <a:lnTo>
                  <a:pt x="1968757" y="1669344"/>
                </a:lnTo>
                <a:lnTo>
                  <a:pt x="1937306" y="1701859"/>
                </a:lnTo>
                <a:lnTo>
                  <a:pt x="1904380" y="1733121"/>
                </a:lnTo>
                <a:lnTo>
                  <a:pt x="1870028" y="1763085"/>
                </a:lnTo>
                <a:lnTo>
                  <a:pt x="1834300" y="1791706"/>
                </a:lnTo>
                <a:lnTo>
                  <a:pt x="1797243" y="1818939"/>
                </a:lnTo>
                <a:lnTo>
                  <a:pt x="1758909" y="1844741"/>
                </a:lnTo>
                <a:lnTo>
                  <a:pt x="1719345" y="1869065"/>
                </a:lnTo>
                <a:lnTo>
                  <a:pt x="1678601" y="1891867"/>
                </a:lnTo>
                <a:lnTo>
                  <a:pt x="1636726" y="1913102"/>
                </a:lnTo>
                <a:lnTo>
                  <a:pt x="1593771" y="1932726"/>
                </a:lnTo>
                <a:lnTo>
                  <a:pt x="1549782" y="1950694"/>
                </a:lnTo>
                <a:lnTo>
                  <a:pt x="1504812" y="1966960"/>
                </a:lnTo>
                <a:lnTo>
                  <a:pt x="1458907" y="1981481"/>
                </a:lnTo>
                <a:lnTo>
                  <a:pt x="1412118" y="1994211"/>
                </a:lnTo>
                <a:lnTo>
                  <a:pt x="1364494" y="2005105"/>
                </a:lnTo>
                <a:lnTo>
                  <a:pt x="1316083" y="2014119"/>
                </a:lnTo>
                <a:lnTo>
                  <a:pt x="1266936" y="2021208"/>
                </a:lnTo>
                <a:lnTo>
                  <a:pt x="1217102" y="2026327"/>
                </a:lnTo>
                <a:lnTo>
                  <a:pt x="1166629" y="2029431"/>
                </a:lnTo>
                <a:lnTo>
                  <a:pt x="1115568" y="2030476"/>
                </a:lnTo>
                <a:lnTo>
                  <a:pt x="1064506" y="2029431"/>
                </a:lnTo>
                <a:lnTo>
                  <a:pt x="1014033" y="2026327"/>
                </a:lnTo>
                <a:lnTo>
                  <a:pt x="964199" y="2021208"/>
                </a:lnTo>
                <a:lnTo>
                  <a:pt x="915052" y="2014119"/>
                </a:lnTo>
                <a:lnTo>
                  <a:pt x="866641" y="2005105"/>
                </a:lnTo>
                <a:lnTo>
                  <a:pt x="819017" y="1994211"/>
                </a:lnTo>
                <a:lnTo>
                  <a:pt x="772228" y="1981481"/>
                </a:lnTo>
                <a:lnTo>
                  <a:pt x="726323" y="1966960"/>
                </a:lnTo>
                <a:lnTo>
                  <a:pt x="681353" y="1950694"/>
                </a:lnTo>
                <a:lnTo>
                  <a:pt x="637364" y="1932726"/>
                </a:lnTo>
                <a:lnTo>
                  <a:pt x="594409" y="1913102"/>
                </a:lnTo>
                <a:lnTo>
                  <a:pt x="552534" y="1891867"/>
                </a:lnTo>
                <a:lnTo>
                  <a:pt x="511790" y="1869065"/>
                </a:lnTo>
                <a:lnTo>
                  <a:pt x="472226" y="1844741"/>
                </a:lnTo>
                <a:lnTo>
                  <a:pt x="433892" y="1818939"/>
                </a:lnTo>
                <a:lnTo>
                  <a:pt x="396835" y="1791706"/>
                </a:lnTo>
                <a:lnTo>
                  <a:pt x="361107" y="1763085"/>
                </a:lnTo>
                <a:lnTo>
                  <a:pt x="326755" y="1733121"/>
                </a:lnTo>
                <a:lnTo>
                  <a:pt x="293829" y="1701859"/>
                </a:lnTo>
                <a:lnTo>
                  <a:pt x="262378" y="1669344"/>
                </a:lnTo>
                <a:lnTo>
                  <a:pt x="232452" y="1635621"/>
                </a:lnTo>
                <a:lnTo>
                  <a:pt x="204100" y="1600734"/>
                </a:lnTo>
                <a:lnTo>
                  <a:pt x="177371" y="1564729"/>
                </a:lnTo>
                <a:lnTo>
                  <a:pt x="152315" y="1527650"/>
                </a:lnTo>
                <a:lnTo>
                  <a:pt x="128980" y="1489541"/>
                </a:lnTo>
                <a:lnTo>
                  <a:pt x="107415" y="1450448"/>
                </a:lnTo>
                <a:lnTo>
                  <a:pt x="87671" y="1410416"/>
                </a:lnTo>
                <a:lnTo>
                  <a:pt x="69796" y="1369489"/>
                </a:lnTo>
                <a:lnTo>
                  <a:pt x="53840" y="1327712"/>
                </a:lnTo>
                <a:lnTo>
                  <a:pt x="39851" y="1285130"/>
                </a:lnTo>
                <a:lnTo>
                  <a:pt x="27879" y="1241787"/>
                </a:lnTo>
                <a:lnTo>
                  <a:pt x="17974" y="1197729"/>
                </a:lnTo>
                <a:lnTo>
                  <a:pt x="10184" y="1153000"/>
                </a:lnTo>
                <a:lnTo>
                  <a:pt x="4559" y="1107646"/>
                </a:lnTo>
                <a:lnTo>
                  <a:pt x="1148" y="1061710"/>
                </a:lnTo>
                <a:lnTo>
                  <a:pt x="0" y="1015238"/>
                </a:lnTo>
                <a:close/>
              </a:path>
            </a:pathLst>
          </a:custGeom>
          <a:noFill/>
          <a:ln cap="flat" cmpd="sng" w="254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 txBox="1"/>
          <p:nvPr/>
        </p:nvSpPr>
        <p:spPr>
          <a:xfrm>
            <a:off x="7394193" y="3636073"/>
            <a:ext cx="1246505" cy="1398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540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Ocorre na interface: Fornecedor x Cliente (cocriação)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51" name="Google Shape;151;p11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8150">
            <a:spAutoFit/>
          </a:bodyPr>
          <a:lstStyle/>
          <a:p>
            <a:pPr indent="0" lvl="0" marL="296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Característica dos serviços</a:t>
            </a:r>
            <a:endParaRPr/>
          </a:p>
        </p:txBody>
      </p:sp>
      <p:sp>
        <p:nvSpPr>
          <p:cNvPr id="152" name="Google Shape;152;p11"/>
          <p:cNvSpPr txBox="1"/>
          <p:nvPr/>
        </p:nvSpPr>
        <p:spPr>
          <a:xfrm>
            <a:off x="543825" y="1428002"/>
            <a:ext cx="7846800" cy="4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19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Intangibilidade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8844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O Valor não está no que vemos, mas no intangível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9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Impossibilidade de fazer estoque (simultaneidade)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8844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Gestão da capacidade e demanda é a chave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7659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Produção e consumo unidos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8844" rtl="0" algn="l">
              <a:lnSpc>
                <a:spcPct val="11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 presença/participação do cliente, na maioria dos casos, é imprescindível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9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Heterogeneidade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8844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Cada cliente é diferente do outro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91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Entrada fácil no mercado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8844" rtl="0" algn="l">
              <a:lnSpc>
                <a:spcPct val="11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 maioria apresenta pouca necessidade de capital e tecnologia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57" name="Google Shape;157;p12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500">
            <a:spAutoFit/>
          </a:bodyPr>
          <a:lstStyle/>
          <a:p>
            <a:pPr indent="0" lvl="0" marL="3041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Funções e operações</a:t>
            </a:r>
            <a:endParaRPr/>
          </a:p>
        </p:txBody>
      </p:sp>
      <p:sp>
        <p:nvSpPr>
          <p:cNvPr id="158" name="Google Shape;158;p12"/>
          <p:cNvSpPr txBox="1"/>
          <p:nvPr/>
        </p:nvSpPr>
        <p:spPr>
          <a:xfrm>
            <a:off x="448600" y="1397950"/>
            <a:ext cx="87285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19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Front Office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8844" marR="5080" rtl="0" algn="l">
              <a:lnSpc>
                <a:spcPct val="12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É a parte visível da operação, aquela que entra em contato direto com o cliente/entrega dos serviço.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25625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Salão do restaurante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2562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Sala de atendimento de emergência no hospital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25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Atendimento ao público em uma agência bancária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2562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Salas de aula, refeitório, biblioteca em uma universidade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78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Back Office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906780" lvl="0" marL="1825625" marR="3573779" rtl="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Normalmente invisíveis ao cliente Informática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25625" marR="4507865" rtl="0" algn="just">
              <a:lnSpc>
                <a:spcPct val="12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Contabilidade Almoxarifado RH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25625" marR="3164205" rtl="0" algn="l">
              <a:lnSpc>
                <a:spcPct val="12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Pesquisa e desenvolvimento Manutenção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63" name="Google Shape;163;p13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150">
            <a:spAutoFit/>
          </a:bodyPr>
          <a:lstStyle/>
          <a:p>
            <a:pPr indent="0" lvl="0" marL="297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Exemplos de Serviços</a:t>
            </a:r>
            <a:endParaRPr/>
          </a:p>
        </p:txBody>
      </p:sp>
      <p:grpSp>
        <p:nvGrpSpPr>
          <p:cNvPr id="164" name="Google Shape;164;p13"/>
          <p:cNvGrpSpPr/>
          <p:nvPr/>
        </p:nvGrpSpPr>
        <p:grpSpPr>
          <a:xfrm>
            <a:off x="1938527" y="1289235"/>
            <a:ext cx="3095271" cy="1175174"/>
            <a:chOff x="1938527" y="1289235"/>
            <a:chExt cx="3095271" cy="1175174"/>
          </a:xfrm>
        </p:grpSpPr>
        <p:pic>
          <p:nvPicPr>
            <p:cNvPr id="165" name="Google Shape;16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75077" y="1289235"/>
              <a:ext cx="3058721" cy="1175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38527" y="1335023"/>
              <a:ext cx="2436876" cy="11201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13"/>
            <p:cNvSpPr/>
            <p:nvPr/>
          </p:nvSpPr>
          <p:spPr>
            <a:xfrm>
              <a:off x="2016251" y="1303400"/>
              <a:ext cx="2981325" cy="1106805"/>
            </a:xfrm>
            <a:custGeom>
              <a:rect b="b" l="l" r="r" t="t"/>
              <a:pathLst>
                <a:path extrusionOk="0" h="1106805" w="2981325">
                  <a:moveTo>
                    <a:pt x="2796540" y="0"/>
                  </a:moveTo>
                  <a:lnTo>
                    <a:pt x="0" y="0"/>
                  </a:lnTo>
                  <a:lnTo>
                    <a:pt x="0" y="1106677"/>
                  </a:lnTo>
                  <a:lnTo>
                    <a:pt x="2980944" y="1106677"/>
                  </a:lnTo>
                  <a:lnTo>
                    <a:pt x="2980944" y="184403"/>
                  </a:lnTo>
                  <a:lnTo>
                    <a:pt x="2974357" y="135378"/>
                  </a:lnTo>
                  <a:lnTo>
                    <a:pt x="2955769" y="91327"/>
                  </a:lnTo>
                  <a:lnTo>
                    <a:pt x="2926937" y="54006"/>
                  </a:lnTo>
                  <a:lnTo>
                    <a:pt x="2889616" y="25174"/>
                  </a:lnTo>
                  <a:lnTo>
                    <a:pt x="2845565" y="6586"/>
                  </a:lnTo>
                  <a:lnTo>
                    <a:pt x="2796540" y="0"/>
                  </a:lnTo>
                  <a:close/>
                </a:path>
              </a:pathLst>
            </a:custGeom>
            <a:solidFill>
              <a:srgbClr val="FCEAD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2016251" y="1303400"/>
              <a:ext cx="2981325" cy="1106805"/>
            </a:xfrm>
            <a:custGeom>
              <a:rect b="b" l="l" r="r" t="t"/>
              <a:pathLst>
                <a:path extrusionOk="0" h="1106805" w="2981325">
                  <a:moveTo>
                    <a:pt x="0" y="0"/>
                  </a:moveTo>
                  <a:lnTo>
                    <a:pt x="2796540" y="0"/>
                  </a:lnTo>
                  <a:lnTo>
                    <a:pt x="2845565" y="6586"/>
                  </a:lnTo>
                  <a:lnTo>
                    <a:pt x="2889616" y="25174"/>
                  </a:lnTo>
                  <a:lnTo>
                    <a:pt x="2926937" y="54006"/>
                  </a:lnTo>
                  <a:lnTo>
                    <a:pt x="2955769" y="91327"/>
                  </a:lnTo>
                  <a:lnTo>
                    <a:pt x="2974357" y="135378"/>
                  </a:lnTo>
                  <a:lnTo>
                    <a:pt x="2980944" y="184403"/>
                  </a:lnTo>
                  <a:lnTo>
                    <a:pt x="2980944" y="1106677"/>
                  </a:lnTo>
                  <a:lnTo>
                    <a:pt x="0" y="110667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3"/>
          <p:cNvSpPr txBox="1"/>
          <p:nvPr/>
        </p:nvSpPr>
        <p:spPr>
          <a:xfrm>
            <a:off x="2091308" y="1392102"/>
            <a:ext cx="2140585" cy="887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0" lvl="0" marL="6438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Calibri"/>
                <a:ea typeface="Calibri"/>
                <a:cs typeface="Calibri"/>
                <a:sym typeface="Calibri"/>
              </a:rPr>
              <a:t>Serviços Financeiros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981710" rtl="0" algn="l">
              <a:lnSpc>
                <a:spcPct val="102299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Financiamentos Leasing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seguros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" name="Google Shape;170;p13"/>
          <p:cNvGrpSpPr/>
          <p:nvPr/>
        </p:nvGrpSpPr>
        <p:grpSpPr>
          <a:xfrm>
            <a:off x="1938527" y="2898597"/>
            <a:ext cx="3095271" cy="1604898"/>
            <a:chOff x="1938527" y="2898597"/>
            <a:chExt cx="3095271" cy="1604898"/>
          </a:xfrm>
        </p:grpSpPr>
        <p:pic>
          <p:nvPicPr>
            <p:cNvPr id="171" name="Google Shape;171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75077" y="2898597"/>
              <a:ext cx="3058721" cy="16048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38527" y="2953512"/>
              <a:ext cx="2482596" cy="15407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3"/>
            <p:cNvSpPr/>
            <p:nvPr/>
          </p:nvSpPr>
          <p:spPr>
            <a:xfrm>
              <a:off x="2016251" y="2913126"/>
              <a:ext cx="2981325" cy="1536700"/>
            </a:xfrm>
            <a:custGeom>
              <a:rect b="b" l="l" r="r" t="t"/>
              <a:pathLst>
                <a:path extrusionOk="0" h="1536700" w="2981325">
                  <a:moveTo>
                    <a:pt x="2724912" y="0"/>
                  </a:moveTo>
                  <a:lnTo>
                    <a:pt x="0" y="0"/>
                  </a:lnTo>
                  <a:lnTo>
                    <a:pt x="0" y="1536573"/>
                  </a:lnTo>
                  <a:lnTo>
                    <a:pt x="2980944" y="1536573"/>
                  </a:lnTo>
                  <a:lnTo>
                    <a:pt x="2980944" y="256032"/>
                  </a:lnTo>
                  <a:lnTo>
                    <a:pt x="2976817" y="210023"/>
                  </a:lnTo>
                  <a:lnTo>
                    <a:pt x="2964920" y="166714"/>
                  </a:lnTo>
                  <a:lnTo>
                    <a:pt x="2945976" y="126830"/>
                  </a:lnTo>
                  <a:lnTo>
                    <a:pt x="2920711" y="91095"/>
                  </a:lnTo>
                  <a:lnTo>
                    <a:pt x="2889848" y="60232"/>
                  </a:lnTo>
                  <a:lnTo>
                    <a:pt x="2854113" y="34967"/>
                  </a:lnTo>
                  <a:lnTo>
                    <a:pt x="2814229" y="16023"/>
                  </a:lnTo>
                  <a:lnTo>
                    <a:pt x="2770920" y="4126"/>
                  </a:lnTo>
                  <a:lnTo>
                    <a:pt x="2724912" y="0"/>
                  </a:lnTo>
                  <a:close/>
                </a:path>
              </a:pathLst>
            </a:custGeom>
            <a:solidFill>
              <a:srgbClr val="FCEAD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2016251" y="2913126"/>
              <a:ext cx="2981325" cy="1536700"/>
            </a:xfrm>
            <a:custGeom>
              <a:rect b="b" l="l" r="r" t="t"/>
              <a:pathLst>
                <a:path extrusionOk="0" h="1536700" w="2981325">
                  <a:moveTo>
                    <a:pt x="0" y="0"/>
                  </a:moveTo>
                  <a:lnTo>
                    <a:pt x="2724912" y="0"/>
                  </a:lnTo>
                  <a:lnTo>
                    <a:pt x="2770920" y="4126"/>
                  </a:lnTo>
                  <a:lnTo>
                    <a:pt x="2814229" y="16023"/>
                  </a:lnTo>
                  <a:lnTo>
                    <a:pt x="2854113" y="34967"/>
                  </a:lnTo>
                  <a:lnTo>
                    <a:pt x="2889848" y="60232"/>
                  </a:lnTo>
                  <a:lnTo>
                    <a:pt x="2920711" y="91095"/>
                  </a:lnTo>
                  <a:lnTo>
                    <a:pt x="2945976" y="126830"/>
                  </a:lnTo>
                  <a:lnTo>
                    <a:pt x="2964920" y="166714"/>
                  </a:lnTo>
                  <a:lnTo>
                    <a:pt x="2976817" y="210023"/>
                  </a:lnTo>
                  <a:lnTo>
                    <a:pt x="2980944" y="256032"/>
                  </a:lnTo>
                  <a:lnTo>
                    <a:pt x="2980944" y="1536573"/>
                  </a:lnTo>
                  <a:lnTo>
                    <a:pt x="0" y="153657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13"/>
          <p:cNvSpPr txBox="1"/>
          <p:nvPr/>
        </p:nvSpPr>
        <p:spPr>
          <a:xfrm>
            <a:off x="2091308" y="3007880"/>
            <a:ext cx="2191385" cy="1316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925830" lvl="0" marL="12700" marR="5080" rtl="0" algn="l">
              <a:lnSpc>
                <a:spcPct val="104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Calibri"/>
                <a:ea typeface="Calibri"/>
                <a:cs typeface="Calibri"/>
                <a:sym typeface="Calibri"/>
              </a:rPr>
              <a:t>Manufatura </a:t>
            </a: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Serviços internos da empresa: Finanças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69670" rtl="0" algn="l">
              <a:lnSpc>
                <a:spcPct val="128148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Contabilidade Jurídico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74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P&amp;D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" name="Google Shape;176;p13"/>
          <p:cNvGrpSpPr/>
          <p:nvPr/>
        </p:nvGrpSpPr>
        <p:grpSpPr>
          <a:xfrm>
            <a:off x="1938527" y="4937709"/>
            <a:ext cx="3095271" cy="1604898"/>
            <a:chOff x="1938527" y="4937709"/>
            <a:chExt cx="3095271" cy="1604898"/>
          </a:xfrm>
        </p:grpSpPr>
        <p:pic>
          <p:nvPicPr>
            <p:cNvPr id="177" name="Google Shape;177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975077" y="4937709"/>
              <a:ext cx="3058721" cy="16048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938527" y="5102351"/>
              <a:ext cx="2820924" cy="13304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3"/>
            <p:cNvSpPr/>
            <p:nvPr/>
          </p:nvSpPr>
          <p:spPr>
            <a:xfrm>
              <a:off x="2016251" y="4952745"/>
              <a:ext cx="2981325" cy="1536700"/>
            </a:xfrm>
            <a:custGeom>
              <a:rect b="b" l="l" r="r" t="t"/>
              <a:pathLst>
                <a:path extrusionOk="0" h="1536700" w="2981325">
                  <a:moveTo>
                    <a:pt x="2724912" y="0"/>
                  </a:moveTo>
                  <a:lnTo>
                    <a:pt x="0" y="0"/>
                  </a:lnTo>
                  <a:lnTo>
                    <a:pt x="0" y="1536547"/>
                  </a:lnTo>
                  <a:lnTo>
                    <a:pt x="2980944" y="1536547"/>
                  </a:lnTo>
                  <a:lnTo>
                    <a:pt x="2980944" y="256031"/>
                  </a:lnTo>
                  <a:lnTo>
                    <a:pt x="2976817" y="210023"/>
                  </a:lnTo>
                  <a:lnTo>
                    <a:pt x="2964920" y="166714"/>
                  </a:lnTo>
                  <a:lnTo>
                    <a:pt x="2945976" y="126830"/>
                  </a:lnTo>
                  <a:lnTo>
                    <a:pt x="2920711" y="91095"/>
                  </a:lnTo>
                  <a:lnTo>
                    <a:pt x="2889848" y="60232"/>
                  </a:lnTo>
                  <a:lnTo>
                    <a:pt x="2854113" y="34967"/>
                  </a:lnTo>
                  <a:lnTo>
                    <a:pt x="2814229" y="16023"/>
                  </a:lnTo>
                  <a:lnTo>
                    <a:pt x="2770920" y="4126"/>
                  </a:lnTo>
                  <a:lnTo>
                    <a:pt x="2724912" y="0"/>
                  </a:lnTo>
                  <a:close/>
                </a:path>
              </a:pathLst>
            </a:custGeom>
            <a:solidFill>
              <a:srgbClr val="FCEAD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2016251" y="4952745"/>
              <a:ext cx="2981325" cy="1536700"/>
            </a:xfrm>
            <a:custGeom>
              <a:rect b="b" l="l" r="r" t="t"/>
              <a:pathLst>
                <a:path extrusionOk="0" h="1536700" w="2981325">
                  <a:moveTo>
                    <a:pt x="0" y="0"/>
                  </a:moveTo>
                  <a:lnTo>
                    <a:pt x="2724912" y="0"/>
                  </a:lnTo>
                  <a:lnTo>
                    <a:pt x="2770920" y="4126"/>
                  </a:lnTo>
                  <a:lnTo>
                    <a:pt x="2814229" y="16023"/>
                  </a:lnTo>
                  <a:lnTo>
                    <a:pt x="2854113" y="34967"/>
                  </a:lnTo>
                  <a:lnTo>
                    <a:pt x="2889848" y="60232"/>
                  </a:lnTo>
                  <a:lnTo>
                    <a:pt x="2920711" y="91095"/>
                  </a:lnTo>
                  <a:lnTo>
                    <a:pt x="2945976" y="126830"/>
                  </a:lnTo>
                  <a:lnTo>
                    <a:pt x="2964920" y="166714"/>
                  </a:lnTo>
                  <a:lnTo>
                    <a:pt x="2976817" y="210023"/>
                  </a:lnTo>
                  <a:lnTo>
                    <a:pt x="2980944" y="256031"/>
                  </a:lnTo>
                  <a:lnTo>
                    <a:pt x="2980944" y="1536547"/>
                  </a:lnTo>
                  <a:lnTo>
                    <a:pt x="0" y="153654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13"/>
          <p:cNvSpPr txBox="1"/>
          <p:nvPr/>
        </p:nvSpPr>
        <p:spPr>
          <a:xfrm>
            <a:off x="2091308" y="5161546"/>
            <a:ext cx="2522220" cy="1106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2419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Calibri"/>
                <a:ea typeface="Calibri"/>
                <a:cs typeface="Calibri"/>
                <a:sym typeface="Calibri"/>
              </a:rPr>
              <a:t>Serviços de apoio aos negócios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641475" rtl="0" algn="l">
              <a:lnSpc>
                <a:spcPct val="103899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Consultoria Auditoria Propaganda Limpeza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13"/>
          <p:cNvGrpSpPr/>
          <p:nvPr/>
        </p:nvGrpSpPr>
        <p:grpSpPr>
          <a:xfrm>
            <a:off x="5294376" y="1234439"/>
            <a:ext cx="4283982" cy="1330452"/>
            <a:chOff x="5294376" y="1234439"/>
            <a:chExt cx="4283982" cy="1330452"/>
          </a:xfrm>
        </p:grpSpPr>
        <p:pic>
          <p:nvPicPr>
            <p:cNvPr id="183" name="Google Shape;183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330932" y="1289235"/>
              <a:ext cx="4247426" cy="1175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94376" y="1234439"/>
              <a:ext cx="3232404" cy="13304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3"/>
            <p:cNvSpPr/>
            <p:nvPr/>
          </p:nvSpPr>
          <p:spPr>
            <a:xfrm>
              <a:off x="5372100" y="1303400"/>
              <a:ext cx="4170045" cy="1106805"/>
            </a:xfrm>
            <a:custGeom>
              <a:rect b="b" l="l" r="r" t="t"/>
              <a:pathLst>
                <a:path extrusionOk="0" h="1106805" w="4170045">
                  <a:moveTo>
                    <a:pt x="3985259" y="0"/>
                  </a:moveTo>
                  <a:lnTo>
                    <a:pt x="0" y="0"/>
                  </a:lnTo>
                  <a:lnTo>
                    <a:pt x="0" y="1106677"/>
                  </a:lnTo>
                  <a:lnTo>
                    <a:pt x="4169664" y="1106677"/>
                  </a:lnTo>
                  <a:lnTo>
                    <a:pt x="4169664" y="184403"/>
                  </a:lnTo>
                  <a:lnTo>
                    <a:pt x="4163077" y="135378"/>
                  </a:lnTo>
                  <a:lnTo>
                    <a:pt x="4144489" y="91327"/>
                  </a:lnTo>
                  <a:lnTo>
                    <a:pt x="4115657" y="54006"/>
                  </a:lnTo>
                  <a:lnTo>
                    <a:pt x="4078336" y="25174"/>
                  </a:lnTo>
                  <a:lnTo>
                    <a:pt x="4034285" y="6586"/>
                  </a:lnTo>
                  <a:lnTo>
                    <a:pt x="3985259" y="0"/>
                  </a:lnTo>
                  <a:close/>
                </a:path>
              </a:pathLst>
            </a:custGeom>
            <a:solidFill>
              <a:srgbClr val="FCEAD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5372100" y="1303400"/>
              <a:ext cx="4170045" cy="1106805"/>
            </a:xfrm>
            <a:custGeom>
              <a:rect b="b" l="l" r="r" t="t"/>
              <a:pathLst>
                <a:path extrusionOk="0" h="1106805" w="4170045">
                  <a:moveTo>
                    <a:pt x="0" y="0"/>
                  </a:moveTo>
                  <a:lnTo>
                    <a:pt x="3985259" y="0"/>
                  </a:lnTo>
                  <a:lnTo>
                    <a:pt x="4034285" y="6586"/>
                  </a:lnTo>
                  <a:lnTo>
                    <a:pt x="4078336" y="25174"/>
                  </a:lnTo>
                  <a:lnTo>
                    <a:pt x="4115657" y="54006"/>
                  </a:lnTo>
                  <a:lnTo>
                    <a:pt x="4144489" y="91327"/>
                  </a:lnTo>
                  <a:lnTo>
                    <a:pt x="4163077" y="135378"/>
                  </a:lnTo>
                  <a:lnTo>
                    <a:pt x="4169664" y="184403"/>
                  </a:lnTo>
                  <a:lnTo>
                    <a:pt x="4169664" y="1106677"/>
                  </a:lnTo>
                  <a:lnTo>
                    <a:pt x="0" y="110667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13"/>
          <p:cNvSpPr txBox="1"/>
          <p:nvPr/>
        </p:nvSpPr>
        <p:spPr>
          <a:xfrm>
            <a:off x="5447538" y="1286542"/>
            <a:ext cx="2933700" cy="1106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10325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Calibri"/>
                <a:ea typeface="Calibri"/>
                <a:cs typeface="Calibri"/>
                <a:sym typeface="Calibri"/>
              </a:rPr>
              <a:t>Serviços de infraestrutura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581785" rtl="0" algn="l">
              <a:lnSpc>
                <a:spcPct val="103899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Comunicações Transporte Utilidade Pública Serviços bancários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oogle Shape;188;p13"/>
          <p:cNvGrpSpPr/>
          <p:nvPr/>
        </p:nvGrpSpPr>
        <p:grpSpPr>
          <a:xfrm>
            <a:off x="5285232" y="5175503"/>
            <a:ext cx="4283982" cy="1330452"/>
            <a:chOff x="5285232" y="5175503"/>
            <a:chExt cx="4283982" cy="1330452"/>
          </a:xfrm>
        </p:grpSpPr>
        <p:pic>
          <p:nvPicPr>
            <p:cNvPr id="189" name="Google Shape;189;p1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321788" y="5230299"/>
              <a:ext cx="4247426" cy="1175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1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285232" y="5175503"/>
              <a:ext cx="3214116" cy="13304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3"/>
            <p:cNvSpPr/>
            <p:nvPr/>
          </p:nvSpPr>
          <p:spPr>
            <a:xfrm>
              <a:off x="5362956" y="5245353"/>
              <a:ext cx="4170045" cy="1106805"/>
            </a:xfrm>
            <a:custGeom>
              <a:rect b="b" l="l" r="r" t="t"/>
              <a:pathLst>
                <a:path extrusionOk="0" h="1106804" w="4170045">
                  <a:moveTo>
                    <a:pt x="3985260" y="0"/>
                  </a:moveTo>
                  <a:lnTo>
                    <a:pt x="0" y="0"/>
                  </a:lnTo>
                  <a:lnTo>
                    <a:pt x="0" y="1106741"/>
                  </a:lnTo>
                  <a:lnTo>
                    <a:pt x="4169664" y="1106741"/>
                  </a:lnTo>
                  <a:lnTo>
                    <a:pt x="4169664" y="184531"/>
                  </a:lnTo>
                  <a:lnTo>
                    <a:pt x="4163077" y="135496"/>
                  </a:lnTo>
                  <a:lnTo>
                    <a:pt x="4144489" y="91421"/>
                  </a:lnTo>
                  <a:lnTo>
                    <a:pt x="4115657" y="54070"/>
                  </a:lnTo>
                  <a:lnTo>
                    <a:pt x="4078336" y="25207"/>
                  </a:lnTo>
                  <a:lnTo>
                    <a:pt x="4034285" y="6595"/>
                  </a:lnTo>
                  <a:lnTo>
                    <a:pt x="3985260" y="0"/>
                  </a:lnTo>
                  <a:close/>
                </a:path>
              </a:pathLst>
            </a:custGeom>
            <a:solidFill>
              <a:srgbClr val="FCEAD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5362956" y="5245353"/>
              <a:ext cx="4170045" cy="1106805"/>
            </a:xfrm>
            <a:custGeom>
              <a:rect b="b" l="l" r="r" t="t"/>
              <a:pathLst>
                <a:path extrusionOk="0" h="1106804" w="4170045">
                  <a:moveTo>
                    <a:pt x="0" y="0"/>
                  </a:moveTo>
                  <a:lnTo>
                    <a:pt x="3985260" y="0"/>
                  </a:lnTo>
                  <a:lnTo>
                    <a:pt x="4034285" y="6595"/>
                  </a:lnTo>
                  <a:lnTo>
                    <a:pt x="4078336" y="25207"/>
                  </a:lnTo>
                  <a:lnTo>
                    <a:pt x="4115657" y="54070"/>
                  </a:lnTo>
                  <a:lnTo>
                    <a:pt x="4144489" y="91421"/>
                  </a:lnTo>
                  <a:lnTo>
                    <a:pt x="4163077" y="135496"/>
                  </a:lnTo>
                  <a:lnTo>
                    <a:pt x="4169664" y="184531"/>
                  </a:lnTo>
                  <a:lnTo>
                    <a:pt x="4169664" y="1106741"/>
                  </a:lnTo>
                  <a:lnTo>
                    <a:pt x="0" y="110674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13"/>
          <p:cNvSpPr txBox="1"/>
          <p:nvPr/>
        </p:nvSpPr>
        <p:spPr>
          <a:xfrm>
            <a:off x="6474205" y="5246052"/>
            <a:ext cx="1884680" cy="234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Calibri"/>
                <a:ea typeface="Calibri"/>
                <a:cs typeface="Calibri"/>
                <a:sym typeface="Calibri"/>
              </a:rPr>
              <a:t>Serviços Governamentais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5437759" y="5465813"/>
            <a:ext cx="2135505" cy="875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12700" marR="1184275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Militares Educacionais Judiciários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Polícia e Corpo de Bombeiros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" name="Google Shape;195;p13"/>
          <p:cNvGrpSpPr/>
          <p:nvPr/>
        </p:nvGrpSpPr>
        <p:grpSpPr>
          <a:xfrm>
            <a:off x="5266944" y="3328347"/>
            <a:ext cx="1970573" cy="1175174"/>
            <a:chOff x="5266944" y="3328347"/>
            <a:chExt cx="1970573" cy="1175174"/>
          </a:xfrm>
        </p:grpSpPr>
        <p:pic>
          <p:nvPicPr>
            <p:cNvPr id="196" name="Google Shape;196;p1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303477" y="3328347"/>
              <a:ext cx="1934040" cy="1175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1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266944" y="3383279"/>
              <a:ext cx="1851659" cy="11109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13"/>
            <p:cNvSpPr/>
            <p:nvPr/>
          </p:nvSpPr>
          <p:spPr>
            <a:xfrm>
              <a:off x="5344668" y="3343020"/>
              <a:ext cx="1856739" cy="1106805"/>
            </a:xfrm>
            <a:custGeom>
              <a:rect b="b" l="l" r="r" t="t"/>
              <a:pathLst>
                <a:path extrusionOk="0" h="1106804" w="1856740">
                  <a:moveTo>
                    <a:pt x="1671828" y="0"/>
                  </a:moveTo>
                  <a:lnTo>
                    <a:pt x="0" y="0"/>
                  </a:lnTo>
                  <a:lnTo>
                    <a:pt x="0" y="1106677"/>
                  </a:lnTo>
                  <a:lnTo>
                    <a:pt x="1856232" y="1106677"/>
                  </a:lnTo>
                  <a:lnTo>
                    <a:pt x="1856232" y="184403"/>
                  </a:lnTo>
                  <a:lnTo>
                    <a:pt x="1849645" y="135378"/>
                  </a:lnTo>
                  <a:lnTo>
                    <a:pt x="1831057" y="91327"/>
                  </a:lnTo>
                  <a:lnTo>
                    <a:pt x="1802225" y="54006"/>
                  </a:lnTo>
                  <a:lnTo>
                    <a:pt x="1764904" y="25174"/>
                  </a:lnTo>
                  <a:lnTo>
                    <a:pt x="1720853" y="6586"/>
                  </a:lnTo>
                  <a:lnTo>
                    <a:pt x="1671828" y="0"/>
                  </a:lnTo>
                  <a:close/>
                </a:path>
              </a:pathLst>
            </a:custGeom>
            <a:solidFill>
              <a:srgbClr val="FCEAD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5344668" y="3343020"/>
              <a:ext cx="1856739" cy="1106805"/>
            </a:xfrm>
            <a:custGeom>
              <a:rect b="b" l="l" r="r" t="t"/>
              <a:pathLst>
                <a:path extrusionOk="0" h="1106804" w="1856740">
                  <a:moveTo>
                    <a:pt x="0" y="0"/>
                  </a:moveTo>
                  <a:lnTo>
                    <a:pt x="1671828" y="0"/>
                  </a:lnTo>
                  <a:lnTo>
                    <a:pt x="1720853" y="6586"/>
                  </a:lnTo>
                  <a:lnTo>
                    <a:pt x="1764904" y="25174"/>
                  </a:lnTo>
                  <a:lnTo>
                    <a:pt x="1802225" y="54006"/>
                  </a:lnTo>
                  <a:lnTo>
                    <a:pt x="1831057" y="91327"/>
                  </a:lnTo>
                  <a:lnTo>
                    <a:pt x="1849645" y="135378"/>
                  </a:lnTo>
                  <a:lnTo>
                    <a:pt x="1856232" y="184403"/>
                  </a:lnTo>
                  <a:lnTo>
                    <a:pt x="1856232" y="1106677"/>
                  </a:lnTo>
                  <a:lnTo>
                    <a:pt x="0" y="110667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13"/>
          <p:cNvSpPr txBox="1"/>
          <p:nvPr/>
        </p:nvSpPr>
        <p:spPr>
          <a:xfrm>
            <a:off x="5420359" y="3435277"/>
            <a:ext cx="1565910" cy="887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0" lvl="0" marL="965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Calibri"/>
                <a:ea typeface="Calibri"/>
                <a:cs typeface="Calibri"/>
                <a:sym typeface="Calibri"/>
              </a:rPr>
              <a:t>Serviços Comerciais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618490" rtl="0" algn="l">
              <a:lnSpc>
                <a:spcPct val="1024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Atacado Varejo Manutenção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13"/>
          <p:cNvGrpSpPr/>
          <p:nvPr/>
        </p:nvGrpSpPr>
        <p:grpSpPr>
          <a:xfrm>
            <a:off x="7607807" y="2843783"/>
            <a:ext cx="1970574" cy="1110995"/>
            <a:chOff x="7607807" y="2843783"/>
            <a:chExt cx="1970574" cy="1110995"/>
          </a:xfrm>
        </p:grpSpPr>
        <p:pic>
          <p:nvPicPr>
            <p:cNvPr id="202" name="Google Shape;202;p1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635197" y="2880279"/>
              <a:ext cx="1943184" cy="9831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1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607807" y="2843783"/>
              <a:ext cx="1760220" cy="11109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13"/>
            <p:cNvSpPr/>
            <p:nvPr/>
          </p:nvSpPr>
          <p:spPr>
            <a:xfrm>
              <a:off x="7676387" y="2894837"/>
              <a:ext cx="1865630" cy="915035"/>
            </a:xfrm>
            <a:custGeom>
              <a:rect b="b" l="l" r="r" t="t"/>
              <a:pathLst>
                <a:path extrusionOk="0" h="915035" w="1865629">
                  <a:moveTo>
                    <a:pt x="1712976" y="0"/>
                  </a:moveTo>
                  <a:lnTo>
                    <a:pt x="0" y="0"/>
                  </a:lnTo>
                  <a:lnTo>
                    <a:pt x="0" y="914526"/>
                  </a:lnTo>
                  <a:lnTo>
                    <a:pt x="1865376" y="914526"/>
                  </a:lnTo>
                  <a:lnTo>
                    <a:pt x="1865376" y="152400"/>
                  </a:lnTo>
                  <a:lnTo>
                    <a:pt x="1857609" y="104217"/>
                  </a:lnTo>
                  <a:lnTo>
                    <a:pt x="1835981" y="62380"/>
                  </a:lnTo>
                  <a:lnTo>
                    <a:pt x="1802995" y="29394"/>
                  </a:lnTo>
                  <a:lnTo>
                    <a:pt x="1761158" y="7766"/>
                  </a:lnTo>
                  <a:lnTo>
                    <a:pt x="1712976" y="0"/>
                  </a:lnTo>
                  <a:close/>
                </a:path>
              </a:pathLst>
            </a:custGeom>
            <a:solidFill>
              <a:srgbClr val="FCEAD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7676387" y="2894837"/>
              <a:ext cx="1865630" cy="915035"/>
            </a:xfrm>
            <a:custGeom>
              <a:rect b="b" l="l" r="r" t="t"/>
              <a:pathLst>
                <a:path extrusionOk="0" h="915035" w="1865629">
                  <a:moveTo>
                    <a:pt x="0" y="0"/>
                  </a:moveTo>
                  <a:lnTo>
                    <a:pt x="1712976" y="0"/>
                  </a:lnTo>
                  <a:lnTo>
                    <a:pt x="1761158" y="7766"/>
                  </a:lnTo>
                  <a:lnTo>
                    <a:pt x="1802995" y="29394"/>
                  </a:lnTo>
                  <a:lnTo>
                    <a:pt x="1835981" y="62380"/>
                  </a:lnTo>
                  <a:lnTo>
                    <a:pt x="1857609" y="104217"/>
                  </a:lnTo>
                  <a:lnTo>
                    <a:pt x="1865376" y="152400"/>
                  </a:lnTo>
                  <a:lnTo>
                    <a:pt x="1865376" y="914526"/>
                  </a:lnTo>
                  <a:lnTo>
                    <a:pt x="0" y="914526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" name="Google Shape;206;p13"/>
          <p:cNvSpPr txBox="1"/>
          <p:nvPr/>
        </p:nvSpPr>
        <p:spPr>
          <a:xfrm>
            <a:off x="7759445" y="2896882"/>
            <a:ext cx="1471295" cy="886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193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Calibri"/>
                <a:ea typeface="Calibri"/>
                <a:cs typeface="Calibri"/>
                <a:sym typeface="Calibri"/>
              </a:rPr>
              <a:t>Serviços Pessoais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14350" rtl="0" algn="l">
              <a:lnSpc>
                <a:spcPct val="1024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Saúde Restaurantes Hotéis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7" name="Google Shape;207;p13"/>
          <p:cNvGrpSpPr/>
          <p:nvPr/>
        </p:nvGrpSpPr>
        <p:grpSpPr>
          <a:xfrm>
            <a:off x="7598664" y="4169664"/>
            <a:ext cx="1970573" cy="690372"/>
            <a:chOff x="7598664" y="4169664"/>
            <a:chExt cx="1970573" cy="690372"/>
          </a:xfrm>
        </p:grpSpPr>
        <p:pic>
          <p:nvPicPr>
            <p:cNvPr id="208" name="Google Shape;208;p1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626053" y="4187823"/>
              <a:ext cx="1943184" cy="599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1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598664" y="4169664"/>
              <a:ext cx="1586483" cy="6903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13"/>
            <p:cNvSpPr/>
            <p:nvPr/>
          </p:nvSpPr>
          <p:spPr>
            <a:xfrm>
              <a:off x="7667244" y="4202684"/>
              <a:ext cx="1865630" cy="530860"/>
            </a:xfrm>
            <a:custGeom>
              <a:rect b="b" l="l" r="r" t="t"/>
              <a:pathLst>
                <a:path extrusionOk="0" h="530860" w="1865629">
                  <a:moveTo>
                    <a:pt x="1776983" y="0"/>
                  </a:moveTo>
                  <a:lnTo>
                    <a:pt x="0" y="0"/>
                  </a:lnTo>
                  <a:lnTo>
                    <a:pt x="0" y="530479"/>
                  </a:lnTo>
                  <a:lnTo>
                    <a:pt x="1865376" y="530479"/>
                  </a:lnTo>
                  <a:lnTo>
                    <a:pt x="1865376" y="88392"/>
                  </a:lnTo>
                  <a:lnTo>
                    <a:pt x="1858422" y="54006"/>
                  </a:lnTo>
                  <a:lnTo>
                    <a:pt x="1839467" y="25908"/>
                  </a:lnTo>
                  <a:lnTo>
                    <a:pt x="1811369" y="6953"/>
                  </a:lnTo>
                  <a:lnTo>
                    <a:pt x="1776983" y="0"/>
                  </a:lnTo>
                  <a:close/>
                </a:path>
              </a:pathLst>
            </a:custGeom>
            <a:solidFill>
              <a:srgbClr val="FCEAD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7667244" y="4202684"/>
              <a:ext cx="1865630" cy="530860"/>
            </a:xfrm>
            <a:custGeom>
              <a:rect b="b" l="l" r="r" t="t"/>
              <a:pathLst>
                <a:path extrusionOk="0" h="530860" w="1865629">
                  <a:moveTo>
                    <a:pt x="0" y="0"/>
                  </a:moveTo>
                  <a:lnTo>
                    <a:pt x="1776983" y="0"/>
                  </a:lnTo>
                  <a:lnTo>
                    <a:pt x="1811369" y="6953"/>
                  </a:lnTo>
                  <a:lnTo>
                    <a:pt x="1839467" y="25908"/>
                  </a:lnTo>
                  <a:lnTo>
                    <a:pt x="1858422" y="54006"/>
                  </a:lnTo>
                  <a:lnTo>
                    <a:pt x="1865376" y="88392"/>
                  </a:lnTo>
                  <a:lnTo>
                    <a:pt x="1865376" y="530479"/>
                  </a:lnTo>
                  <a:lnTo>
                    <a:pt x="0" y="53047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3"/>
          <p:cNvSpPr txBox="1"/>
          <p:nvPr/>
        </p:nvSpPr>
        <p:spPr>
          <a:xfrm>
            <a:off x="7749667" y="4224032"/>
            <a:ext cx="129730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3911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Calibri"/>
                <a:ea typeface="Calibri"/>
                <a:cs typeface="Calibri"/>
                <a:sym typeface="Calibri"/>
              </a:rPr>
              <a:t>Consumidor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1350">
                <a:latin typeface="Calibri"/>
                <a:ea typeface="Calibri"/>
                <a:cs typeface="Calibri"/>
                <a:sym typeface="Calibri"/>
              </a:rPr>
              <a:t>Autoserviço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p13"/>
          <p:cNvGrpSpPr/>
          <p:nvPr/>
        </p:nvGrpSpPr>
        <p:grpSpPr>
          <a:xfrm>
            <a:off x="3337559" y="1700783"/>
            <a:ext cx="6560820" cy="4357116"/>
            <a:chOff x="3337559" y="1700783"/>
            <a:chExt cx="6560820" cy="4357116"/>
          </a:xfrm>
        </p:grpSpPr>
        <p:pic>
          <p:nvPicPr>
            <p:cNvPr id="214" name="Google Shape;214;p1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9792366" y="1837923"/>
              <a:ext cx="97440" cy="40919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13"/>
            <p:cNvSpPr/>
            <p:nvPr/>
          </p:nvSpPr>
          <p:spPr>
            <a:xfrm>
              <a:off x="9834371" y="1852167"/>
              <a:ext cx="13970" cy="4026535"/>
            </a:xfrm>
            <a:custGeom>
              <a:rect b="b" l="l" r="r" t="t"/>
              <a:pathLst>
                <a:path extrusionOk="0" h="4026535" w="13970">
                  <a:moveTo>
                    <a:pt x="13461" y="0"/>
                  </a:moveTo>
                  <a:lnTo>
                    <a:pt x="0" y="4025925"/>
                  </a:lnTo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6" name="Google Shape;216;p1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9473183" y="5824727"/>
              <a:ext cx="416051" cy="1325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13"/>
            <p:cNvSpPr/>
            <p:nvPr/>
          </p:nvSpPr>
          <p:spPr>
            <a:xfrm>
              <a:off x="9541763" y="5876493"/>
              <a:ext cx="297180" cy="0"/>
            </a:xfrm>
            <a:custGeom>
              <a:rect b="b" l="l" r="r" t="t"/>
              <a:pathLst>
                <a:path extrusionOk="0" h="120000" w="297179">
                  <a:moveTo>
                    <a:pt x="297179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8" name="Google Shape;218;p1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9372600" y="1700783"/>
              <a:ext cx="525779" cy="3337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13"/>
            <p:cNvSpPr/>
            <p:nvPr/>
          </p:nvSpPr>
          <p:spPr>
            <a:xfrm>
              <a:off x="9541763" y="1793112"/>
              <a:ext cx="311150" cy="118110"/>
            </a:xfrm>
            <a:custGeom>
              <a:rect b="b" l="l" r="r" t="t"/>
              <a:pathLst>
                <a:path extrusionOk="0" h="118110" w="311150">
                  <a:moveTo>
                    <a:pt x="100964" y="0"/>
                  </a:moveTo>
                  <a:lnTo>
                    <a:pt x="0" y="59054"/>
                  </a:lnTo>
                  <a:lnTo>
                    <a:pt x="100964" y="117983"/>
                  </a:lnTo>
                  <a:lnTo>
                    <a:pt x="108711" y="115950"/>
                  </a:lnTo>
                  <a:lnTo>
                    <a:pt x="115824" y="103759"/>
                  </a:lnTo>
                  <a:lnTo>
                    <a:pt x="113791" y="96012"/>
                  </a:lnTo>
                  <a:lnTo>
                    <a:pt x="72208" y="71754"/>
                  </a:lnTo>
                  <a:lnTo>
                    <a:pt x="25145" y="71754"/>
                  </a:lnTo>
                  <a:lnTo>
                    <a:pt x="25145" y="46354"/>
                  </a:lnTo>
                  <a:lnTo>
                    <a:pt x="71990" y="46354"/>
                  </a:lnTo>
                  <a:lnTo>
                    <a:pt x="113791" y="21971"/>
                  </a:lnTo>
                  <a:lnTo>
                    <a:pt x="115824" y="14224"/>
                  </a:lnTo>
                  <a:lnTo>
                    <a:pt x="112267" y="8127"/>
                  </a:lnTo>
                  <a:lnTo>
                    <a:pt x="108711" y="2159"/>
                  </a:lnTo>
                  <a:lnTo>
                    <a:pt x="100964" y="0"/>
                  </a:lnTo>
                  <a:close/>
                </a:path>
                <a:path extrusionOk="0" h="118110" w="311150">
                  <a:moveTo>
                    <a:pt x="71990" y="46354"/>
                  </a:moveTo>
                  <a:lnTo>
                    <a:pt x="25145" y="46354"/>
                  </a:lnTo>
                  <a:lnTo>
                    <a:pt x="25145" y="71754"/>
                  </a:lnTo>
                  <a:lnTo>
                    <a:pt x="72208" y="71754"/>
                  </a:lnTo>
                  <a:lnTo>
                    <a:pt x="69160" y="69976"/>
                  </a:lnTo>
                  <a:lnTo>
                    <a:pt x="31495" y="69976"/>
                  </a:lnTo>
                  <a:lnTo>
                    <a:pt x="31495" y="48006"/>
                  </a:lnTo>
                  <a:lnTo>
                    <a:pt x="69160" y="48006"/>
                  </a:lnTo>
                  <a:lnTo>
                    <a:pt x="71990" y="46354"/>
                  </a:lnTo>
                  <a:close/>
                </a:path>
                <a:path extrusionOk="0" h="118110" w="311150">
                  <a:moveTo>
                    <a:pt x="310641" y="59054"/>
                  </a:moveTo>
                  <a:lnTo>
                    <a:pt x="50437" y="59054"/>
                  </a:lnTo>
                  <a:lnTo>
                    <a:pt x="72208" y="71754"/>
                  </a:lnTo>
                  <a:lnTo>
                    <a:pt x="310641" y="71754"/>
                  </a:lnTo>
                  <a:lnTo>
                    <a:pt x="310641" y="59054"/>
                  </a:lnTo>
                  <a:close/>
                </a:path>
                <a:path extrusionOk="0" h="118110" w="311150">
                  <a:moveTo>
                    <a:pt x="31495" y="48006"/>
                  </a:moveTo>
                  <a:lnTo>
                    <a:pt x="31495" y="69976"/>
                  </a:lnTo>
                  <a:lnTo>
                    <a:pt x="50219" y="59054"/>
                  </a:lnTo>
                  <a:lnTo>
                    <a:pt x="50437" y="59054"/>
                  </a:lnTo>
                  <a:lnTo>
                    <a:pt x="31495" y="48006"/>
                  </a:lnTo>
                  <a:close/>
                </a:path>
                <a:path extrusionOk="0" h="118110" w="311150">
                  <a:moveTo>
                    <a:pt x="310641" y="46354"/>
                  </a:moveTo>
                  <a:lnTo>
                    <a:pt x="71990" y="46354"/>
                  </a:lnTo>
                  <a:lnTo>
                    <a:pt x="31495" y="69976"/>
                  </a:lnTo>
                  <a:lnTo>
                    <a:pt x="69160" y="69976"/>
                  </a:lnTo>
                  <a:lnTo>
                    <a:pt x="50437" y="59054"/>
                  </a:lnTo>
                  <a:lnTo>
                    <a:pt x="310641" y="59054"/>
                  </a:lnTo>
                  <a:lnTo>
                    <a:pt x="310641" y="46354"/>
                  </a:lnTo>
                  <a:close/>
                </a:path>
                <a:path extrusionOk="0" h="118110" w="311150">
                  <a:moveTo>
                    <a:pt x="69160" y="48006"/>
                  </a:moveTo>
                  <a:lnTo>
                    <a:pt x="31495" y="48006"/>
                  </a:lnTo>
                  <a:lnTo>
                    <a:pt x="50437" y="59054"/>
                  </a:lnTo>
                  <a:lnTo>
                    <a:pt x="50219" y="59054"/>
                  </a:lnTo>
                  <a:lnTo>
                    <a:pt x="69160" y="480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0" name="Google Shape;220;p13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828031" y="1700783"/>
              <a:ext cx="699515" cy="3337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13"/>
            <p:cNvSpPr/>
            <p:nvPr/>
          </p:nvSpPr>
          <p:spPr>
            <a:xfrm>
              <a:off x="4997195" y="1793112"/>
              <a:ext cx="368935" cy="118110"/>
            </a:xfrm>
            <a:custGeom>
              <a:rect b="b" l="l" r="r" t="t"/>
              <a:pathLst>
                <a:path extrusionOk="0" h="118110" w="368935">
                  <a:moveTo>
                    <a:pt x="100964" y="0"/>
                  </a:moveTo>
                  <a:lnTo>
                    <a:pt x="0" y="59054"/>
                  </a:lnTo>
                  <a:lnTo>
                    <a:pt x="100964" y="117983"/>
                  </a:lnTo>
                  <a:lnTo>
                    <a:pt x="108712" y="115950"/>
                  </a:lnTo>
                  <a:lnTo>
                    <a:pt x="115824" y="103759"/>
                  </a:lnTo>
                  <a:lnTo>
                    <a:pt x="113791" y="96012"/>
                  </a:lnTo>
                  <a:lnTo>
                    <a:pt x="72208" y="71754"/>
                  </a:lnTo>
                  <a:lnTo>
                    <a:pt x="25145" y="71754"/>
                  </a:lnTo>
                  <a:lnTo>
                    <a:pt x="25145" y="46354"/>
                  </a:lnTo>
                  <a:lnTo>
                    <a:pt x="71990" y="46354"/>
                  </a:lnTo>
                  <a:lnTo>
                    <a:pt x="113791" y="21971"/>
                  </a:lnTo>
                  <a:lnTo>
                    <a:pt x="115824" y="14224"/>
                  </a:lnTo>
                  <a:lnTo>
                    <a:pt x="112267" y="8127"/>
                  </a:lnTo>
                  <a:lnTo>
                    <a:pt x="108712" y="2159"/>
                  </a:lnTo>
                  <a:lnTo>
                    <a:pt x="100964" y="0"/>
                  </a:lnTo>
                  <a:close/>
                </a:path>
                <a:path extrusionOk="0" h="118110" w="368935">
                  <a:moveTo>
                    <a:pt x="336930" y="48006"/>
                  </a:moveTo>
                  <a:lnTo>
                    <a:pt x="260730" y="92456"/>
                  </a:lnTo>
                  <a:lnTo>
                    <a:pt x="254762" y="96012"/>
                  </a:lnTo>
                  <a:lnTo>
                    <a:pt x="252729" y="103759"/>
                  </a:lnTo>
                  <a:lnTo>
                    <a:pt x="256158" y="109854"/>
                  </a:lnTo>
                  <a:lnTo>
                    <a:pt x="259714" y="115950"/>
                  </a:lnTo>
                  <a:lnTo>
                    <a:pt x="267462" y="117983"/>
                  </a:lnTo>
                  <a:lnTo>
                    <a:pt x="346765" y="71754"/>
                  </a:lnTo>
                  <a:lnTo>
                    <a:pt x="343407" y="71754"/>
                  </a:lnTo>
                  <a:lnTo>
                    <a:pt x="343407" y="69976"/>
                  </a:lnTo>
                  <a:lnTo>
                    <a:pt x="336930" y="69976"/>
                  </a:lnTo>
                  <a:lnTo>
                    <a:pt x="318207" y="59054"/>
                  </a:lnTo>
                  <a:lnTo>
                    <a:pt x="336930" y="59054"/>
                  </a:lnTo>
                  <a:lnTo>
                    <a:pt x="336930" y="48006"/>
                  </a:lnTo>
                  <a:close/>
                </a:path>
                <a:path extrusionOk="0" h="118110" w="368935">
                  <a:moveTo>
                    <a:pt x="71990" y="46354"/>
                  </a:moveTo>
                  <a:lnTo>
                    <a:pt x="25145" y="46354"/>
                  </a:lnTo>
                  <a:lnTo>
                    <a:pt x="25145" y="71754"/>
                  </a:lnTo>
                  <a:lnTo>
                    <a:pt x="72208" y="71754"/>
                  </a:lnTo>
                  <a:lnTo>
                    <a:pt x="69160" y="69976"/>
                  </a:lnTo>
                  <a:lnTo>
                    <a:pt x="31495" y="69976"/>
                  </a:lnTo>
                  <a:lnTo>
                    <a:pt x="31495" y="48006"/>
                  </a:lnTo>
                  <a:lnTo>
                    <a:pt x="69160" y="48006"/>
                  </a:lnTo>
                  <a:lnTo>
                    <a:pt x="71990" y="46354"/>
                  </a:lnTo>
                  <a:close/>
                </a:path>
                <a:path extrusionOk="0" h="118110" w="368935">
                  <a:moveTo>
                    <a:pt x="267462" y="0"/>
                  </a:moveTo>
                  <a:lnTo>
                    <a:pt x="259714" y="2159"/>
                  </a:lnTo>
                  <a:lnTo>
                    <a:pt x="256158" y="8127"/>
                  </a:lnTo>
                  <a:lnTo>
                    <a:pt x="252729" y="14224"/>
                  </a:lnTo>
                  <a:lnTo>
                    <a:pt x="254762" y="21971"/>
                  </a:lnTo>
                  <a:lnTo>
                    <a:pt x="260730" y="25526"/>
                  </a:lnTo>
                  <a:lnTo>
                    <a:pt x="318207" y="59054"/>
                  </a:lnTo>
                  <a:lnTo>
                    <a:pt x="50437" y="59054"/>
                  </a:lnTo>
                  <a:lnTo>
                    <a:pt x="72208" y="71754"/>
                  </a:lnTo>
                  <a:lnTo>
                    <a:pt x="296218" y="71754"/>
                  </a:lnTo>
                  <a:lnTo>
                    <a:pt x="336930" y="48006"/>
                  </a:lnTo>
                  <a:lnTo>
                    <a:pt x="343407" y="48006"/>
                  </a:lnTo>
                  <a:lnTo>
                    <a:pt x="343407" y="46354"/>
                  </a:lnTo>
                  <a:lnTo>
                    <a:pt x="346813" y="46354"/>
                  </a:lnTo>
                  <a:lnTo>
                    <a:pt x="267462" y="0"/>
                  </a:lnTo>
                  <a:close/>
                </a:path>
                <a:path extrusionOk="0" h="118110" w="368935">
                  <a:moveTo>
                    <a:pt x="346813" y="46354"/>
                  </a:moveTo>
                  <a:lnTo>
                    <a:pt x="343407" y="46354"/>
                  </a:lnTo>
                  <a:lnTo>
                    <a:pt x="343407" y="71754"/>
                  </a:lnTo>
                  <a:lnTo>
                    <a:pt x="346765" y="71754"/>
                  </a:lnTo>
                  <a:lnTo>
                    <a:pt x="368553" y="59054"/>
                  </a:lnTo>
                  <a:lnTo>
                    <a:pt x="346813" y="46354"/>
                  </a:lnTo>
                  <a:close/>
                </a:path>
                <a:path extrusionOk="0" h="118110" w="368935">
                  <a:moveTo>
                    <a:pt x="31495" y="48006"/>
                  </a:moveTo>
                  <a:lnTo>
                    <a:pt x="31495" y="69976"/>
                  </a:lnTo>
                  <a:lnTo>
                    <a:pt x="50219" y="59054"/>
                  </a:lnTo>
                  <a:lnTo>
                    <a:pt x="50437" y="59054"/>
                  </a:lnTo>
                  <a:lnTo>
                    <a:pt x="31495" y="48006"/>
                  </a:lnTo>
                  <a:close/>
                </a:path>
                <a:path extrusionOk="0" h="118110" w="368935">
                  <a:moveTo>
                    <a:pt x="296436" y="46354"/>
                  </a:moveTo>
                  <a:lnTo>
                    <a:pt x="71990" y="46354"/>
                  </a:lnTo>
                  <a:lnTo>
                    <a:pt x="31495" y="69976"/>
                  </a:lnTo>
                  <a:lnTo>
                    <a:pt x="69160" y="69976"/>
                  </a:lnTo>
                  <a:lnTo>
                    <a:pt x="50437" y="59054"/>
                  </a:lnTo>
                  <a:lnTo>
                    <a:pt x="318207" y="59054"/>
                  </a:lnTo>
                  <a:lnTo>
                    <a:pt x="296436" y="46354"/>
                  </a:lnTo>
                  <a:close/>
                </a:path>
                <a:path extrusionOk="0" h="118110" w="368935">
                  <a:moveTo>
                    <a:pt x="336930" y="59054"/>
                  </a:moveTo>
                  <a:lnTo>
                    <a:pt x="318207" y="59054"/>
                  </a:lnTo>
                  <a:lnTo>
                    <a:pt x="336930" y="69976"/>
                  </a:lnTo>
                  <a:lnTo>
                    <a:pt x="336930" y="59054"/>
                  </a:lnTo>
                  <a:close/>
                </a:path>
                <a:path extrusionOk="0" h="118110" w="368935">
                  <a:moveTo>
                    <a:pt x="343407" y="48006"/>
                  </a:moveTo>
                  <a:lnTo>
                    <a:pt x="336930" y="48006"/>
                  </a:lnTo>
                  <a:lnTo>
                    <a:pt x="336930" y="69976"/>
                  </a:lnTo>
                  <a:lnTo>
                    <a:pt x="343407" y="69976"/>
                  </a:lnTo>
                  <a:lnTo>
                    <a:pt x="343407" y="48006"/>
                  </a:lnTo>
                  <a:close/>
                </a:path>
                <a:path extrusionOk="0" h="118110" w="368935">
                  <a:moveTo>
                    <a:pt x="69160" y="48006"/>
                  </a:moveTo>
                  <a:lnTo>
                    <a:pt x="31495" y="48006"/>
                  </a:lnTo>
                  <a:lnTo>
                    <a:pt x="50437" y="59054"/>
                  </a:lnTo>
                  <a:lnTo>
                    <a:pt x="50219" y="59054"/>
                  </a:lnTo>
                  <a:lnTo>
                    <a:pt x="69160" y="480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2" name="Google Shape;222;p13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828031" y="3749039"/>
              <a:ext cx="699515" cy="3337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13"/>
            <p:cNvSpPr/>
            <p:nvPr/>
          </p:nvSpPr>
          <p:spPr>
            <a:xfrm>
              <a:off x="4997195" y="3841876"/>
              <a:ext cx="368935" cy="118110"/>
            </a:xfrm>
            <a:custGeom>
              <a:rect b="b" l="l" r="r" t="t"/>
              <a:pathLst>
                <a:path extrusionOk="0" h="118110" w="368935">
                  <a:moveTo>
                    <a:pt x="100964" y="0"/>
                  </a:moveTo>
                  <a:lnTo>
                    <a:pt x="0" y="59055"/>
                  </a:lnTo>
                  <a:lnTo>
                    <a:pt x="100964" y="117983"/>
                  </a:lnTo>
                  <a:lnTo>
                    <a:pt x="108712" y="115950"/>
                  </a:lnTo>
                  <a:lnTo>
                    <a:pt x="115824" y="103759"/>
                  </a:lnTo>
                  <a:lnTo>
                    <a:pt x="113791" y="96012"/>
                  </a:lnTo>
                  <a:lnTo>
                    <a:pt x="72208" y="71755"/>
                  </a:lnTo>
                  <a:lnTo>
                    <a:pt x="25145" y="71755"/>
                  </a:lnTo>
                  <a:lnTo>
                    <a:pt x="25145" y="46355"/>
                  </a:lnTo>
                  <a:lnTo>
                    <a:pt x="71990" y="46355"/>
                  </a:lnTo>
                  <a:lnTo>
                    <a:pt x="113791" y="21971"/>
                  </a:lnTo>
                  <a:lnTo>
                    <a:pt x="115824" y="14224"/>
                  </a:lnTo>
                  <a:lnTo>
                    <a:pt x="112267" y="8128"/>
                  </a:lnTo>
                  <a:lnTo>
                    <a:pt x="108712" y="2159"/>
                  </a:lnTo>
                  <a:lnTo>
                    <a:pt x="100964" y="0"/>
                  </a:lnTo>
                  <a:close/>
                </a:path>
                <a:path extrusionOk="0" h="118110" w="368935">
                  <a:moveTo>
                    <a:pt x="336930" y="48006"/>
                  </a:moveTo>
                  <a:lnTo>
                    <a:pt x="260730" y="92456"/>
                  </a:lnTo>
                  <a:lnTo>
                    <a:pt x="254762" y="96012"/>
                  </a:lnTo>
                  <a:lnTo>
                    <a:pt x="252729" y="103759"/>
                  </a:lnTo>
                  <a:lnTo>
                    <a:pt x="256158" y="109855"/>
                  </a:lnTo>
                  <a:lnTo>
                    <a:pt x="259714" y="115950"/>
                  </a:lnTo>
                  <a:lnTo>
                    <a:pt x="267462" y="117983"/>
                  </a:lnTo>
                  <a:lnTo>
                    <a:pt x="346765" y="71755"/>
                  </a:lnTo>
                  <a:lnTo>
                    <a:pt x="343407" y="71755"/>
                  </a:lnTo>
                  <a:lnTo>
                    <a:pt x="343407" y="69977"/>
                  </a:lnTo>
                  <a:lnTo>
                    <a:pt x="336930" y="69977"/>
                  </a:lnTo>
                  <a:lnTo>
                    <a:pt x="318207" y="59055"/>
                  </a:lnTo>
                  <a:lnTo>
                    <a:pt x="336930" y="59055"/>
                  </a:lnTo>
                  <a:lnTo>
                    <a:pt x="336930" y="48006"/>
                  </a:lnTo>
                  <a:close/>
                </a:path>
                <a:path extrusionOk="0" h="118110" w="368935">
                  <a:moveTo>
                    <a:pt x="71990" y="46355"/>
                  </a:moveTo>
                  <a:lnTo>
                    <a:pt x="25145" y="46355"/>
                  </a:lnTo>
                  <a:lnTo>
                    <a:pt x="25145" y="71755"/>
                  </a:lnTo>
                  <a:lnTo>
                    <a:pt x="72208" y="71755"/>
                  </a:lnTo>
                  <a:lnTo>
                    <a:pt x="69160" y="69977"/>
                  </a:lnTo>
                  <a:lnTo>
                    <a:pt x="31495" y="69977"/>
                  </a:lnTo>
                  <a:lnTo>
                    <a:pt x="31495" y="48006"/>
                  </a:lnTo>
                  <a:lnTo>
                    <a:pt x="69160" y="48006"/>
                  </a:lnTo>
                  <a:lnTo>
                    <a:pt x="71990" y="46355"/>
                  </a:lnTo>
                  <a:close/>
                </a:path>
                <a:path extrusionOk="0" h="118110" w="368935">
                  <a:moveTo>
                    <a:pt x="267462" y="0"/>
                  </a:moveTo>
                  <a:lnTo>
                    <a:pt x="259714" y="2159"/>
                  </a:lnTo>
                  <a:lnTo>
                    <a:pt x="256158" y="8128"/>
                  </a:lnTo>
                  <a:lnTo>
                    <a:pt x="252729" y="14224"/>
                  </a:lnTo>
                  <a:lnTo>
                    <a:pt x="254762" y="21971"/>
                  </a:lnTo>
                  <a:lnTo>
                    <a:pt x="260730" y="25527"/>
                  </a:lnTo>
                  <a:lnTo>
                    <a:pt x="318207" y="59055"/>
                  </a:lnTo>
                  <a:lnTo>
                    <a:pt x="50437" y="59055"/>
                  </a:lnTo>
                  <a:lnTo>
                    <a:pt x="72208" y="71755"/>
                  </a:lnTo>
                  <a:lnTo>
                    <a:pt x="296218" y="71755"/>
                  </a:lnTo>
                  <a:lnTo>
                    <a:pt x="336930" y="48006"/>
                  </a:lnTo>
                  <a:lnTo>
                    <a:pt x="343407" y="48006"/>
                  </a:lnTo>
                  <a:lnTo>
                    <a:pt x="343407" y="46355"/>
                  </a:lnTo>
                  <a:lnTo>
                    <a:pt x="346813" y="46355"/>
                  </a:lnTo>
                  <a:lnTo>
                    <a:pt x="267462" y="0"/>
                  </a:lnTo>
                  <a:close/>
                </a:path>
                <a:path extrusionOk="0" h="118110" w="368935">
                  <a:moveTo>
                    <a:pt x="346813" y="46355"/>
                  </a:moveTo>
                  <a:lnTo>
                    <a:pt x="343407" y="46355"/>
                  </a:lnTo>
                  <a:lnTo>
                    <a:pt x="343407" y="71755"/>
                  </a:lnTo>
                  <a:lnTo>
                    <a:pt x="346765" y="71755"/>
                  </a:lnTo>
                  <a:lnTo>
                    <a:pt x="368553" y="59055"/>
                  </a:lnTo>
                  <a:lnTo>
                    <a:pt x="346813" y="46355"/>
                  </a:lnTo>
                  <a:close/>
                </a:path>
                <a:path extrusionOk="0" h="118110" w="368935">
                  <a:moveTo>
                    <a:pt x="31495" y="48006"/>
                  </a:moveTo>
                  <a:lnTo>
                    <a:pt x="31495" y="69977"/>
                  </a:lnTo>
                  <a:lnTo>
                    <a:pt x="50219" y="59055"/>
                  </a:lnTo>
                  <a:lnTo>
                    <a:pt x="50437" y="59055"/>
                  </a:lnTo>
                  <a:lnTo>
                    <a:pt x="31495" y="48006"/>
                  </a:lnTo>
                  <a:close/>
                </a:path>
                <a:path extrusionOk="0" h="118110" w="368935">
                  <a:moveTo>
                    <a:pt x="296436" y="46355"/>
                  </a:moveTo>
                  <a:lnTo>
                    <a:pt x="71990" y="46355"/>
                  </a:lnTo>
                  <a:lnTo>
                    <a:pt x="31495" y="69977"/>
                  </a:lnTo>
                  <a:lnTo>
                    <a:pt x="69160" y="69977"/>
                  </a:lnTo>
                  <a:lnTo>
                    <a:pt x="50437" y="59055"/>
                  </a:lnTo>
                  <a:lnTo>
                    <a:pt x="318207" y="59055"/>
                  </a:lnTo>
                  <a:lnTo>
                    <a:pt x="296436" y="46355"/>
                  </a:lnTo>
                  <a:close/>
                </a:path>
                <a:path extrusionOk="0" h="118110" w="368935">
                  <a:moveTo>
                    <a:pt x="336930" y="59055"/>
                  </a:moveTo>
                  <a:lnTo>
                    <a:pt x="318207" y="59055"/>
                  </a:lnTo>
                  <a:lnTo>
                    <a:pt x="336930" y="69977"/>
                  </a:lnTo>
                  <a:lnTo>
                    <a:pt x="336930" y="59055"/>
                  </a:lnTo>
                  <a:close/>
                </a:path>
                <a:path extrusionOk="0" h="118110" w="368935">
                  <a:moveTo>
                    <a:pt x="343407" y="48006"/>
                  </a:moveTo>
                  <a:lnTo>
                    <a:pt x="336930" y="48006"/>
                  </a:lnTo>
                  <a:lnTo>
                    <a:pt x="336930" y="69977"/>
                  </a:lnTo>
                  <a:lnTo>
                    <a:pt x="343407" y="69977"/>
                  </a:lnTo>
                  <a:lnTo>
                    <a:pt x="343407" y="48006"/>
                  </a:lnTo>
                  <a:close/>
                </a:path>
                <a:path extrusionOk="0" h="118110" w="368935">
                  <a:moveTo>
                    <a:pt x="69160" y="48006"/>
                  </a:moveTo>
                  <a:lnTo>
                    <a:pt x="31495" y="48006"/>
                  </a:lnTo>
                  <a:lnTo>
                    <a:pt x="50437" y="59055"/>
                  </a:lnTo>
                  <a:lnTo>
                    <a:pt x="50219" y="59055"/>
                  </a:lnTo>
                  <a:lnTo>
                    <a:pt x="69160" y="480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4" name="Google Shape;224;p13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337559" y="2377439"/>
              <a:ext cx="333756" cy="717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13"/>
            <p:cNvSpPr/>
            <p:nvPr/>
          </p:nvSpPr>
          <p:spPr>
            <a:xfrm>
              <a:off x="3447795" y="2410078"/>
              <a:ext cx="118110" cy="504190"/>
            </a:xfrm>
            <a:custGeom>
              <a:rect b="b" l="l" r="r" t="t"/>
              <a:pathLst>
                <a:path extrusionOk="0" h="504189" w="118110">
                  <a:moveTo>
                    <a:pt x="14096" y="387731"/>
                  </a:moveTo>
                  <a:lnTo>
                    <a:pt x="8127" y="391287"/>
                  </a:lnTo>
                  <a:lnTo>
                    <a:pt x="2031" y="394843"/>
                  </a:lnTo>
                  <a:lnTo>
                    <a:pt x="0" y="402590"/>
                  </a:lnTo>
                  <a:lnTo>
                    <a:pt x="58927" y="503682"/>
                  </a:lnTo>
                  <a:lnTo>
                    <a:pt x="73585" y="478536"/>
                  </a:lnTo>
                  <a:lnTo>
                    <a:pt x="46227" y="478536"/>
                  </a:lnTo>
                  <a:lnTo>
                    <a:pt x="46227" y="431564"/>
                  </a:lnTo>
                  <a:lnTo>
                    <a:pt x="25400" y="395859"/>
                  </a:lnTo>
                  <a:lnTo>
                    <a:pt x="21970" y="389763"/>
                  </a:lnTo>
                  <a:lnTo>
                    <a:pt x="14096" y="387731"/>
                  </a:lnTo>
                  <a:close/>
                </a:path>
                <a:path extrusionOk="0" h="504189" w="118110">
                  <a:moveTo>
                    <a:pt x="46227" y="431564"/>
                  </a:moveTo>
                  <a:lnTo>
                    <a:pt x="46227" y="478536"/>
                  </a:lnTo>
                  <a:lnTo>
                    <a:pt x="71627" y="478536"/>
                  </a:lnTo>
                  <a:lnTo>
                    <a:pt x="71627" y="472059"/>
                  </a:lnTo>
                  <a:lnTo>
                    <a:pt x="48005" y="472059"/>
                  </a:lnTo>
                  <a:lnTo>
                    <a:pt x="58927" y="453335"/>
                  </a:lnTo>
                  <a:lnTo>
                    <a:pt x="46227" y="431564"/>
                  </a:lnTo>
                  <a:close/>
                </a:path>
                <a:path extrusionOk="0" h="504189" w="118110">
                  <a:moveTo>
                    <a:pt x="103758" y="387731"/>
                  </a:moveTo>
                  <a:lnTo>
                    <a:pt x="95884" y="389763"/>
                  </a:lnTo>
                  <a:lnTo>
                    <a:pt x="92455" y="395859"/>
                  </a:lnTo>
                  <a:lnTo>
                    <a:pt x="71627" y="431564"/>
                  </a:lnTo>
                  <a:lnTo>
                    <a:pt x="71627" y="478536"/>
                  </a:lnTo>
                  <a:lnTo>
                    <a:pt x="73585" y="478536"/>
                  </a:lnTo>
                  <a:lnTo>
                    <a:pt x="117855" y="402590"/>
                  </a:lnTo>
                  <a:lnTo>
                    <a:pt x="115824" y="394843"/>
                  </a:lnTo>
                  <a:lnTo>
                    <a:pt x="109727" y="391287"/>
                  </a:lnTo>
                  <a:lnTo>
                    <a:pt x="103758" y="387731"/>
                  </a:lnTo>
                  <a:close/>
                </a:path>
                <a:path extrusionOk="0" h="504189" w="118110">
                  <a:moveTo>
                    <a:pt x="58927" y="453335"/>
                  </a:moveTo>
                  <a:lnTo>
                    <a:pt x="48005" y="472059"/>
                  </a:lnTo>
                  <a:lnTo>
                    <a:pt x="69850" y="472059"/>
                  </a:lnTo>
                  <a:lnTo>
                    <a:pt x="58927" y="453335"/>
                  </a:lnTo>
                  <a:close/>
                </a:path>
                <a:path extrusionOk="0" h="504189" w="118110">
                  <a:moveTo>
                    <a:pt x="71627" y="431564"/>
                  </a:moveTo>
                  <a:lnTo>
                    <a:pt x="58927" y="453335"/>
                  </a:lnTo>
                  <a:lnTo>
                    <a:pt x="69850" y="472059"/>
                  </a:lnTo>
                  <a:lnTo>
                    <a:pt x="71627" y="472059"/>
                  </a:lnTo>
                  <a:lnTo>
                    <a:pt x="71627" y="431564"/>
                  </a:lnTo>
                  <a:close/>
                </a:path>
                <a:path extrusionOk="0" h="504189" w="118110">
                  <a:moveTo>
                    <a:pt x="71627" y="0"/>
                  </a:moveTo>
                  <a:lnTo>
                    <a:pt x="46227" y="0"/>
                  </a:lnTo>
                  <a:lnTo>
                    <a:pt x="46227" y="431564"/>
                  </a:lnTo>
                  <a:lnTo>
                    <a:pt x="58927" y="453335"/>
                  </a:lnTo>
                  <a:lnTo>
                    <a:pt x="71627" y="431564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6" name="Google Shape;226;p13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337559" y="4297679"/>
              <a:ext cx="333756" cy="7269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13"/>
            <p:cNvSpPr/>
            <p:nvPr/>
          </p:nvSpPr>
          <p:spPr>
            <a:xfrm>
              <a:off x="3447795" y="4449572"/>
              <a:ext cx="118110" cy="508000"/>
            </a:xfrm>
            <a:custGeom>
              <a:rect b="b" l="l" r="r" t="t"/>
              <a:pathLst>
                <a:path extrusionOk="0" h="508000" w="118110">
                  <a:moveTo>
                    <a:pt x="58927" y="50346"/>
                  </a:moveTo>
                  <a:lnTo>
                    <a:pt x="46227" y="72117"/>
                  </a:lnTo>
                  <a:lnTo>
                    <a:pt x="46227" y="507491"/>
                  </a:lnTo>
                  <a:lnTo>
                    <a:pt x="71627" y="507491"/>
                  </a:lnTo>
                  <a:lnTo>
                    <a:pt x="71627" y="72117"/>
                  </a:lnTo>
                  <a:lnTo>
                    <a:pt x="58927" y="50346"/>
                  </a:lnTo>
                  <a:close/>
                </a:path>
                <a:path extrusionOk="0" h="508000" w="118110">
                  <a:moveTo>
                    <a:pt x="58927" y="0"/>
                  </a:moveTo>
                  <a:lnTo>
                    <a:pt x="0" y="101091"/>
                  </a:lnTo>
                  <a:lnTo>
                    <a:pt x="2031" y="108838"/>
                  </a:lnTo>
                  <a:lnTo>
                    <a:pt x="8127" y="112394"/>
                  </a:lnTo>
                  <a:lnTo>
                    <a:pt x="14096" y="115950"/>
                  </a:lnTo>
                  <a:lnTo>
                    <a:pt x="21970" y="113918"/>
                  </a:lnTo>
                  <a:lnTo>
                    <a:pt x="25400" y="107822"/>
                  </a:lnTo>
                  <a:lnTo>
                    <a:pt x="46227" y="72117"/>
                  </a:lnTo>
                  <a:lnTo>
                    <a:pt x="46227" y="25272"/>
                  </a:lnTo>
                  <a:lnTo>
                    <a:pt x="73659" y="25272"/>
                  </a:lnTo>
                  <a:lnTo>
                    <a:pt x="58927" y="0"/>
                  </a:lnTo>
                  <a:close/>
                </a:path>
                <a:path extrusionOk="0" h="508000" w="118110">
                  <a:moveTo>
                    <a:pt x="73659" y="25272"/>
                  </a:moveTo>
                  <a:lnTo>
                    <a:pt x="71627" y="25272"/>
                  </a:lnTo>
                  <a:lnTo>
                    <a:pt x="71627" y="72117"/>
                  </a:lnTo>
                  <a:lnTo>
                    <a:pt x="92455" y="107822"/>
                  </a:lnTo>
                  <a:lnTo>
                    <a:pt x="95884" y="113918"/>
                  </a:lnTo>
                  <a:lnTo>
                    <a:pt x="103758" y="115950"/>
                  </a:lnTo>
                  <a:lnTo>
                    <a:pt x="109727" y="112394"/>
                  </a:lnTo>
                  <a:lnTo>
                    <a:pt x="115824" y="108838"/>
                  </a:lnTo>
                  <a:lnTo>
                    <a:pt x="117855" y="101091"/>
                  </a:lnTo>
                  <a:lnTo>
                    <a:pt x="73659" y="25272"/>
                  </a:lnTo>
                  <a:close/>
                </a:path>
                <a:path extrusionOk="0" h="508000" w="118110">
                  <a:moveTo>
                    <a:pt x="71627" y="25272"/>
                  </a:moveTo>
                  <a:lnTo>
                    <a:pt x="46227" y="25272"/>
                  </a:lnTo>
                  <a:lnTo>
                    <a:pt x="46227" y="72117"/>
                  </a:lnTo>
                  <a:lnTo>
                    <a:pt x="58927" y="50346"/>
                  </a:lnTo>
                  <a:lnTo>
                    <a:pt x="48005" y="31622"/>
                  </a:lnTo>
                  <a:lnTo>
                    <a:pt x="71627" y="31622"/>
                  </a:lnTo>
                  <a:lnTo>
                    <a:pt x="71627" y="25272"/>
                  </a:lnTo>
                  <a:close/>
                </a:path>
                <a:path extrusionOk="0" h="508000" w="118110">
                  <a:moveTo>
                    <a:pt x="71627" y="31622"/>
                  </a:moveTo>
                  <a:lnTo>
                    <a:pt x="69850" y="31622"/>
                  </a:lnTo>
                  <a:lnTo>
                    <a:pt x="58927" y="50346"/>
                  </a:lnTo>
                  <a:lnTo>
                    <a:pt x="71627" y="72117"/>
                  </a:lnTo>
                  <a:lnTo>
                    <a:pt x="71627" y="31622"/>
                  </a:lnTo>
                  <a:close/>
                </a:path>
                <a:path extrusionOk="0" h="508000" w="118110">
                  <a:moveTo>
                    <a:pt x="69850" y="31622"/>
                  </a:moveTo>
                  <a:lnTo>
                    <a:pt x="48005" y="31622"/>
                  </a:lnTo>
                  <a:lnTo>
                    <a:pt x="58927" y="50346"/>
                  </a:lnTo>
                  <a:lnTo>
                    <a:pt x="69850" y="316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8" name="Google Shape;228;p13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4800599" y="5724143"/>
              <a:ext cx="589788" cy="3337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13"/>
            <p:cNvSpPr/>
            <p:nvPr/>
          </p:nvSpPr>
          <p:spPr>
            <a:xfrm>
              <a:off x="4969763" y="5817539"/>
              <a:ext cx="368935" cy="118110"/>
            </a:xfrm>
            <a:custGeom>
              <a:rect b="b" l="l" r="r" t="t"/>
              <a:pathLst>
                <a:path extrusionOk="0" h="118110" w="368935">
                  <a:moveTo>
                    <a:pt x="100964" y="0"/>
                  </a:moveTo>
                  <a:lnTo>
                    <a:pt x="0" y="58953"/>
                  </a:lnTo>
                  <a:lnTo>
                    <a:pt x="100964" y="117906"/>
                  </a:lnTo>
                  <a:lnTo>
                    <a:pt x="108712" y="115862"/>
                  </a:lnTo>
                  <a:lnTo>
                    <a:pt x="115824" y="103733"/>
                  </a:lnTo>
                  <a:lnTo>
                    <a:pt x="113791" y="95961"/>
                  </a:lnTo>
                  <a:lnTo>
                    <a:pt x="72077" y="71653"/>
                  </a:lnTo>
                  <a:lnTo>
                    <a:pt x="25146" y="71653"/>
                  </a:lnTo>
                  <a:lnTo>
                    <a:pt x="25146" y="46253"/>
                  </a:lnTo>
                  <a:lnTo>
                    <a:pt x="72056" y="46253"/>
                  </a:lnTo>
                  <a:lnTo>
                    <a:pt x="113791" y="21932"/>
                  </a:lnTo>
                  <a:lnTo>
                    <a:pt x="115824" y="14160"/>
                  </a:lnTo>
                  <a:lnTo>
                    <a:pt x="108712" y="2044"/>
                  </a:lnTo>
                  <a:lnTo>
                    <a:pt x="100964" y="0"/>
                  </a:lnTo>
                  <a:close/>
                </a:path>
                <a:path extrusionOk="0" h="118110" w="368935">
                  <a:moveTo>
                    <a:pt x="72056" y="46253"/>
                  </a:moveTo>
                  <a:lnTo>
                    <a:pt x="25146" y="46253"/>
                  </a:lnTo>
                  <a:lnTo>
                    <a:pt x="25146" y="71653"/>
                  </a:lnTo>
                  <a:lnTo>
                    <a:pt x="72077" y="71653"/>
                  </a:lnTo>
                  <a:lnTo>
                    <a:pt x="69095" y="69913"/>
                  </a:lnTo>
                  <a:lnTo>
                    <a:pt x="31496" y="69913"/>
                  </a:lnTo>
                  <a:lnTo>
                    <a:pt x="31496" y="47980"/>
                  </a:lnTo>
                  <a:lnTo>
                    <a:pt x="69095" y="47980"/>
                  </a:lnTo>
                  <a:lnTo>
                    <a:pt x="72056" y="46253"/>
                  </a:lnTo>
                  <a:close/>
                </a:path>
                <a:path extrusionOk="0" h="118110" w="368935">
                  <a:moveTo>
                    <a:pt x="368553" y="46253"/>
                  </a:moveTo>
                  <a:lnTo>
                    <a:pt x="72056" y="46253"/>
                  </a:lnTo>
                  <a:lnTo>
                    <a:pt x="50306" y="58953"/>
                  </a:lnTo>
                  <a:lnTo>
                    <a:pt x="72077" y="71653"/>
                  </a:lnTo>
                  <a:lnTo>
                    <a:pt x="368553" y="71653"/>
                  </a:lnTo>
                  <a:lnTo>
                    <a:pt x="368553" y="46253"/>
                  </a:lnTo>
                  <a:close/>
                </a:path>
                <a:path extrusionOk="0" h="118110" w="368935">
                  <a:moveTo>
                    <a:pt x="31496" y="47980"/>
                  </a:moveTo>
                  <a:lnTo>
                    <a:pt x="31496" y="69913"/>
                  </a:lnTo>
                  <a:lnTo>
                    <a:pt x="50284" y="58953"/>
                  </a:lnTo>
                  <a:lnTo>
                    <a:pt x="31496" y="47980"/>
                  </a:lnTo>
                  <a:close/>
                </a:path>
                <a:path extrusionOk="0" h="118110" w="368935">
                  <a:moveTo>
                    <a:pt x="50306" y="58953"/>
                  </a:moveTo>
                  <a:lnTo>
                    <a:pt x="31496" y="69913"/>
                  </a:lnTo>
                  <a:lnTo>
                    <a:pt x="69095" y="69913"/>
                  </a:lnTo>
                  <a:lnTo>
                    <a:pt x="50306" y="58953"/>
                  </a:lnTo>
                  <a:close/>
                </a:path>
                <a:path extrusionOk="0" h="118110" w="368935">
                  <a:moveTo>
                    <a:pt x="69095" y="47980"/>
                  </a:moveTo>
                  <a:lnTo>
                    <a:pt x="31496" y="47980"/>
                  </a:lnTo>
                  <a:lnTo>
                    <a:pt x="50306" y="58953"/>
                  </a:lnTo>
                  <a:lnTo>
                    <a:pt x="69095" y="479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0" name="Google Shape;230;p13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379207" y="3227831"/>
              <a:ext cx="452627" cy="33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1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7429500" y="3320541"/>
              <a:ext cx="237235" cy="1179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13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7379207" y="4288535"/>
              <a:ext cx="452627" cy="33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13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7429500" y="4381626"/>
              <a:ext cx="237235" cy="1178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13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7351775" y="3328416"/>
              <a:ext cx="132588" cy="11932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13"/>
            <p:cNvSpPr/>
            <p:nvPr/>
          </p:nvSpPr>
          <p:spPr>
            <a:xfrm>
              <a:off x="7420355" y="3361308"/>
              <a:ext cx="0" cy="1076325"/>
            </a:xfrm>
            <a:custGeom>
              <a:rect b="b" l="l" r="r" t="t"/>
              <a:pathLst>
                <a:path extrusionOk="0" h="1076325" w="120000">
                  <a:moveTo>
                    <a:pt x="0" y="0"/>
                  </a:moveTo>
                  <a:lnTo>
                    <a:pt x="0" y="107607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6" name="Google Shape;236;p13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7132319" y="3849623"/>
              <a:ext cx="342900" cy="1325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13"/>
            <p:cNvSpPr/>
            <p:nvPr/>
          </p:nvSpPr>
          <p:spPr>
            <a:xfrm>
              <a:off x="7200900" y="3900932"/>
              <a:ext cx="220345" cy="0"/>
            </a:xfrm>
            <a:custGeom>
              <a:rect b="b" l="l" r="r" t="t"/>
              <a:pathLst>
                <a:path extrusionOk="0" h="120000" w="220345">
                  <a:moveTo>
                    <a:pt x="21996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8" name="Google Shape;238;p13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5980175" y="2258567"/>
              <a:ext cx="333755" cy="1312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13"/>
            <p:cNvSpPr/>
            <p:nvPr/>
          </p:nvSpPr>
          <p:spPr>
            <a:xfrm>
              <a:off x="6090411" y="2409951"/>
              <a:ext cx="118110" cy="972819"/>
            </a:xfrm>
            <a:custGeom>
              <a:rect b="b" l="l" r="r" t="t"/>
              <a:pathLst>
                <a:path extrusionOk="0" h="972820" w="118110">
                  <a:moveTo>
                    <a:pt x="14097" y="856996"/>
                  </a:moveTo>
                  <a:lnTo>
                    <a:pt x="8127" y="860551"/>
                  </a:lnTo>
                  <a:lnTo>
                    <a:pt x="2032" y="863981"/>
                  </a:lnTo>
                  <a:lnTo>
                    <a:pt x="0" y="871855"/>
                  </a:lnTo>
                  <a:lnTo>
                    <a:pt x="3555" y="877824"/>
                  </a:lnTo>
                  <a:lnTo>
                    <a:pt x="58927" y="972820"/>
                  </a:lnTo>
                  <a:lnTo>
                    <a:pt x="73585" y="947674"/>
                  </a:lnTo>
                  <a:lnTo>
                    <a:pt x="46227" y="947674"/>
                  </a:lnTo>
                  <a:lnTo>
                    <a:pt x="46227" y="900829"/>
                  </a:lnTo>
                  <a:lnTo>
                    <a:pt x="25400" y="865124"/>
                  </a:lnTo>
                  <a:lnTo>
                    <a:pt x="21971" y="859027"/>
                  </a:lnTo>
                  <a:lnTo>
                    <a:pt x="14097" y="856996"/>
                  </a:lnTo>
                  <a:close/>
                </a:path>
                <a:path extrusionOk="0" h="972820" w="118110">
                  <a:moveTo>
                    <a:pt x="46227" y="900829"/>
                  </a:moveTo>
                  <a:lnTo>
                    <a:pt x="46227" y="947674"/>
                  </a:lnTo>
                  <a:lnTo>
                    <a:pt x="71627" y="947674"/>
                  </a:lnTo>
                  <a:lnTo>
                    <a:pt x="71627" y="941324"/>
                  </a:lnTo>
                  <a:lnTo>
                    <a:pt x="48005" y="941324"/>
                  </a:lnTo>
                  <a:lnTo>
                    <a:pt x="58927" y="922600"/>
                  </a:lnTo>
                  <a:lnTo>
                    <a:pt x="46227" y="900829"/>
                  </a:lnTo>
                  <a:close/>
                </a:path>
                <a:path extrusionOk="0" h="972820" w="118110">
                  <a:moveTo>
                    <a:pt x="103759" y="856996"/>
                  </a:moveTo>
                  <a:lnTo>
                    <a:pt x="95885" y="859027"/>
                  </a:lnTo>
                  <a:lnTo>
                    <a:pt x="92455" y="865124"/>
                  </a:lnTo>
                  <a:lnTo>
                    <a:pt x="71627" y="900829"/>
                  </a:lnTo>
                  <a:lnTo>
                    <a:pt x="71627" y="947674"/>
                  </a:lnTo>
                  <a:lnTo>
                    <a:pt x="73585" y="947674"/>
                  </a:lnTo>
                  <a:lnTo>
                    <a:pt x="114300" y="877824"/>
                  </a:lnTo>
                  <a:lnTo>
                    <a:pt x="117855" y="871855"/>
                  </a:lnTo>
                  <a:lnTo>
                    <a:pt x="115824" y="863981"/>
                  </a:lnTo>
                  <a:lnTo>
                    <a:pt x="109727" y="860551"/>
                  </a:lnTo>
                  <a:lnTo>
                    <a:pt x="103759" y="856996"/>
                  </a:lnTo>
                  <a:close/>
                </a:path>
                <a:path extrusionOk="0" h="972820" w="118110">
                  <a:moveTo>
                    <a:pt x="58927" y="922600"/>
                  </a:moveTo>
                  <a:lnTo>
                    <a:pt x="48005" y="941324"/>
                  </a:lnTo>
                  <a:lnTo>
                    <a:pt x="69850" y="941324"/>
                  </a:lnTo>
                  <a:lnTo>
                    <a:pt x="58927" y="922600"/>
                  </a:lnTo>
                  <a:close/>
                </a:path>
                <a:path extrusionOk="0" h="972820" w="118110">
                  <a:moveTo>
                    <a:pt x="71627" y="900829"/>
                  </a:moveTo>
                  <a:lnTo>
                    <a:pt x="58927" y="922600"/>
                  </a:lnTo>
                  <a:lnTo>
                    <a:pt x="69850" y="941324"/>
                  </a:lnTo>
                  <a:lnTo>
                    <a:pt x="71627" y="941324"/>
                  </a:lnTo>
                  <a:lnTo>
                    <a:pt x="71627" y="900829"/>
                  </a:lnTo>
                  <a:close/>
                </a:path>
                <a:path extrusionOk="0" h="972820" w="118110">
                  <a:moveTo>
                    <a:pt x="58927" y="50346"/>
                  </a:moveTo>
                  <a:lnTo>
                    <a:pt x="46227" y="72117"/>
                  </a:lnTo>
                  <a:lnTo>
                    <a:pt x="46227" y="900829"/>
                  </a:lnTo>
                  <a:lnTo>
                    <a:pt x="58927" y="922600"/>
                  </a:lnTo>
                  <a:lnTo>
                    <a:pt x="71627" y="900829"/>
                  </a:lnTo>
                  <a:lnTo>
                    <a:pt x="71627" y="72117"/>
                  </a:lnTo>
                  <a:lnTo>
                    <a:pt x="58927" y="50346"/>
                  </a:lnTo>
                  <a:close/>
                </a:path>
                <a:path extrusionOk="0" h="972820" w="118110">
                  <a:moveTo>
                    <a:pt x="58927" y="0"/>
                  </a:moveTo>
                  <a:lnTo>
                    <a:pt x="0" y="101092"/>
                  </a:lnTo>
                  <a:lnTo>
                    <a:pt x="2032" y="108838"/>
                  </a:lnTo>
                  <a:lnTo>
                    <a:pt x="8127" y="112395"/>
                  </a:lnTo>
                  <a:lnTo>
                    <a:pt x="14097" y="115950"/>
                  </a:lnTo>
                  <a:lnTo>
                    <a:pt x="21971" y="113919"/>
                  </a:lnTo>
                  <a:lnTo>
                    <a:pt x="25400" y="107823"/>
                  </a:lnTo>
                  <a:lnTo>
                    <a:pt x="46227" y="72117"/>
                  </a:lnTo>
                  <a:lnTo>
                    <a:pt x="46227" y="25273"/>
                  </a:lnTo>
                  <a:lnTo>
                    <a:pt x="73660" y="25273"/>
                  </a:lnTo>
                  <a:lnTo>
                    <a:pt x="58927" y="0"/>
                  </a:lnTo>
                  <a:close/>
                </a:path>
                <a:path extrusionOk="0" h="972820" w="118110">
                  <a:moveTo>
                    <a:pt x="73660" y="25273"/>
                  </a:moveTo>
                  <a:lnTo>
                    <a:pt x="71627" y="25273"/>
                  </a:lnTo>
                  <a:lnTo>
                    <a:pt x="71627" y="72117"/>
                  </a:lnTo>
                  <a:lnTo>
                    <a:pt x="92455" y="107823"/>
                  </a:lnTo>
                  <a:lnTo>
                    <a:pt x="95885" y="113919"/>
                  </a:lnTo>
                  <a:lnTo>
                    <a:pt x="103759" y="115950"/>
                  </a:lnTo>
                  <a:lnTo>
                    <a:pt x="109727" y="112395"/>
                  </a:lnTo>
                  <a:lnTo>
                    <a:pt x="115824" y="108838"/>
                  </a:lnTo>
                  <a:lnTo>
                    <a:pt x="117855" y="101092"/>
                  </a:lnTo>
                  <a:lnTo>
                    <a:pt x="73660" y="25273"/>
                  </a:lnTo>
                  <a:close/>
                </a:path>
                <a:path extrusionOk="0" h="972820" w="118110">
                  <a:moveTo>
                    <a:pt x="71627" y="25273"/>
                  </a:moveTo>
                  <a:lnTo>
                    <a:pt x="46227" y="25273"/>
                  </a:lnTo>
                  <a:lnTo>
                    <a:pt x="46227" y="72117"/>
                  </a:lnTo>
                  <a:lnTo>
                    <a:pt x="58927" y="50346"/>
                  </a:lnTo>
                  <a:lnTo>
                    <a:pt x="48005" y="31623"/>
                  </a:lnTo>
                  <a:lnTo>
                    <a:pt x="71627" y="31623"/>
                  </a:lnTo>
                  <a:lnTo>
                    <a:pt x="71627" y="25273"/>
                  </a:lnTo>
                  <a:close/>
                </a:path>
                <a:path extrusionOk="0" h="972820" w="118110">
                  <a:moveTo>
                    <a:pt x="71627" y="31623"/>
                  </a:moveTo>
                  <a:lnTo>
                    <a:pt x="69850" y="31623"/>
                  </a:lnTo>
                  <a:lnTo>
                    <a:pt x="58927" y="50346"/>
                  </a:lnTo>
                  <a:lnTo>
                    <a:pt x="71627" y="72117"/>
                  </a:lnTo>
                  <a:lnTo>
                    <a:pt x="71627" y="31623"/>
                  </a:lnTo>
                  <a:close/>
                </a:path>
                <a:path extrusionOk="0" h="972820" w="118110">
                  <a:moveTo>
                    <a:pt x="69850" y="31623"/>
                  </a:moveTo>
                  <a:lnTo>
                    <a:pt x="48005" y="31623"/>
                  </a:lnTo>
                  <a:lnTo>
                    <a:pt x="58927" y="50346"/>
                  </a:lnTo>
                  <a:lnTo>
                    <a:pt x="69850" y="316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0" name="Google Shape;240;p13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5980175" y="4288535"/>
              <a:ext cx="333755" cy="11384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13"/>
            <p:cNvSpPr/>
            <p:nvPr/>
          </p:nvSpPr>
          <p:spPr>
            <a:xfrm>
              <a:off x="6090411" y="4440427"/>
              <a:ext cx="118110" cy="805180"/>
            </a:xfrm>
            <a:custGeom>
              <a:rect b="b" l="l" r="r" t="t"/>
              <a:pathLst>
                <a:path extrusionOk="0" h="805179" w="118110">
                  <a:moveTo>
                    <a:pt x="14097" y="688848"/>
                  </a:moveTo>
                  <a:lnTo>
                    <a:pt x="8127" y="692404"/>
                  </a:lnTo>
                  <a:lnTo>
                    <a:pt x="2032" y="695960"/>
                  </a:lnTo>
                  <a:lnTo>
                    <a:pt x="0" y="703707"/>
                  </a:lnTo>
                  <a:lnTo>
                    <a:pt x="58927" y="804799"/>
                  </a:lnTo>
                  <a:lnTo>
                    <a:pt x="73585" y="779653"/>
                  </a:lnTo>
                  <a:lnTo>
                    <a:pt x="46227" y="779653"/>
                  </a:lnTo>
                  <a:lnTo>
                    <a:pt x="46227" y="732681"/>
                  </a:lnTo>
                  <a:lnTo>
                    <a:pt x="25400" y="696976"/>
                  </a:lnTo>
                  <a:lnTo>
                    <a:pt x="21971" y="691007"/>
                  </a:lnTo>
                  <a:lnTo>
                    <a:pt x="14097" y="688848"/>
                  </a:lnTo>
                  <a:close/>
                </a:path>
                <a:path extrusionOk="0" h="805179" w="118110">
                  <a:moveTo>
                    <a:pt x="46227" y="732681"/>
                  </a:moveTo>
                  <a:lnTo>
                    <a:pt x="46227" y="779653"/>
                  </a:lnTo>
                  <a:lnTo>
                    <a:pt x="71627" y="779653"/>
                  </a:lnTo>
                  <a:lnTo>
                    <a:pt x="71627" y="773176"/>
                  </a:lnTo>
                  <a:lnTo>
                    <a:pt x="48005" y="773176"/>
                  </a:lnTo>
                  <a:lnTo>
                    <a:pt x="58927" y="754452"/>
                  </a:lnTo>
                  <a:lnTo>
                    <a:pt x="46227" y="732681"/>
                  </a:lnTo>
                  <a:close/>
                </a:path>
                <a:path extrusionOk="0" h="805179" w="118110">
                  <a:moveTo>
                    <a:pt x="103759" y="688848"/>
                  </a:moveTo>
                  <a:lnTo>
                    <a:pt x="95885" y="691007"/>
                  </a:lnTo>
                  <a:lnTo>
                    <a:pt x="92455" y="696976"/>
                  </a:lnTo>
                  <a:lnTo>
                    <a:pt x="71627" y="732681"/>
                  </a:lnTo>
                  <a:lnTo>
                    <a:pt x="71627" y="779653"/>
                  </a:lnTo>
                  <a:lnTo>
                    <a:pt x="73585" y="779653"/>
                  </a:lnTo>
                  <a:lnTo>
                    <a:pt x="117855" y="703707"/>
                  </a:lnTo>
                  <a:lnTo>
                    <a:pt x="115824" y="695960"/>
                  </a:lnTo>
                  <a:lnTo>
                    <a:pt x="109727" y="692404"/>
                  </a:lnTo>
                  <a:lnTo>
                    <a:pt x="103759" y="688848"/>
                  </a:lnTo>
                  <a:close/>
                </a:path>
                <a:path extrusionOk="0" h="805179" w="118110">
                  <a:moveTo>
                    <a:pt x="58927" y="754452"/>
                  </a:moveTo>
                  <a:lnTo>
                    <a:pt x="48005" y="773176"/>
                  </a:lnTo>
                  <a:lnTo>
                    <a:pt x="69850" y="773176"/>
                  </a:lnTo>
                  <a:lnTo>
                    <a:pt x="58927" y="754452"/>
                  </a:lnTo>
                  <a:close/>
                </a:path>
                <a:path extrusionOk="0" h="805179" w="118110">
                  <a:moveTo>
                    <a:pt x="71627" y="732681"/>
                  </a:moveTo>
                  <a:lnTo>
                    <a:pt x="58927" y="754452"/>
                  </a:lnTo>
                  <a:lnTo>
                    <a:pt x="69850" y="773176"/>
                  </a:lnTo>
                  <a:lnTo>
                    <a:pt x="71627" y="773176"/>
                  </a:lnTo>
                  <a:lnTo>
                    <a:pt x="71627" y="732681"/>
                  </a:lnTo>
                  <a:close/>
                </a:path>
                <a:path extrusionOk="0" h="805179" w="118110">
                  <a:moveTo>
                    <a:pt x="58927" y="50346"/>
                  </a:moveTo>
                  <a:lnTo>
                    <a:pt x="46227" y="72117"/>
                  </a:lnTo>
                  <a:lnTo>
                    <a:pt x="46227" y="732681"/>
                  </a:lnTo>
                  <a:lnTo>
                    <a:pt x="58927" y="754452"/>
                  </a:lnTo>
                  <a:lnTo>
                    <a:pt x="71627" y="732681"/>
                  </a:lnTo>
                  <a:lnTo>
                    <a:pt x="71627" y="72117"/>
                  </a:lnTo>
                  <a:lnTo>
                    <a:pt x="58927" y="50346"/>
                  </a:lnTo>
                  <a:close/>
                </a:path>
                <a:path extrusionOk="0" h="805179" w="118110">
                  <a:moveTo>
                    <a:pt x="58927" y="0"/>
                  </a:moveTo>
                  <a:lnTo>
                    <a:pt x="0" y="101092"/>
                  </a:lnTo>
                  <a:lnTo>
                    <a:pt x="2032" y="108839"/>
                  </a:lnTo>
                  <a:lnTo>
                    <a:pt x="8127" y="112395"/>
                  </a:lnTo>
                  <a:lnTo>
                    <a:pt x="14097" y="115951"/>
                  </a:lnTo>
                  <a:lnTo>
                    <a:pt x="21971" y="113919"/>
                  </a:lnTo>
                  <a:lnTo>
                    <a:pt x="25400" y="107823"/>
                  </a:lnTo>
                  <a:lnTo>
                    <a:pt x="46227" y="72117"/>
                  </a:lnTo>
                  <a:lnTo>
                    <a:pt x="46227" y="25273"/>
                  </a:lnTo>
                  <a:lnTo>
                    <a:pt x="73660" y="25273"/>
                  </a:lnTo>
                  <a:lnTo>
                    <a:pt x="58927" y="0"/>
                  </a:lnTo>
                  <a:close/>
                </a:path>
                <a:path extrusionOk="0" h="805179" w="118110">
                  <a:moveTo>
                    <a:pt x="73660" y="25273"/>
                  </a:moveTo>
                  <a:lnTo>
                    <a:pt x="71627" y="25273"/>
                  </a:lnTo>
                  <a:lnTo>
                    <a:pt x="71627" y="72117"/>
                  </a:lnTo>
                  <a:lnTo>
                    <a:pt x="92455" y="107823"/>
                  </a:lnTo>
                  <a:lnTo>
                    <a:pt x="95885" y="113919"/>
                  </a:lnTo>
                  <a:lnTo>
                    <a:pt x="103759" y="115951"/>
                  </a:lnTo>
                  <a:lnTo>
                    <a:pt x="109727" y="112395"/>
                  </a:lnTo>
                  <a:lnTo>
                    <a:pt x="115824" y="108839"/>
                  </a:lnTo>
                  <a:lnTo>
                    <a:pt x="117855" y="101092"/>
                  </a:lnTo>
                  <a:lnTo>
                    <a:pt x="73660" y="25273"/>
                  </a:lnTo>
                  <a:close/>
                </a:path>
                <a:path extrusionOk="0" h="805179" w="118110">
                  <a:moveTo>
                    <a:pt x="71627" y="25273"/>
                  </a:moveTo>
                  <a:lnTo>
                    <a:pt x="46227" y="25273"/>
                  </a:lnTo>
                  <a:lnTo>
                    <a:pt x="46227" y="72117"/>
                  </a:lnTo>
                  <a:lnTo>
                    <a:pt x="58927" y="50346"/>
                  </a:lnTo>
                  <a:lnTo>
                    <a:pt x="48005" y="31623"/>
                  </a:lnTo>
                  <a:lnTo>
                    <a:pt x="71627" y="31623"/>
                  </a:lnTo>
                  <a:lnTo>
                    <a:pt x="71627" y="25273"/>
                  </a:lnTo>
                  <a:close/>
                </a:path>
                <a:path extrusionOk="0" h="805179" w="118110">
                  <a:moveTo>
                    <a:pt x="71627" y="31623"/>
                  </a:moveTo>
                  <a:lnTo>
                    <a:pt x="69850" y="31623"/>
                  </a:lnTo>
                  <a:lnTo>
                    <a:pt x="58927" y="50346"/>
                  </a:lnTo>
                  <a:lnTo>
                    <a:pt x="71627" y="72117"/>
                  </a:lnTo>
                  <a:lnTo>
                    <a:pt x="71627" y="31623"/>
                  </a:lnTo>
                  <a:close/>
                </a:path>
                <a:path extrusionOk="0" h="805179" w="118110">
                  <a:moveTo>
                    <a:pt x="69850" y="31623"/>
                  </a:moveTo>
                  <a:lnTo>
                    <a:pt x="48005" y="31623"/>
                  </a:lnTo>
                  <a:lnTo>
                    <a:pt x="58927" y="50346"/>
                  </a:lnTo>
                  <a:lnTo>
                    <a:pt x="69850" y="316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2" name="Google Shape;242;p13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8421623" y="2377439"/>
              <a:ext cx="333755" cy="7086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13"/>
            <p:cNvSpPr/>
            <p:nvPr/>
          </p:nvSpPr>
          <p:spPr>
            <a:xfrm>
              <a:off x="8531859" y="2410078"/>
              <a:ext cx="118110" cy="490220"/>
            </a:xfrm>
            <a:custGeom>
              <a:rect b="b" l="l" r="r" t="t"/>
              <a:pathLst>
                <a:path extrusionOk="0" h="490219" w="118109">
                  <a:moveTo>
                    <a:pt x="14097" y="374269"/>
                  </a:moveTo>
                  <a:lnTo>
                    <a:pt x="8128" y="377825"/>
                  </a:lnTo>
                  <a:lnTo>
                    <a:pt x="2032" y="381381"/>
                  </a:lnTo>
                  <a:lnTo>
                    <a:pt x="0" y="389128"/>
                  </a:lnTo>
                  <a:lnTo>
                    <a:pt x="58928" y="490220"/>
                  </a:lnTo>
                  <a:lnTo>
                    <a:pt x="73659" y="464947"/>
                  </a:lnTo>
                  <a:lnTo>
                    <a:pt x="46228" y="464947"/>
                  </a:lnTo>
                  <a:lnTo>
                    <a:pt x="46228" y="418102"/>
                  </a:lnTo>
                  <a:lnTo>
                    <a:pt x="25400" y="382397"/>
                  </a:lnTo>
                  <a:lnTo>
                    <a:pt x="21971" y="376300"/>
                  </a:lnTo>
                  <a:lnTo>
                    <a:pt x="14097" y="374269"/>
                  </a:lnTo>
                  <a:close/>
                </a:path>
                <a:path extrusionOk="0" h="490219" w="118109">
                  <a:moveTo>
                    <a:pt x="46228" y="418102"/>
                  </a:moveTo>
                  <a:lnTo>
                    <a:pt x="46228" y="464947"/>
                  </a:lnTo>
                  <a:lnTo>
                    <a:pt x="71628" y="464947"/>
                  </a:lnTo>
                  <a:lnTo>
                    <a:pt x="71628" y="458597"/>
                  </a:lnTo>
                  <a:lnTo>
                    <a:pt x="48006" y="458597"/>
                  </a:lnTo>
                  <a:lnTo>
                    <a:pt x="58928" y="439873"/>
                  </a:lnTo>
                  <a:lnTo>
                    <a:pt x="46228" y="418102"/>
                  </a:lnTo>
                  <a:close/>
                </a:path>
                <a:path extrusionOk="0" h="490219" w="118109">
                  <a:moveTo>
                    <a:pt x="103759" y="374269"/>
                  </a:moveTo>
                  <a:lnTo>
                    <a:pt x="95885" y="376300"/>
                  </a:lnTo>
                  <a:lnTo>
                    <a:pt x="92456" y="382397"/>
                  </a:lnTo>
                  <a:lnTo>
                    <a:pt x="71628" y="418102"/>
                  </a:lnTo>
                  <a:lnTo>
                    <a:pt x="71628" y="464947"/>
                  </a:lnTo>
                  <a:lnTo>
                    <a:pt x="73659" y="464947"/>
                  </a:lnTo>
                  <a:lnTo>
                    <a:pt x="117856" y="389128"/>
                  </a:lnTo>
                  <a:lnTo>
                    <a:pt x="115824" y="381381"/>
                  </a:lnTo>
                  <a:lnTo>
                    <a:pt x="109728" y="377825"/>
                  </a:lnTo>
                  <a:lnTo>
                    <a:pt x="103759" y="374269"/>
                  </a:lnTo>
                  <a:close/>
                </a:path>
                <a:path extrusionOk="0" h="490219" w="118109">
                  <a:moveTo>
                    <a:pt x="58928" y="439873"/>
                  </a:moveTo>
                  <a:lnTo>
                    <a:pt x="48006" y="458597"/>
                  </a:lnTo>
                  <a:lnTo>
                    <a:pt x="69850" y="458597"/>
                  </a:lnTo>
                  <a:lnTo>
                    <a:pt x="58928" y="439873"/>
                  </a:lnTo>
                  <a:close/>
                </a:path>
                <a:path extrusionOk="0" h="490219" w="118109">
                  <a:moveTo>
                    <a:pt x="71628" y="418102"/>
                  </a:moveTo>
                  <a:lnTo>
                    <a:pt x="58928" y="439873"/>
                  </a:lnTo>
                  <a:lnTo>
                    <a:pt x="69850" y="458597"/>
                  </a:lnTo>
                  <a:lnTo>
                    <a:pt x="71628" y="458597"/>
                  </a:lnTo>
                  <a:lnTo>
                    <a:pt x="71628" y="418102"/>
                  </a:lnTo>
                  <a:close/>
                </a:path>
                <a:path extrusionOk="0" h="490219" w="118109">
                  <a:moveTo>
                    <a:pt x="71628" y="0"/>
                  </a:moveTo>
                  <a:lnTo>
                    <a:pt x="46228" y="0"/>
                  </a:lnTo>
                  <a:lnTo>
                    <a:pt x="46228" y="418102"/>
                  </a:lnTo>
                  <a:lnTo>
                    <a:pt x="58928" y="439873"/>
                  </a:lnTo>
                  <a:lnTo>
                    <a:pt x="71627" y="418102"/>
                  </a:lnTo>
                  <a:lnTo>
                    <a:pt x="716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" name="Google Shape;244;p13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8430767" y="3785616"/>
              <a:ext cx="333755" cy="5989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13"/>
            <p:cNvSpPr/>
            <p:nvPr/>
          </p:nvSpPr>
          <p:spPr>
            <a:xfrm>
              <a:off x="8538209" y="3818254"/>
              <a:ext cx="118110" cy="382905"/>
            </a:xfrm>
            <a:custGeom>
              <a:rect b="b" l="l" r="r" t="t"/>
              <a:pathLst>
                <a:path extrusionOk="0" h="382904" w="118109">
                  <a:moveTo>
                    <a:pt x="14367" y="267716"/>
                  </a:moveTo>
                  <a:lnTo>
                    <a:pt x="13637" y="267716"/>
                  </a:lnTo>
                  <a:lnTo>
                    <a:pt x="1905" y="274955"/>
                  </a:lnTo>
                  <a:lnTo>
                    <a:pt x="0" y="282702"/>
                  </a:lnTo>
                  <a:lnTo>
                    <a:pt x="61214" y="382397"/>
                  </a:lnTo>
                  <a:lnTo>
                    <a:pt x="74991" y="357505"/>
                  </a:lnTo>
                  <a:lnTo>
                    <a:pt x="48006" y="357505"/>
                  </a:lnTo>
                  <a:lnTo>
                    <a:pt x="46940" y="310701"/>
                  </a:lnTo>
                  <a:lnTo>
                    <a:pt x="25273" y="275463"/>
                  </a:lnTo>
                  <a:lnTo>
                    <a:pt x="21717" y="269494"/>
                  </a:lnTo>
                  <a:lnTo>
                    <a:pt x="14367" y="267716"/>
                  </a:lnTo>
                  <a:close/>
                </a:path>
                <a:path extrusionOk="0" h="382904" w="118109">
                  <a:moveTo>
                    <a:pt x="46940" y="310701"/>
                  </a:moveTo>
                  <a:lnTo>
                    <a:pt x="47994" y="356997"/>
                  </a:lnTo>
                  <a:lnTo>
                    <a:pt x="48006" y="357505"/>
                  </a:lnTo>
                  <a:lnTo>
                    <a:pt x="73406" y="356997"/>
                  </a:lnTo>
                  <a:lnTo>
                    <a:pt x="73272" y="351155"/>
                  </a:lnTo>
                  <a:lnTo>
                    <a:pt x="49530" y="351155"/>
                  </a:lnTo>
                  <a:lnTo>
                    <a:pt x="60076" y="332066"/>
                  </a:lnTo>
                  <a:lnTo>
                    <a:pt x="46940" y="310701"/>
                  </a:lnTo>
                  <a:close/>
                </a:path>
                <a:path extrusionOk="0" h="382904" w="118109">
                  <a:moveTo>
                    <a:pt x="103378" y="265557"/>
                  </a:moveTo>
                  <a:lnTo>
                    <a:pt x="95631" y="267716"/>
                  </a:lnTo>
                  <a:lnTo>
                    <a:pt x="72333" y="309882"/>
                  </a:lnTo>
                  <a:lnTo>
                    <a:pt x="73406" y="356997"/>
                  </a:lnTo>
                  <a:lnTo>
                    <a:pt x="48006" y="357505"/>
                  </a:lnTo>
                  <a:lnTo>
                    <a:pt x="74991" y="357505"/>
                  </a:lnTo>
                  <a:lnTo>
                    <a:pt x="117856" y="280035"/>
                  </a:lnTo>
                  <a:lnTo>
                    <a:pt x="115697" y="272288"/>
                  </a:lnTo>
                  <a:lnTo>
                    <a:pt x="109474" y="268986"/>
                  </a:lnTo>
                  <a:lnTo>
                    <a:pt x="103378" y="265557"/>
                  </a:lnTo>
                  <a:close/>
                </a:path>
                <a:path extrusionOk="0" h="382904" w="118109">
                  <a:moveTo>
                    <a:pt x="60076" y="332066"/>
                  </a:moveTo>
                  <a:lnTo>
                    <a:pt x="49530" y="351155"/>
                  </a:lnTo>
                  <a:lnTo>
                    <a:pt x="71500" y="350647"/>
                  </a:lnTo>
                  <a:lnTo>
                    <a:pt x="60076" y="332066"/>
                  </a:lnTo>
                  <a:close/>
                </a:path>
                <a:path extrusionOk="0" h="382904" w="118109">
                  <a:moveTo>
                    <a:pt x="72333" y="309882"/>
                  </a:moveTo>
                  <a:lnTo>
                    <a:pt x="60076" y="332066"/>
                  </a:lnTo>
                  <a:lnTo>
                    <a:pt x="71500" y="350647"/>
                  </a:lnTo>
                  <a:lnTo>
                    <a:pt x="49530" y="351155"/>
                  </a:lnTo>
                  <a:lnTo>
                    <a:pt x="73272" y="351155"/>
                  </a:lnTo>
                  <a:lnTo>
                    <a:pt x="72351" y="310701"/>
                  </a:lnTo>
                  <a:lnTo>
                    <a:pt x="72333" y="309882"/>
                  </a:lnTo>
                  <a:close/>
                </a:path>
                <a:path extrusionOk="0" h="382904" w="118109">
                  <a:moveTo>
                    <a:pt x="65278" y="0"/>
                  </a:moveTo>
                  <a:lnTo>
                    <a:pt x="39878" y="635"/>
                  </a:lnTo>
                  <a:lnTo>
                    <a:pt x="46921" y="309882"/>
                  </a:lnTo>
                  <a:lnTo>
                    <a:pt x="46940" y="310701"/>
                  </a:lnTo>
                  <a:lnTo>
                    <a:pt x="60076" y="332066"/>
                  </a:lnTo>
                  <a:lnTo>
                    <a:pt x="72333" y="309882"/>
                  </a:lnTo>
                  <a:lnTo>
                    <a:pt x="65292" y="635"/>
                  </a:lnTo>
                  <a:lnTo>
                    <a:pt x="6527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6" name="Google Shape;246;p13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8430767" y="4581144"/>
              <a:ext cx="333755" cy="7360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13"/>
            <p:cNvSpPr/>
            <p:nvPr/>
          </p:nvSpPr>
          <p:spPr>
            <a:xfrm>
              <a:off x="8541003" y="4733163"/>
              <a:ext cx="118110" cy="511809"/>
            </a:xfrm>
            <a:custGeom>
              <a:rect b="b" l="l" r="r" t="t"/>
              <a:pathLst>
                <a:path extrusionOk="0" h="511810" w="118109">
                  <a:moveTo>
                    <a:pt x="58927" y="50346"/>
                  </a:moveTo>
                  <a:lnTo>
                    <a:pt x="46227" y="72117"/>
                  </a:lnTo>
                  <a:lnTo>
                    <a:pt x="46227" y="511302"/>
                  </a:lnTo>
                  <a:lnTo>
                    <a:pt x="71627" y="511302"/>
                  </a:lnTo>
                  <a:lnTo>
                    <a:pt x="71627" y="72117"/>
                  </a:lnTo>
                  <a:lnTo>
                    <a:pt x="58927" y="50346"/>
                  </a:lnTo>
                  <a:close/>
                </a:path>
                <a:path extrusionOk="0" h="511810" w="118109">
                  <a:moveTo>
                    <a:pt x="58927" y="0"/>
                  </a:moveTo>
                  <a:lnTo>
                    <a:pt x="0" y="101092"/>
                  </a:lnTo>
                  <a:lnTo>
                    <a:pt x="2031" y="108838"/>
                  </a:lnTo>
                  <a:lnTo>
                    <a:pt x="8127" y="112394"/>
                  </a:lnTo>
                  <a:lnTo>
                    <a:pt x="14097" y="115950"/>
                  </a:lnTo>
                  <a:lnTo>
                    <a:pt x="21971" y="113792"/>
                  </a:lnTo>
                  <a:lnTo>
                    <a:pt x="25400" y="107823"/>
                  </a:lnTo>
                  <a:lnTo>
                    <a:pt x="46227" y="72117"/>
                  </a:lnTo>
                  <a:lnTo>
                    <a:pt x="46227" y="25145"/>
                  </a:lnTo>
                  <a:lnTo>
                    <a:pt x="73585" y="25145"/>
                  </a:lnTo>
                  <a:lnTo>
                    <a:pt x="58927" y="0"/>
                  </a:lnTo>
                  <a:close/>
                </a:path>
                <a:path extrusionOk="0" h="511810" w="118109">
                  <a:moveTo>
                    <a:pt x="73585" y="25145"/>
                  </a:moveTo>
                  <a:lnTo>
                    <a:pt x="71627" y="25145"/>
                  </a:lnTo>
                  <a:lnTo>
                    <a:pt x="71627" y="72117"/>
                  </a:lnTo>
                  <a:lnTo>
                    <a:pt x="92455" y="107823"/>
                  </a:lnTo>
                  <a:lnTo>
                    <a:pt x="95885" y="113792"/>
                  </a:lnTo>
                  <a:lnTo>
                    <a:pt x="103759" y="115950"/>
                  </a:lnTo>
                  <a:lnTo>
                    <a:pt x="109727" y="112394"/>
                  </a:lnTo>
                  <a:lnTo>
                    <a:pt x="115824" y="108838"/>
                  </a:lnTo>
                  <a:lnTo>
                    <a:pt x="117855" y="101092"/>
                  </a:lnTo>
                  <a:lnTo>
                    <a:pt x="73585" y="25145"/>
                  </a:lnTo>
                  <a:close/>
                </a:path>
                <a:path extrusionOk="0" h="511810" w="118109">
                  <a:moveTo>
                    <a:pt x="71627" y="25145"/>
                  </a:moveTo>
                  <a:lnTo>
                    <a:pt x="46227" y="25145"/>
                  </a:lnTo>
                  <a:lnTo>
                    <a:pt x="46227" y="72117"/>
                  </a:lnTo>
                  <a:lnTo>
                    <a:pt x="58927" y="50346"/>
                  </a:lnTo>
                  <a:lnTo>
                    <a:pt x="48005" y="31623"/>
                  </a:lnTo>
                  <a:lnTo>
                    <a:pt x="71627" y="31623"/>
                  </a:lnTo>
                  <a:lnTo>
                    <a:pt x="71627" y="25145"/>
                  </a:lnTo>
                  <a:close/>
                </a:path>
                <a:path extrusionOk="0" h="511810" w="118109">
                  <a:moveTo>
                    <a:pt x="71627" y="31623"/>
                  </a:moveTo>
                  <a:lnTo>
                    <a:pt x="69850" y="31623"/>
                  </a:lnTo>
                  <a:lnTo>
                    <a:pt x="58927" y="50346"/>
                  </a:lnTo>
                  <a:lnTo>
                    <a:pt x="71627" y="72117"/>
                  </a:lnTo>
                  <a:lnTo>
                    <a:pt x="71627" y="31623"/>
                  </a:lnTo>
                  <a:close/>
                </a:path>
                <a:path extrusionOk="0" h="511810" w="118109">
                  <a:moveTo>
                    <a:pt x="69850" y="31623"/>
                  </a:moveTo>
                  <a:lnTo>
                    <a:pt x="48005" y="31623"/>
                  </a:lnTo>
                  <a:lnTo>
                    <a:pt x="58927" y="50346"/>
                  </a:lnTo>
                  <a:lnTo>
                    <a:pt x="69850" y="316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" name="Google Shape;248;p13"/>
          <p:cNvSpPr txBox="1"/>
          <p:nvPr/>
        </p:nvSpPr>
        <p:spPr>
          <a:xfrm>
            <a:off x="9931907" y="6270167"/>
            <a:ext cx="187198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Guile e Quinn, 1988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53" name="Google Shape;253;p14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0675">
            <a:spAutoFit/>
          </a:bodyPr>
          <a:lstStyle/>
          <a:p>
            <a:pPr indent="0" lvl="0" marL="292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Matriz de processos de serviços</a:t>
            </a:r>
            <a:endParaRPr/>
          </a:p>
        </p:txBody>
      </p:sp>
      <p:pic>
        <p:nvPicPr>
          <p:cNvPr id="254" name="Google Shape;2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5340" y="1984993"/>
            <a:ext cx="6685732" cy="3748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15"/>
          <p:cNvGrpSpPr/>
          <p:nvPr/>
        </p:nvGrpSpPr>
        <p:grpSpPr>
          <a:xfrm>
            <a:off x="3648455" y="2213381"/>
            <a:ext cx="6739255" cy="3978910"/>
            <a:chOff x="3648455" y="2213381"/>
            <a:chExt cx="6739255" cy="3978910"/>
          </a:xfrm>
        </p:grpSpPr>
        <p:sp>
          <p:nvSpPr>
            <p:cNvPr id="260" name="Google Shape;260;p15"/>
            <p:cNvSpPr/>
            <p:nvPr/>
          </p:nvSpPr>
          <p:spPr>
            <a:xfrm>
              <a:off x="3648455" y="2213381"/>
              <a:ext cx="6739255" cy="3978910"/>
            </a:xfrm>
            <a:custGeom>
              <a:rect b="b" l="l" r="r" t="t"/>
              <a:pathLst>
                <a:path extrusionOk="0" h="3978910" w="6739255">
                  <a:moveTo>
                    <a:pt x="6739128" y="0"/>
                  </a:moveTo>
                  <a:lnTo>
                    <a:pt x="0" y="0"/>
                  </a:lnTo>
                  <a:lnTo>
                    <a:pt x="0" y="3978655"/>
                  </a:lnTo>
                  <a:lnTo>
                    <a:pt x="6739128" y="3978655"/>
                  </a:lnTo>
                  <a:lnTo>
                    <a:pt x="6739128" y="0"/>
                  </a:lnTo>
                  <a:close/>
                </a:path>
              </a:pathLst>
            </a:custGeom>
            <a:solidFill>
              <a:srgbClr val="EBF0D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4302251" y="2501518"/>
              <a:ext cx="1984375" cy="1317625"/>
            </a:xfrm>
            <a:custGeom>
              <a:rect b="b" l="l" r="r" t="t"/>
              <a:pathLst>
                <a:path extrusionOk="0" h="1317625" w="1984375">
                  <a:moveTo>
                    <a:pt x="1984248" y="0"/>
                  </a:moveTo>
                  <a:lnTo>
                    <a:pt x="0" y="0"/>
                  </a:lnTo>
                  <a:lnTo>
                    <a:pt x="0" y="1317116"/>
                  </a:lnTo>
                  <a:lnTo>
                    <a:pt x="1984248" y="1317116"/>
                  </a:lnTo>
                  <a:lnTo>
                    <a:pt x="1984248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4302251" y="2501518"/>
              <a:ext cx="1984375" cy="1317625"/>
            </a:xfrm>
            <a:custGeom>
              <a:rect b="b" l="l" r="r" t="t"/>
              <a:pathLst>
                <a:path extrusionOk="0" h="1317625" w="1984375">
                  <a:moveTo>
                    <a:pt x="0" y="1317116"/>
                  </a:moveTo>
                  <a:lnTo>
                    <a:pt x="1984248" y="1317116"/>
                  </a:lnTo>
                  <a:lnTo>
                    <a:pt x="1984248" y="0"/>
                  </a:lnTo>
                  <a:lnTo>
                    <a:pt x="0" y="0"/>
                  </a:lnTo>
                  <a:lnTo>
                    <a:pt x="0" y="1317116"/>
                  </a:lnTo>
                  <a:close/>
                </a:path>
              </a:pathLst>
            </a:custGeom>
            <a:noFill/>
            <a:ln cap="flat" cmpd="sng" w="25375">
              <a:solidFill>
                <a:srgbClr val="1C33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5939027" y="3535044"/>
              <a:ext cx="1984375" cy="1317625"/>
            </a:xfrm>
            <a:custGeom>
              <a:rect b="b" l="l" r="r" t="t"/>
              <a:pathLst>
                <a:path extrusionOk="0" h="1317625" w="1984375">
                  <a:moveTo>
                    <a:pt x="1984248" y="0"/>
                  </a:moveTo>
                  <a:lnTo>
                    <a:pt x="0" y="0"/>
                  </a:lnTo>
                  <a:lnTo>
                    <a:pt x="0" y="1317116"/>
                  </a:lnTo>
                  <a:lnTo>
                    <a:pt x="1984248" y="1317116"/>
                  </a:lnTo>
                  <a:lnTo>
                    <a:pt x="1984248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5939027" y="3535044"/>
              <a:ext cx="1984375" cy="1317625"/>
            </a:xfrm>
            <a:custGeom>
              <a:rect b="b" l="l" r="r" t="t"/>
              <a:pathLst>
                <a:path extrusionOk="0" h="1317625" w="1984375">
                  <a:moveTo>
                    <a:pt x="0" y="1317116"/>
                  </a:moveTo>
                  <a:lnTo>
                    <a:pt x="1984248" y="1317116"/>
                  </a:lnTo>
                  <a:lnTo>
                    <a:pt x="1984248" y="0"/>
                  </a:lnTo>
                  <a:lnTo>
                    <a:pt x="0" y="0"/>
                  </a:lnTo>
                  <a:lnTo>
                    <a:pt x="0" y="1317116"/>
                  </a:lnTo>
                  <a:close/>
                </a:path>
              </a:pathLst>
            </a:custGeom>
            <a:noFill/>
            <a:ln cap="flat" cmpd="sng" w="25375">
              <a:solidFill>
                <a:srgbClr val="1C33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7612379" y="4568520"/>
              <a:ext cx="1984375" cy="1317625"/>
            </a:xfrm>
            <a:custGeom>
              <a:rect b="b" l="l" r="r" t="t"/>
              <a:pathLst>
                <a:path extrusionOk="0" h="1317625" w="1984375">
                  <a:moveTo>
                    <a:pt x="1984248" y="0"/>
                  </a:moveTo>
                  <a:lnTo>
                    <a:pt x="0" y="0"/>
                  </a:lnTo>
                  <a:lnTo>
                    <a:pt x="0" y="1317117"/>
                  </a:lnTo>
                  <a:lnTo>
                    <a:pt x="1984248" y="1317117"/>
                  </a:lnTo>
                  <a:lnTo>
                    <a:pt x="1984248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7612379" y="4568520"/>
              <a:ext cx="1984375" cy="1317625"/>
            </a:xfrm>
            <a:custGeom>
              <a:rect b="b" l="l" r="r" t="t"/>
              <a:pathLst>
                <a:path extrusionOk="0" h="1317625" w="1984375">
                  <a:moveTo>
                    <a:pt x="0" y="1317117"/>
                  </a:moveTo>
                  <a:lnTo>
                    <a:pt x="1984248" y="1317117"/>
                  </a:lnTo>
                  <a:lnTo>
                    <a:pt x="1984248" y="0"/>
                  </a:lnTo>
                  <a:lnTo>
                    <a:pt x="0" y="0"/>
                  </a:lnTo>
                  <a:lnTo>
                    <a:pt x="0" y="1317117"/>
                  </a:lnTo>
                  <a:close/>
                </a:path>
              </a:pathLst>
            </a:custGeom>
            <a:noFill/>
            <a:ln cap="flat" cmpd="sng" w="25400">
              <a:solidFill>
                <a:srgbClr val="1C33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267" name="Google Shape;267;p15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700">
            <a:spAutoFit/>
          </a:bodyPr>
          <a:lstStyle/>
          <a:p>
            <a:pPr indent="0" lvl="0" marL="229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Tipos de processos de serviços</a:t>
            </a:r>
            <a:endParaRPr/>
          </a:p>
        </p:txBody>
      </p:sp>
      <p:sp>
        <p:nvSpPr>
          <p:cNvPr id="268" name="Google Shape;268;p15"/>
          <p:cNvSpPr txBox="1"/>
          <p:nvPr/>
        </p:nvSpPr>
        <p:spPr>
          <a:xfrm>
            <a:off x="3648455" y="2213381"/>
            <a:ext cx="6739255" cy="3978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98755" lvl="0" marL="1064895" marR="4507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Serviços Profissionais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56845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Lojas de Serviços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56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08495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Serviços em massa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 txBox="1"/>
          <p:nvPr/>
        </p:nvSpPr>
        <p:spPr>
          <a:xfrm>
            <a:off x="6561581" y="1537398"/>
            <a:ext cx="96583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14300" lvl="0" marL="126364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Variedade Volume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3975989" y="1563814"/>
            <a:ext cx="521334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540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Alta Baixo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9596373" y="1563814"/>
            <a:ext cx="521334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0325" lvl="0" marL="7239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Baixo Alto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4549140" y="1658492"/>
            <a:ext cx="1864995" cy="76200"/>
          </a:xfrm>
          <a:custGeom>
            <a:rect b="b" l="l" r="r" t="t"/>
            <a:pathLst>
              <a:path extrusionOk="0" h="76200" w="1864995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extrusionOk="0" h="76200" w="1864995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extrusionOk="0" h="76200" w="1864995">
                <a:moveTo>
                  <a:pt x="1864868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864868" y="44450"/>
                </a:lnTo>
                <a:lnTo>
                  <a:pt x="1864868" y="317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7667243" y="1658492"/>
            <a:ext cx="1864995" cy="76200"/>
          </a:xfrm>
          <a:custGeom>
            <a:rect b="b" l="l" r="r" t="t"/>
            <a:pathLst>
              <a:path extrusionOk="0" h="76200" w="1864995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extrusionOk="0" h="76200" w="1864995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extrusionOk="0" h="76200" w="1864995">
                <a:moveTo>
                  <a:pt x="1864867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864867" y="44450"/>
                </a:lnTo>
                <a:lnTo>
                  <a:pt x="1864867" y="317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4585715" y="1960372"/>
            <a:ext cx="1864995" cy="76200"/>
          </a:xfrm>
          <a:custGeom>
            <a:rect b="b" l="l" r="r" t="t"/>
            <a:pathLst>
              <a:path extrusionOk="0" h="76200" w="1864995">
                <a:moveTo>
                  <a:pt x="1788668" y="0"/>
                </a:moveTo>
                <a:lnTo>
                  <a:pt x="1788668" y="76200"/>
                </a:lnTo>
                <a:lnTo>
                  <a:pt x="1852168" y="44450"/>
                </a:lnTo>
                <a:lnTo>
                  <a:pt x="1801368" y="44450"/>
                </a:lnTo>
                <a:lnTo>
                  <a:pt x="1801368" y="31750"/>
                </a:lnTo>
                <a:lnTo>
                  <a:pt x="1852168" y="31750"/>
                </a:lnTo>
                <a:lnTo>
                  <a:pt x="1788668" y="0"/>
                </a:lnTo>
                <a:close/>
              </a:path>
              <a:path extrusionOk="0" h="76200" w="1864995">
                <a:moveTo>
                  <a:pt x="178866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788668" y="44450"/>
                </a:lnTo>
                <a:lnTo>
                  <a:pt x="1788668" y="31750"/>
                </a:lnTo>
                <a:close/>
              </a:path>
              <a:path extrusionOk="0" h="76200" w="1864995">
                <a:moveTo>
                  <a:pt x="1852168" y="31750"/>
                </a:moveTo>
                <a:lnTo>
                  <a:pt x="1801368" y="31750"/>
                </a:lnTo>
                <a:lnTo>
                  <a:pt x="1801368" y="44450"/>
                </a:lnTo>
                <a:lnTo>
                  <a:pt x="1852168" y="44450"/>
                </a:lnTo>
                <a:lnTo>
                  <a:pt x="1864868" y="38100"/>
                </a:lnTo>
                <a:lnTo>
                  <a:pt x="1852168" y="317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7667243" y="1960372"/>
            <a:ext cx="1864995" cy="76200"/>
          </a:xfrm>
          <a:custGeom>
            <a:rect b="b" l="l" r="r" t="t"/>
            <a:pathLst>
              <a:path extrusionOk="0" h="76200" w="1864995">
                <a:moveTo>
                  <a:pt x="1788667" y="0"/>
                </a:moveTo>
                <a:lnTo>
                  <a:pt x="1788667" y="76200"/>
                </a:lnTo>
                <a:lnTo>
                  <a:pt x="1852167" y="44450"/>
                </a:lnTo>
                <a:lnTo>
                  <a:pt x="1801367" y="44450"/>
                </a:lnTo>
                <a:lnTo>
                  <a:pt x="1801367" y="31750"/>
                </a:lnTo>
                <a:lnTo>
                  <a:pt x="1852167" y="31750"/>
                </a:lnTo>
                <a:lnTo>
                  <a:pt x="1788667" y="0"/>
                </a:lnTo>
                <a:close/>
              </a:path>
              <a:path extrusionOk="0" h="76200" w="1864995">
                <a:moveTo>
                  <a:pt x="178866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788667" y="44450"/>
                </a:lnTo>
                <a:lnTo>
                  <a:pt x="1788667" y="31750"/>
                </a:lnTo>
                <a:close/>
              </a:path>
              <a:path extrusionOk="0" h="76200" w="1864995">
                <a:moveTo>
                  <a:pt x="1852167" y="31750"/>
                </a:moveTo>
                <a:lnTo>
                  <a:pt x="1801367" y="31750"/>
                </a:lnTo>
                <a:lnTo>
                  <a:pt x="1801367" y="44450"/>
                </a:lnTo>
                <a:lnTo>
                  <a:pt x="1852167" y="44450"/>
                </a:lnTo>
                <a:lnTo>
                  <a:pt x="1864867" y="38100"/>
                </a:lnTo>
                <a:lnTo>
                  <a:pt x="1852167" y="317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 txBox="1"/>
          <p:nvPr/>
        </p:nvSpPr>
        <p:spPr>
          <a:xfrm>
            <a:off x="1484375" y="3958907"/>
            <a:ext cx="184531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Tarefas de processo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 txBox="1"/>
          <p:nvPr/>
        </p:nvSpPr>
        <p:spPr>
          <a:xfrm>
            <a:off x="1360169" y="2114105"/>
            <a:ext cx="188722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Diversas/Complexas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1780158" y="5796889"/>
            <a:ext cx="104711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Repetitivas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2270760" y="2501519"/>
            <a:ext cx="76200" cy="1438910"/>
          </a:xfrm>
          <a:custGeom>
            <a:rect b="b" l="l" r="r" t="t"/>
            <a:pathLst>
              <a:path extrusionOk="0" h="1438910" w="76200">
                <a:moveTo>
                  <a:pt x="44450" y="63500"/>
                </a:moveTo>
                <a:lnTo>
                  <a:pt x="31750" y="63500"/>
                </a:lnTo>
                <a:lnTo>
                  <a:pt x="31750" y="1438528"/>
                </a:lnTo>
                <a:lnTo>
                  <a:pt x="44450" y="1438528"/>
                </a:lnTo>
                <a:lnTo>
                  <a:pt x="44450" y="63500"/>
                </a:lnTo>
                <a:close/>
              </a:path>
              <a:path extrusionOk="0" h="1438910" w="762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extrusionOk="0" h="1438910" w="762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2270760" y="4413122"/>
            <a:ext cx="76200" cy="1365885"/>
          </a:xfrm>
          <a:custGeom>
            <a:rect b="b" l="l" r="r" t="t"/>
            <a:pathLst>
              <a:path extrusionOk="0" h="1365885" w="76200">
                <a:moveTo>
                  <a:pt x="31750" y="1289316"/>
                </a:moveTo>
                <a:lnTo>
                  <a:pt x="0" y="1289316"/>
                </a:lnTo>
                <a:lnTo>
                  <a:pt x="38100" y="1365516"/>
                </a:lnTo>
                <a:lnTo>
                  <a:pt x="69850" y="1302016"/>
                </a:lnTo>
                <a:lnTo>
                  <a:pt x="31750" y="1302016"/>
                </a:lnTo>
                <a:lnTo>
                  <a:pt x="31750" y="1289316"/>
                </a:lnTo>
                <a:close/>
              </a:path>
              <a:path extrusionOk="0" h="1365885" w="76200">
                <a:moveTo>
                  <a:pt x="44450" y="0"/>
                </a:moveTo>
                <a:lnTo>
                  <a:pt x="31750" y="0"/>
                </a:lnTo>
                <a:lnTo>
                  <a:pt x="31750" y="1302016"/>
                </a:lnTo>
                <a:lnTo>
                  <a:pt x="44450" y="1302016"/>
                </a:lnTo>
                <a:lnTo>
                  <a:pt x="44450" y="0"/>
                </a:lnTo>
                <a:close/>
              </a:path>
              <a:path extrusionOk="0" h="1365885" w="76200">
                <a:moveTo>
                  <a:pt x="76200" y="1289316"/>
                </a:moveTo>
                <a:lnTo>
                  <a:pt x="44450" y="1289316"/>
                </a:lnTo>
                <a:lnTo>
                  <a:pt x="44450" y="1302016"/>
                </a:lnTo>
                <a:lnTo>
                  <a:pt x="69850" y="1302016"/>
                </a:lnTo>
                <a:lnTo>
                  <a:pt x="76200" y="12893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85" name="Google Shape;285;p16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700">
            <a:spAutoFit/>
          </a:bodyPr>
          <a:lstStyle/>
          <a:p>
            <a:pPr indent="0" lvl="0" marL="229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Serviços profissionais</a:t>
            </a:r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355901" y="1500825"/>
            <a:ext cx="119385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-201930" lvl="0" marL="212725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Alto contato com cliente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1930" lvl="0" marL="212725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Altos níveis de customização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1930" lvl="0" marL="212725" rtl="0" algn="l">
              <a:lnSpc>
                <a:spcPct val="119500"/>
              </a:lnSpc>
              <a:spcBef>
                <a:spcPts val="55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Serviço altamente adaptável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0650" lvl="0" marL="12700" marR="5974715" rtl="0" algn="l">
              <a:lnSpc>
                <a:spcPct val="119000"/>
              </a:lnSpc>
              <a:spcBef>
                <a:spcPts val="85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Alto tempo gasto com pessoal da linha de frente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0650" lvl="0" marL="12700" marR="6080125" rtl="0" algn="l">
              <a:lnSpc>
                <a:spcPct val="119000"/>
              </a:lnSpc>
              <a:spcBef>
                <a:spcPts val="7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serviços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baseados em pessoas ao invés de equipamentos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1930" lvl="0" marL="212725" rtl="0" algn="l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Exemplos: consultores de gestão,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6150610" rtl="0" algn="l">
              <a:lnSpc>
                <a:spcPct val="119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advogados, arquitetos, cirurgião, auditors, inspetores de segurança e saúde, etc.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205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581469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Consultores planejando formas de ajudar seus clientes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erson pointing at sticky notes on a wall  Description automatically generated" id="287" name="Google Shape;2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9047" y="1518285"/>
            <a:ext cx="5367528" cy="3237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in a gym  Description automatically generated" id="292" name="Google Shape;2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8232" y="1079245"/>
            <a:ext cx="4764023" cy="3969511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293" name="Google Shape;293;p17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700">
            <a:spAutoFit/>
          </a:bodyPr>
          <a:lstStyle/>
          <a:p>
            <a:pPr indent="0" lvl="0" marL="229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Loja de serviços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316150" y="1604825"/>
            <a:ext cx="5903700" cy="3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-201930" lvl="0" marL="21209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Níveis médios de contato com o cliente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1930" lvl="0" marL="21209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Volume médio de clientes sendo atendidos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0650" lvl="0" marL="12700" marR="389255" rtl="0" algn="l">
              <a:lnSpc>
                <a:spcPct val="119000"/>
              </a:lnSpc>
              <a:spcBef>
                <a:spcPts val="15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Customização para um grupo de clientes por categorias de serviços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1930" lvl="0" marL="212090" rtl="0" algn="l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Uso médio tanto do pessoal da linha de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195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frente quanto retaguarda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0650" lvl="0" marL="12700" marR="5080" rtl="0" algn="l">
              <a:lnSpc>
                <a:spcPct val="119000"/>
              </a:lnSpc>
              <a:spcBef>
                <a:spcPts val="85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Exemplo: Academias, bancos, lojas em ruas comerciais, empresas de alugueis de carros,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restaurantes, agencias de turismos, etc.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17"/>
          <p:cNvSpPr txBox="1"/>
          <p:nvPr/>
        </p:nvSpPr>
        <p:spPr>
          <a:xfrm>
            <a:off x="6928866" y="5258371"/>
            <a:ext cx="353441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Diferentes serviços em uma academia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working in an office  Description automatically generated" id="300" name="Google Shape;3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1888" y="960247"/>
            <a:ext cx="5843016" cy="3850640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301" name="Google Shape;301;p18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700">
            <a:spAutoFit/>
          </a:bodyPr>
          <a:lstStyle/>
          <a:p>
            <a:pPr indent="0" lvl="0" marL="229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Serviços em massa</a:t>
            </a:r>
            <a:endParaRPr/>
          </a:p>
        </p:txBody>
      </p:sp>
      <p:sp>
        <p:nvSpPr>
          <p:cNvPr id="302" name="Google Shape;302;p18"/>
          <p:cNvSpPr txBox="1"/>
          <p:nvPr/>
        </p:nvSpPr>
        <p:spPr>
          <a:xfrm>
            <a:off x="160100" y="1599425"/>
            <a:ext cx="5453100" cy="4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-201295" lvl="0" marL="21209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Muitas transações com os clientes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1930" lvl="0" marL="21209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Tempo de contato limitado com o cliente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1295" lvl="0" marL="212090" rtl="0" algn="l">
              <a:lnSpc>
                <a:spcPct val="119500"/>
              </a:lnSpc>
              <a:spcBef>
                <a:spcPts val="5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Pouca customização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1930" lvl="0" marL="21209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Maior parte do valor adicionada no pessoal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de retaguarda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1930" lvl="0" marL="212090" rtl="0" algn="l">
              <a:lnSpc>
                <a:spcPct val="119500"/>
              </a:lnSpc>
              <a:spcBef>
                <a:spcPts val="55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Pouca atividade de julgamento exercida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pelo pessoal da linha de frente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1930" lvl="0" marL="21209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Divisão de trabalho definida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1295" lvl="0" marL="212090" rtl="0" algn="l">
              <a:lnSpc>
                <a:spcPct val="119500"/>
              </a:lnSpc>
              <a:spcBef>
                <a:spcPts val="5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Procedimentos pré-estabelecidos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1930" lvl="0" marL="21209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Exemplo: serviços de telecomunicações,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supermercados, aeroportos, serviço público,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transporte de passageiros, etc.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6787260" y="5258371"/>
            <a:ext cx="383159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Centro de atendimento de telemarketing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" name="Google Shape;308;p19"/>
          <p:cNvGraphicFramePr/>
          <p:nvPr/>
        </p:nvGraphicFramePr>
        <p:xfrm>
          <a:off x="1883029" y="15504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{CBC92ADA-D85B-437F-BB6A-64D2A2958FB9}</a:tableStyleId>
              </a:tblPr>
              <a:tblGrid>
                <a:gridCol w="1424950"/>
                <a:gridCol w="2274575"/>
                <a:gridCol w="2381875"/>
                <a:gridCol w="2343150"/>
              </a:tblGrid>
              <a:tr h="640075">
                <a:tc>
                  <a:txBody>
                    <a:bodyPr/>
                    <a:lstStyle/>
                    <a:p>
                      <a:pPr indent="0" lvl="0" marL="3022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7650" marB="0" marR="0" marL="0">
                    <a:lnT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178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7650" marB="0" marR="0" marL="0">
                    <a:lnT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248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PROCESSOS DE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3596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CONVERSÃO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T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420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7650" marB="0" marR="0" marL="0">
                    <a:lnT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Hospitais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350" marB="0" marR="0" marL="0">
                    <a:lnT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4F81B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9220" marR="81534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Pacientes; Médicos; Enfermeiras; Equipamentos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125" marB="0" marR="0" marL="0">
                    <a:lnT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4F81B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9700" marR="58166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Procedimentos cirúrgicos; Tratamentos medicamentosos;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125" marB="0" marR="0" marL="0">
                    <a:lnT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4F81B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34010" marR="2489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Pessoas saudáveis; Pessoas mortas;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T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4F81BC">
                        <a:alpha val="20000"/>
                      </a:srgbClr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92710" marR="1746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Companhias aéreas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0175" marB="0" marR="0" marL="0"/>
                </a:tc>
                <a:tc>
                  <a:txBody>
                    <a:bodyPr/>
                    <a:lstStyle/>
                    <a:p>
                      <a:pPr indent="0" lvl="0" marL="109220" marR="101790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Aviões; Pilotos; Passageiros;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Transporte aéreo;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075" marB="0" marR="0" marL="0"/>
                </a:tc>
                <a:tc>
                  <a:txBody>
                    <a:bodyPr/>
                    <a:lstStyle/>
                    <a:p>
                      <a:pPr indent="0" lvl="0" marL="334010" marR="81089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Passageiros chegando ao destino;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/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Restaurantes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6350" marB="0" marR="0" marL="0">
                    <a:solidFill>
                      <a:srgbClr val="4F81B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9220" marR="13208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Utensílios de cozinha; Gêneros alimentícios;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2075" marB="0" marR="0" marL="0">
                    <a:solidFill>
                      <a:srgbClr val="4F81B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Pedidos;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Preparo dos pratos;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Servindo os clientes;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solidFill>
                      <a:srgbClr val="4F81B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340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Clientes satisfeitos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6350" marB="0" marR="0" marL="0">
                    <a:solidFill>
                      <a:srgbClr val="4F81BC">
                        <a:alpha val="20000"/>
                      </a:srgbClr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Hotéis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0" marR="0" marL="0">
                    <a:lnB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9220" marR="2952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Hóspedes; Instalações do hotel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3350" marB="0" marR="0" marL="0">
                    <a:lnB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9700" marR="464184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Reserva do quarto; Checking; Checkout;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00" marB="0" marR="0" marL="0">
                    <a:lnB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340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Hóspedes satisfeitos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0" marR="0" marL="0">
                    <a:lnB cap="flat" cmpd="sng" w="12700">
                      <a:solidFill>
                        <a:srgbClr val="4F81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descr="$PPTXTitle" id="309" name="Google Shape;309;p19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700">
            <a:spAutoFit/>
          </a:bodyPr>
          <a:lstStyle/>
          <a:p>
            <a:pPr indent="0" lvl="0" marL="229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Exemplos de Serviços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 txBox="1"/>
          <p:nvPr/>
        </p:nvSpPr>
        <p:spPr>
          <a:xfrm>
            <a:off x="374497" y="1678876"/>
            <a:ext cx="10847700" cy="18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Conceito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t/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just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A atividade de PCP em serviços é responsável pela coordenação e aplicação dos  recursos  produtivos  de forma a atender  da melhor  maneira  possível  os planos estabelecidos nos níveis estratégico, tático e operacional.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374500" y="5085625"/>
            <a:ext cx="10976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Quais são os principais recursos produtivos usados em serviços?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descr="$PPTXTitle" id="316" name="Google Shape;316;p20"/>
          <p:cNvSpPr txBox="1"/>
          <p:nvPr>
            <p:ph type="title"/>
          </p:nvPr>
        </p:nvSpPr>
        <p:spPr>
          <a:xfrm>
            <a:off x="156933" y="64592"/>
            <a:ext cx="105138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700">
            <a:spAutoFit/>
          </a:bodyPr>
          <a:lstStyle/>
          <a:p>
            <a:pPr indent="0" lvl="0" marL="229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PCP em Serviços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 txBox="1"/>
          <p:nvPr/>
        </p:nvSpPr>
        <p:spPr>
          <a:xfrm>
            <a:off x="465937" y="1601025"/>
            <a:ext cx="10309225" cy="3162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Funções do PCP em serviços: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  <a:p>
            <a:pPr indent="-342265" lvl="1" marL="812165" rtl="0" algn="l">
              <a:lnSpc>
                <a:spcPct val="119259"/>
              </a:lnSpc>
              <a:spcBef>
                <a:spcPts val="5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Planejar as necessidades futuras de capacidade produtiva;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  <a:p>
            <a:pPr indent="-341630" lvl="1" marL="81153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SzPts val="2750"/>
              <a:buFont typeface="Arial"/>
              <a:buChar char="•"/>
            </a:pPr>
            <a:r>
              <a:rPr lang="en-US" sz="2750">
                <a:latin typeface="Calibri"/>
                <a:ea typeface="Calibri"/>
                <a:cs typeface="Calibri"/>
                <a:sym typeface="Calibri"/>
              </a:rPr>
              <a:t>Programar atividades de produção;</a:t>
            </a:r>
            <a:endParaRPr sz="2750">
              <a:latin typeface="Calibri"/>
              <a:ea typeface="Calibri"/>
              <a:cs typeface="Calibri"/>
              <a:sym typeface="Calibri"/>
            </a:endParaRPr>
          </a:p>
          <a:p>
            <a:pPr indent="-341630" lvl="1" marL="810895" marR="5080" rtl="0" algn="l">
              <a:lnSpc>
                <a:spcPct val="78600"/>
              </a:lnSpc>
              <a:spcBef>
                <a:spcPts val="680"/>
              </a:spcBef>
              <a:spcAft>
                <a:spcPts val="0"/>
              </a:spcAft>
              <a:buSzPts val="2750"/>
              <a:buFont typeface="Arial"/>
              <a:buChar char="•"/>
            </a:pPr>
            <a:r>
              <a:rPr lang="en-US" sz="2750">
                <a:latin typeface="Calibri"/>
                <a:ea typeface="Calibri"/>
                <a:cs typeface="Calibri"/>
                <a:sym typeface="Calibri"/>
              </a:rPr>
              <a:t>Ser capaz de saber e de informar a respeito da situação dos recursos 	e das ordens;</a:t>
            </a:r>
            <a:endParaRPr sz="2750">
              <a:latin typeface="Calibri"/>
              <a:ea typeface="Calibri"/>
              <a:cs typeface="Calibri"/>
              <a:sym typeface="Calibri"/>
            </a:endParaRPr>
          </a:p>
          <a:p>
            <a:pPr indent="-342265" lvl="1" marL="811530" marR="683260" rtl="0" algn="l">
              <a:lnSpc>
                <a:spcPct val="78900"/>
              </a:lnSpc>
              <a:spcBef>
                <a:spcPts val="68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Ser capaz de prometer os menores prazos possíveis ao cliente e 	</a:t>
            </a:r>
            <a:r>
              <a:rPr lang="en-US" sz="2750">
                <a:latin typeface="Calibri"/>
                <a:ea typeface="Calibri"/>
                <a:cs typeface="Calibri"/>
                <a:sym typeface="Calibri"/>
              </a:rPr>
              <a:t>cumpri-los;</a:t>
            </a:r>
            <a:endParaRPr sz="2750">
              <a:latin typeface="Calibri"/>
              <a:ea typeface="Calibri"/>
              <a:cs typeface="Calibri"/>
              <a:sym typeface="Calibri"/>
            </a:endParaRPr>
          </a:p>
          <a:p>
            <a:pPr indent="-341630" lvl="1" marL="81153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750"/>
              <a:buFont typeface="Arial"/>
              <a:buChar char="•"/>
            </a:pPr>
            <a:r>
              <a:rPr lang="en-US" sz="2750">
                <a:latin typeface="Calibri"/>
                <a:ea typeface="Calibri"/>
                <a:cs typeface="Calibri"/>
                <a:sym typeface="Calibri"/>
              </a:rPr>
              <a:t>Ser capaz de reagir eficazmente.</a:t>
            </a:r>
            <a:endParaRPr sz="27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322" name="Google Shape;322;p21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700">
            <a:spAutoFit/>
          </a:bodyPr>
          <a:lstStyle/>
          <a:p>
            <a:pPr indent="0" lvl="0" marL="229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PCP em Serviços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"/>
          <p:cNvSpPr txBox="1"/>
          <p:nvPr/>
        </p:nvSpPr>
        <p:spPr>
          <a:xfrm>
            <a:off x="465937" y="1364869"/>
            <a:ext cx="11060430" cy="3536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latin typeface="Calibri"/>
                <a:ea typeface="Calibri"/>
                <a:cs typeface="Calibri"/>
                <a:sym typeface="Calibri"/>
              </a:rPr>
              <a:t>Situações desafiadores para o PCP em serviços:</a:t>
            </a:r>
            <a:endParaRPr sz="31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785"/>
              </a:spcBef>
              <a:spcAft>
                <a:spcPts val="0"/>
              </a:spcAft>
              <a:buNone/>
            </a:pPr>
            <a:r>
              <a:t/>
            </a:r>
            <a:endParaRPr sz="3150">
              <a:latin typeface="Calibri"/>
              <a:ea typeface="Calibri"/>
              <a:cs typeface="Calibri"/>
              <a:sym typeface="Calibri"/>
            </a:endParaRPr>
          </a:p>
          <a:p>
            <a:pPr indent="-337185" lvl="0" marL="4629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0"/>
              <a:buFont typeface="Calibri"/>
              <a:buAutoNum type="arabicPeriod"/>
            </a:pPr>
            <a:r>
              <a:rPr lang="en-US" sz="2750">
                <a:latin typeface="Calibri"/>
                <a:ea typeface="Calibri"/>
                <a:cs typeface="Calibri"/>
                <a:sym typeface="Calibri"/>
              </a:rPr>
              <a:t>Os serviços são produzidos e entregues por pessoas</a:t>
            </a:r>
            <a:endParaRPr sz="27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SzPts val="2750"/>
              <a:buFont typeface="Calibri"/>
              <a:buNone/>
            </a:pPr>
            <a:r>
              <a:t/>
            </a:r>
            <a:endParaRPr sz="2750">
              <a:latin typeface="Calibri"/>
              <a:ea typeface="Calibri"/>
              <a:cs typeface="Calibri"/>
              <a:sym typeface="Calibri"/>
            </a:endParaRPr>
          </a:p>
          <a:p>
            <a:pPr indent="-337185" lvl="0" marL="46291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750"/>
              <a:buFont typeface="Calibri"/>
              <a:buAutoNum type="arabicPeriod"/>
            </a:pPr>
            <a:r>
              <a:rPr lang="en-US" sz="2750">
                <a:latin typeface="Calibri"/>
                <a:ea typeface="Calibri"/>
                <a:cs typeface="Calibri"/>
                <a:sym typeface="Calibri"/>
              </a:rPr>
              <a:t>Padrão não uniforme de demanda</a:t>
            </a:r>
            <a:endParaRPr sz="27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SzPts val="2750"/>
              <a:buFont typeface="Calibri"/>
              <a:buNone/>
            </a:pPr>
            <a:r>
              <a:t/>
            </a:r>
            <a:endParaRPr sz="2750">
              <a:latin typeface="Calibri"/>
              <a:ea typeface="Calibri"/>
              <a:cs typeface="Calibri"/>
              <a:sym typeface="Calibri"/>
            </a:endParaRPr>
          </a:p>
          <a:p>
            <a:pPr indent="-337185" lvl="0" marL="4629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0"/>
              <a:buFont typeface="Calibri"/>
              <a:buAutoNum type="arabicPeriod"/>
            </a:pPr>
            <a:r>
              <a:rPr lang="en-US" sz="2750">
                <a:latin typeface="Calibri"/>
                <a:ea typeface="Calibri"/>
                <a:cs typeface="Calibri"/>
                <a:sym typeface="Calibri"/>
              </a:rPr>
              <a:t>É fundamental estabelecer o Tempo Padrão (TP) de execução das atividades.</a:t>
            </a:r>
            <a:endParaRPr sz="27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328" name="Google Shape;328;p22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675">
            <a:spAutoFit/>
          </a:bodyPr>
          <a:lstStyle/>
          <a:p>
            <a:pPr indent="0" lvl="0" marL="229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PCP em Serviços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"/>
          <p:cNvSpPr txBox="1"/>
          <p:nvPr/>
        </p:nvSpPr>
        <p:spPr>
          <a:xfrm>
            <a:off x="307657" y="1387601"/>
            <a:ext cx="9230360" cy="4537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latin typeface="Calibri"/>
                <a:ea typeface="Calibri"/>
                <a:cs typeface="Calibri"/>
                <a:sym typeface="Calibri"/>
              </a:rPr>
              <a:t>Principais atividades de PCP em serviços</a:t>
            </a:r>
            <a:endParaRPr sz="3150">
              <a:latin typeface="Calibri"/>
              <a:ea typeface="Calibri"/>
              <a:cs typeface="Calibri"/>
              <a:sym typeface="Calibri"/>
            </a:endParaRPr>
          </a:p>
          <a:p>
            <a:pPr indent="-242570" lvl="0" marL="775335" rtl="0" algn="l">
              <a:lnSpc>
                <a:spcPct val="100000"/>
              </a:lnSpc>
              <a:spcBef>
                <a:spcPts val="282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Plano de produção de serviços (PAP);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42570" lvl="0" marL="80391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Dimensionamento de capacidade (operadores e recursos);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42570" lvl="0" marL="77533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Sequenciamento dos serviços;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42570" lvl="0" marL="803910" rtl="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Programação dos serviços;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42570" lvl="0" marL="775335" rtl="0" algn="l">
              <a:lnSpc>
                <a:spcPct val="100000"/>
              </a:lnSpc>
              <a:spcBef>
                <a:spcPts val="1795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Gestão de estoques (insumos);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42570" lvl="0" marL="775335" rtl="0" algn="l">
              <a:lnSpc>
                <a:spcPct val="100000"/>
              </a:lnSpc>
              <a:spcBef>
                <a:spcPts val="1795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Monitoramento e controle;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334" name="Google Shape;334;p23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675">
            <a:spAutoFit/>
          </a:bodyPr>
          <a:lstStyle/>
          <a:p>
            <a:pPr indent="0" lvl="0" marL="229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PCP em Serviços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"/>
          <p:cNvSpPr txBox="1"/>
          <p:nvPr/>
        </p:nvSpPr>
        <p:spPr>
          <a:xfrm>
            <a:off x="122567" y="1303972"/>
            <a:ext cx="11675745" cy="1401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latin typeface="Calibri"/>
                <a:ea typeface="Calibri"/>
                <a:cs typeface="Calibri"/>
                <a:sym typeface="Calibri"/>
              </a:rPr>
              <a:t>Capacidade em serviços</a:t>
            </a:r>
            <a:endParaRPr sz="2350"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1262380" rtl="0" algn="l">
              <a:lnSpc>
                <a:spcPct val="119090"/>
              </a:lnSpc>
              <a:spcBef>
                <a:spcPts val="75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 capacidade de uma operação é o nível máximo de uma operação na unidade de tempo,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6238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estabelecida para um período de tempo futuro.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126238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Normalmente os gerentes de produção calculam a capacidade por hora, por dia ou por ano.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4223" y="2882756"/>
            <a:ext cx="7942456" cy="164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5688" y="4655451"/>
            <a:ext cx="8028431" cy="2012188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342" name="Google Shape;342;p24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675">
            <a:spAutoFit/>
          </a:bodyPr>
          <a:lstStyle/>
          <a:p>
            <a:pPr indent="0" lvl="0" marL="229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PCP em Serviços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47" name="Google Shape;347;p25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325">
            <a:spAutoFit/>
          </a:bodyPr>
          <a:lstStyle/>
          <a:p>
            <a:pPr indent="0" lvl="0" marL="1752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Plano de Produção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319633" y="1349121"/>
            <a:ext cx="7522209" cy="3502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Objetivo do Plano de Produção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t/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Direcionar os recursos no sentido das estratégias escolhidas.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Permitir que a diretoria se anteveja quanto a problemas futuros.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Equilibrar capacidade de produção e demanda prevista.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Participação das áreas de Finanças e Marketing.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Análise de alternativas (baseado em receitas e custos)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49" name="Google Shape;3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8207" y="2461545"/>
            <a:ext cx="4006116" cy="1936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54" name="Google Shape;354;p26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0">
            <a:spAutoFit/>
          </a:bodyPr>
          <a:lstStyle/>
          <a:p>
            <a:pPr indent="0" lvl="0" marL="1098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Entradas do Plano de Produção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494639" y="1927986"/>
            <a:ext cx="5904865" cy="284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0"/>
              <a:buFont typeface="Noto Sans Symbols"/>
              <a:buChar char="✔"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Previsão de demanda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2350"/>
              <a:buFont typeface="Noto Sans Symbols"/>
              <a:buNone/>
            </a:pPr>
            <a:r>
              <a:t/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55600" rtl="0" algn="l">
              <a:lnSpc>
                <a:spcPct val="117659"/>
              </a:lnSpc>
              <a:spcBef>
                <a:spcPts val="0"/>
              </a:spcBef>
              <a:spcAft>
                <a:spcPts val="0"/>
              </a:spcAft>
              <a:buSzPts val="2350"/>
              <a:buFont typeface="Noto Sans Symbols"/>
              <a:buChar char="✔"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Capacidade de produção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1261745" rtl="0" algn="l">
              <a:lnSpc>
                <a:spcPct val="116944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Como aumentar a capacidade produtiva?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1" marL="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0"/>
              <a:buFont typeface="Noto Sans Symbols"/>
              <a:buChar char="✔"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Estoques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2350"/>
              <a:buFont typeface="Noto Sans Symbols"/>
              <a:buNone/>
            </a:pPr>
            <a:r>
              <a:t/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0"/>
              <a:buFont typeface="Noto Sans Symbols"/>
              <a:buChar char="✔"/>
            </a:pPr>
            <a:r>
              <a:rPr lang="en-US" sz="2350">
                <a:latin typeface="Helvetica Neue"/>
                <a:ea typeface="Helvetica Neue"/>
                <a:cs typeface="Helvetica Neue"/>
                <a:sym typeface="Helvetica Neue"/>
              </a:rPr>
              <a:t>Custos associados a produção e estoque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60" name="Google Shape;360;p27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2600">
            <a:spAutoFit/>
          </a:bodyPr>
          <a:lstStyle/>
          <a:p>
            <a:pPr indent="0" lvl="0" marL="1784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Políticas de produção</a:t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574408" y="1750250"/>
            <a:ext cx="9224645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-4572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Têm-se três grupos de alternativas básicas que poderão ser seguidas: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1" marL="927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Manter uma taxa de produção constante;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1" marL="927100" rtl="0" algn="l">
              <a:lnSpc>
                <a:spcPct val="118863"/>
              </a:lnSpc>
              <a:spcBef>
                <a:spcPts val="3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Manter uma taxa de produção casada com a demanda;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1" marL="927100" rtl="0" algn="l">
              <a:lnSpc>
                <a:spcPct val="118863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Variar a taxa de produção em patamares.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66" name="Google Shape;366;p28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975">
            <a:spAutoFit/>
          </a:bodyPr>
          <a:lstStyle/>
          <a:p>
            <a:pPr indent="0" lvl="0" marL="1276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Taxa de produção constante</a:t>
            </a:r>
            <a:endParaRPr/>
          </a:p>
        </p:txBody>
      </p:sp>
      <p:grpSp>
        <p:nvGrpSpPr>
          <p:cNvPr id="367" name="Google Shape;367;p28"/>
          <p:cNvGrpSpPr/>
          <p:nvPr/>
        </p:nvGrpSpPr>
        <p:grpSpPr>
          <a:xfrm>
            <a:off x="2394582" y="3858047"/>
            <a:ext cx="7540255" cy="1800225"/>
            <a:chOff x="2394582" y="3858047"/>
            <a:chExt cx="7540255" cy="1800225"/>
          </a:xfrm>
        </p:grpSpPr>
        <p:sp>
          <p:nvSpPr>
            <p:cNvPr id="368" name="Google Shape;368;p28"/>
            <p:cNvSpPr/>
            <p:nvPr/>
          </p:nvSpPr>
          <p:spPr>
            <a:xfrm>
              <a:off x="2452320" y="3858047"/>
              <a:ext cx="0" cy="1734820"/>
            </a:xfrm>
            <a:custGeom>
              <a:rect b="b" l="l" r="r" t="t"/>
              <a:pathLst>
                <a:path extrusionOk="0" h="1734820" w="120000">
                  <a:moveTo>
                    <a:pt x="0" y="0"/>
                  </a:moveTo>
                  <a:lnTo>
                    <a:pt x="0" y="1114867"/>
                  </a:lnTo>
                </a:path>
                <a:path extrusionOk="0" h="1734820" w="120000">
                  <a:moveTo>
                    <a:pt x="0" y="1197090"/>
                  </a:moveTo>
                  <a:lnTo>
                    <a:pt x="0" y="1734193"/>
                  </a:lnTo>
                </a:path>
              </a:pathLst>
            </a:custGeom>
            <a:noFill/>
            <a:ln cap="flat" cmpd="sng" w="165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8"/>
            <p:cNvSpPr/>
            <p:nvPr/>
          </p:nvSpPr>
          <p:spPr>
            <a:xfrm>
              <a:off x="2402830" y="3858047"/>
              <a:ext cx="7474584" cy="1800225"/>
            </a:xfrm>
            <a:custGeom>
              <a:rect b="b" l="l" r="r" t="t"/>
              <a:pathLst>
                <a:path extrusionOk="0" h="1800225" w="7474584">
                  <a:moveTo>
                    <a:pt x="0" y="1750632"/>
                  </a:moveTo>
                  <a:lnTo>
                    <a:pt x="32993" y="1750632"/>
                  </a:lnTo>
                </a:path>
                <a:path extrusionOk="0" h="1800225" w="7474584">
                  <a:moveTo>
                    <a:pt x="0" y="1453043"/>
                  </a:moveTo>
                  <a:lnTo>
                    <a:pt x="32993" y="1453043"/>
                  </a:lnTo>
                </a:path>
                <a:path extrusionOk="0" h="1800225" w="7474584">
                  <a:moveTo>
                    <a:pt x="0" y="875359"/>
                  </a:moveTo>
                  <a:lnTo>
                    <a:pt x="32993" y="875359"/>
                  </a:lnTo>
                </a:path>
                <a:path extrusionOk="0" h="1800225" w="7474584">
                  <a:moveTo>
                    <a:pt x="0" y="577662"/>
                  </a:moveTo>
                  <a:lnTo>
                    <a:pt x="32993" y="577662"/>
                  </a:lnTo>
                </a:path>
                <a:path extrusionOk="0" h="1800225" w="7474584">
                  <a:moveTo>
                    <a:pt x="0" y="297171"/>
                  </a:moveTo>
                  <a:lnTo>
                    <a:pt x="32993" y="297171"/>
                  </a:lnTo>
                </a:path>
                <a:path extrusionOk="0" h="1800225" w="7474584">
                  <a:moveTo>
                    <a:pt x="0" y="0"/>
                  </a:moveTo>
                  <a:lnTo>
                    <a:pt x="32993" y="0"/>
                  </a:lnTo>
                </a:path>
                <a:path extrusionOk="0" h="1800225" w="7474584">
                  <a:moveTo>
                    <a:pt x="49490" y="1750632"/>
                  </a:moveTo>
                  <a:lnTo>
                    <a:pt x="7457779" y="1750632"/>
                  </a:lnTo>
                </a:path>
                <a:path extrusionOk="0" h="1800225" w="7474584">
                  <a:moveTo>
                    <a:pt x="49490" y="1799970"/>
                  </a:moveTo>
                  <a:lnTo>
                    <a:pt x="49490" y="1767070"/>
                  </a:lnTo>
                </a:path>
                <a:path extrusionOk="0" h="1800225" w="7474584">
                  <a:moveTo>
                    <a:pt x="661077" y="1799970"/>
                  </a:moveTo>
                  <a:lnTo>
                    <a:pt x="661077" y="1767070"/>
                  </a:lnTo>
                </a:path>
                <a:path extrusionOk="0" h="1800225" w="7474584">
                  <a:moveTo>
                    <a:pt x="1289711" y="1799970"/>
                  </a:moveTo>
                  <a:lnTo>
                    <a:pt x="1289711" y="1767070"/>
                  </a:lnTo>
                </a:path>
                <a:path extrusionOk="0" h="1800225" w="7474584">
                  <a:moveTo>
                    <a:pt x="1901254" y="1799970"/>
                  </a:moveTo>
                  <a:lnTo>
                    <a:pt x="1901254" y="1767070"/>
                  </a:lnTo>
                </a:path>
                <a:path extrusionOk="0" h="1800225" w="7474584">
                  <a:moveTo>
                    <a:pt x="2529888" y="1799970"/>
                  </a:moveTo>
                  <a:lnTo>
                    <a:pt x="2529888" y="1767070"/>
                  </a:lnTo>
                </a:path>
                <a:path extrusionOk="0" h="1800225" w="7474584">
                  <a:moveTo>
                    <a:pt x="3141585" y="1799970"/>
                  </a:moveTo>
                  <a:lnTo>
                    <a:pt x="3141585" y="1767070"/>
                  </a:lnTo>
                </a:path>
                <a:path extrusionOk="0" h="1800225" w="7474584">
                  <a:moveTo>
                    <a:pt x="3770219" y="1799970"/>
                  </a:moveTo>
                  <a:lnTo>
                    <a:pt x="3770219" y="1767070"/>
                  </a:lnTo>
                </a:path>
                <a:path extrusionOk="0" h="1800225" w="7474584">
                  <a:moveTo>
                    <a:pt x="4381696" y="1799970"/>
                  </a:moveTo>
                  <a:lnTo>
                    <a:pt x="4381696" y="1767070"/>
                  </a:lnTo>
                </a:path>
                <a:path extrusionOk="0" h="1800225" w="7474584">
                  <a:moveTo>
                    <a:pt x="4993834" y="1799970"/>
                  </a:moveTo>
                  <a:lnTo>
                    <a:pt x="4993834" y="1767070"/>
                  </a:lnTo>
                </a:path>
                <a:path extrusionOk="0" h="1800225" w="7474584">
                  <a:moveTo>
                    <a:pt x="5622028" y="1799970"/>
                  </a:moveTo>
                  <a:lnTo>
                    <a:pt x="5622028" y="1767070"/>
                  </a:lnTo>
                </a:path>
                <a:path extrusionOk="0" h="1800225" w="7474584">
                  <a:moveTo>
                    <a:pt x="6234165" y="1799970"/>
                  </a:moveTo>
                  <a:lnTo>
                    <a:pt x="6234165" y="1767070"/>
                  </a:lnTo>
                </a:path>
                <a:path extrusionOk="0" h="1800225" w="7474584">
                  <a:moveTo>
                    <a:pt x="6862139" y="1799970"/>
                  </a:moveTo>
                  <a:lnTo>
                    <a:pt x="6862139" y="1767070"/>
                  </a:lnTo>
                </a:path>
                <a:path extrusionOk="0" h="1800225" w="7474584">
                  <a:moveTo>
                    <a:pt x="7474276" y="1799970"/>
                  </a:moveTo>
                  <a:lnTo>
                    <a:pt x="7474276" y="1767070"/>
                  </a:lnTo>
                </a:path>
                <a:path extrusionOk="0" h="1800225" w="7474584">
                  <a:moveTo>
                    <a:pt x="49490" y="577662"/>
                  </a:moveTo>
                  <a:lnTo>
                    <a:pt x="644580" y="577662"/>
                  </a:lnTo>
                </a:path>
                <a:path extrusionOk="0" h="1800225" w="7474584">
                  <a:moveTo>
                    <a:pt x="661077" y="577662"/>
                  </a:moveTo>
                  <a:lnTo>
                    <a:pt x="1273214" y="577662"/>
                  </a:lnTo>
                </a:path>
                <a:path extrusionOk="0" h="1800225" w="7474584">
                  <a:moveTo>
                    <a:pt x="1289711" y="577662"/>
                  </a:moveTo>
                  <a:lnTo>
                    <a:pt x="1884757" y="577662"/>
                  </a:lnTo>
                </a:path>
                <a:path extrusionOk="0" h="1800225" w="7474584">
                  <a:moveTo>
                    <a:pt x="1901254" y="577662"/>
                  </a:moveTo>
                  <a:lnTo>
                    <a:pt x="2513391" y="577662"/>
                  </a:lnTo>
                </a:path>
                <a:path extrusionOk="0" h="1800225" w="7474584">
                  <a:moveTo>
                    <a:pt x="2529888" y="577662"/>
                  </a:moveTo>
                  <a:lnTo>
                    <a:pt x="3125089" y="577662"/>
                  </a:lnTo>
                </a:path>
                <a:path extrusionOk="0" h="1800225" w="7474584">
                  <a:moveTo>
                    <a:pt x="3141585" y="577662"/>
                  </a:moveTo>
                  <a:lnTo>
                    <a:pt x="3753722" y="577662"/>
                  </a:lnTo>
                </a:path>
                <a:path extrusionOk="0" h="1800225" w="7474584">
                  <a:moveTo>
                    <a:pt x="3770219" y="577662"/>
                  </a:moveTo>
                  <a:lnTo>
                    <a:pt x="4365200" y="577662"/>
                  </a:lnTo>
                </a:path>
                <a:path extrusionOk="0" h="1800225" w="7474584">
                  <a:moveTo>
                    <a:pt x="4381696" y="577662"/>
                  </a:moveTo>
                  <a:lnTo>
                    <a:pt x="4977337" y="577662"/>
                  </a:lnTo>
                </a:path>
                <a:path extrusionOk="0" h="1800225" w="7474584">
                  <a:moveTo>
                    <a:pt x="4993834" y="577662"/>
                  </a:moveTo>
                  <a:lnTo>
                    <a:pt x="5605531" y="577662"/>
                  </a:lnTo>
                </a:path>
                <a:path extrusionOk="0" h="1800225" w="7474584">
                  <a:moveTo>
                    <a:pt x="5622028" y="577662"/>
                  </a:moveTo>
                  <a:lnTo>
                    <a:pt x="6217668" y="577662"/>
                  </a:lnTo>
                </a:path>
                <a:path extrusionOk="0" h="1800225" w="7474584">
                  <a:moveTo>
                    <a:pt x="6234165" y="577662"/>
                  </a:moveTo>
                  <a:lnTo>
                    <a:pt x="6845642" y="577662"/>
                  </a:lnTo>
                </a:path>
                <a:path extrusionOk="0" h="1800225" w="7474584">
                  <a:moveTo>
                    <a:pt x="6862139" y="577662"/>
                  </a:moveTo>
                  <a:lnTo>
                    <a:pt x="7457779" y="577662"/>
                  </a:lnTo>
                </a:path>
              </a:pathLst>
            </a:custGeom>
            <a:noFill/>
            <a:ln cap="flat" cmpd="sng" w="164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8"/>
            <p:cNvSpPr/>
            <p:nvPr/>
          </p:nvSpPr>
          <p:spPr>
            <a:xfrm>
              <a:off x="2477085" y="5030468"/>
              <a:ext cx="529590" cy="0"/>
            </a:xfrm>
            <a:custGeom>
              <a:rect b="b" l="l" r="r" t="t"/>
              <a:pathLst>
                <a:path extrusionOk="0" h="120000" w="529589">
                  <a:moveTo>
                    <a:pt x="0" y="0"/>
                  </a:moveTo>
                  <a:lnTo>
                    <a:pt x="529084" y="0"/>
                  </a:lnTo>
                </a:path>
              </a:pathLst>
            </a:custGeom>
            <a:noFill/>
            <a:ln cap="flat" cmpd="sng" w="16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3063907" y="4155218"/>
              <a:ext cx="1852930" cy="875665"/>
            </a:xfrm>
            <a:custGeom>
              <a:rect b="b" l="l" r="r" t="t"/>
              <a:pathLst>
                <a:path extrusionOk="0" h="875664" w="1852929">
                  <a:moveTo>
                    <a:pt x="0" y="875250"/>
                  </a:moveTo>
                  <a:lnTo>
                    <a:pt x="612137" y="578188"/>
                  </a:lnTo>
                </a:path>
                <a:path extrusionOk="0" h="875664" w="1852929">
                  <a:moveTo>
                    <a:pt x="628633" y="578188"/>
                  </a:moveTo>
                  <a:lnTo>
                    <a:pt x="1223680" y="280490"/>
                  </a:lnTo>
                </a:path>
                <a:path extrusionOk="0" h="875664" w="1852929">
                  <a:moveTo>
                    <a:pt x="1240177" y="280490"/>
                  </a:moveTo>
                  <a:lnTo>
                    <a:pt x="1852314" y="0"/>
                  </a:lnTo>
                </a:path>
              </a:pathLst>
            </a:custGeom>
            <a:noFill/>
            <a:ln cap="flat" cmpd="sng" w="164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4957593" y="4155218"/>
              <a:ext cx="2381885" cy="0"/>
            </a:xfrm>
            <a:custGeom>
              <a:rect b="b" l="l" r="r" t="t"/>
              <a:pathLst>
                <a:path extrusionOk="0" h="120000" w="2381884">
                  <a:moveTo>
                    <a:pt x="0" y="0"/>
                  </a:moveTo>
                  <a:lnTo>
                    <a:pt x="528974" y="0"/>
                  </a:lnTo>
                </a:path>
                <a:path extrusionOk="0" h="120000" w="2381884">
                  <a:moveTo>
                    <a:pt x="611477" y="0"/>
                  </a:moveTo>
                  <a:lnTo>
                    <a:pt x="1157607" y="0"/>
                  </a:lnTo>
                </a:path>
                <a:path extrusionOk="0" h="120000" w="2381884">
                  <a:moveTo>
                    <a:pt x="1240111" y="0"/>
                  </a:moveTo>
                  <a:lnTo>
                    <a:pt x="1769305" y="0"/>
                  </a:lnTo>
                </a:path>
                <a:path extrusionOk="0" h="120000" w="2381884">
                  <a:moveTo>
                    <a:pt x="1851808" y="0"/>
                  </a:moveTo>
                  <a:lnTo>
                    <a:pt x="2381442" y="0"/>
                  </a:lnTo>
                </a:path>
              </a:pathLst>
            </a:custGeom>
            <a:noFill/>
            <a:ln cap="flat" cmpd="sng" w="16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7396664" y="4155218"/>
              <a:ext cx="1852295" cy="875665"/>
            </a:xfrm>
            <a:custGeom>
              <a:rect b="b" l="l" r="r" t="t"/>
              <a:pathLst>
                <a:path extrusionOk="0" h="875664" w="1852295">
                  <a:moveTo>
                    <a:pt x="0" y="0"/>
                  </a:moveTo>
                  <a:lnTo>
                    <a:pt x="611697" y="280490"/>
                  </a:lnTo>
                </a:path>
                <a:path extrusionOk="0" h="875664" w="1852295">
                  <a:moveTo>
                    <a:pt x="628193" y="280490"/>
                  </a:moveTo>
                  <a:lnTo>
                    <a:pt x="1223834" y="578188"/>
                  </a:lnTo>
                </a:path>
                <a:path extrusionOk="0" h="875664" w="1852295">
                  <a:moveTo>
                    <a:pt x="1240331" y="578188"/>
                  </a:moveTo>
                  <a:lnTo>
                    <a:pt x="1851808" y="875250"/>
                  </a:lnTo>
                </a:path>
              </a:pathLst>
            </a:custGeom>
            <a:noFill/>
            <a:ln cap="flat" cmpd="sng" w="164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9289844" y="5030468"/>
              <a:ext cx="530225" cy="0"/>
            </a:xfrm>
            <a:custGeom>
              <a:rect b="b" l="l" r="r" t="t"/>
              <a:pathLst>
                <a:path extrusionOk="0" h="120000" w="530225">
                  <a:moveTo>
                    <a:pt x="0" y="0"/>
                  </a:moveTo>
                  <a:lnTo>
                    <a:pt x="529633" y="0"/>
                  </a:lnTo>
                </a:path>
              </a:pathLst>
            </a:custGeom>
            <a:noFill/>
            <a:ln cap="flat" cmpd="sng" w="16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5" name="Google Shape;375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94589" y="4378305"/>
              <a:ext cx="115484" cy="11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06176" y="4378305"/>
              <a:ext cx="115484" cy="11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34810" y="4378305"/>
              <a:ext cx="115528" cy="115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28"/>
            <p:cNvSpPr/>
            <p:nvPr/>
          </p:nvSpPr>
          <p:spPr>
            <a:xfrm>
              <a:off x="4254594" y="4386546"/>
              <a:ext cx="99060" cy="99695"/>
            </a:xfrm>
            <a:custGeom>
              <a:rect b="b" l="l" r="r" t="t"/>
              <a:pathLst>
                <a:path extrusionOk="0" h="99695" w="99060">
                  <a:moveTo>
                    <a:pt x="49490" y="0"/>
                  </a:moveTo>
                  <a:lnTo>
                    <a:pt x="0" y="49162"/>
                  </a:lnTo>
                  <a:lnTo>
                    <a:pt x="49490" y="99137"/>
                  </a:lnTo>
                  <a:lnTo>
                    <a:pt x="98980" y="49162"/>
                  </a:lnTo>
                  <a:lnTo>
                    <a:pt x="4949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4254594" y="4386546"/>
              <a:ext cx="99060" cy="99695"/>
            </a:xfrm>
            <a:custGeom>
              <a:rect b="b" l="l" r="r" t="t"/>
              <a:pathLst>
                <a:path extrusionOk="0" h="99695" w="99060">
                  <a:moveTo>
                    <a:pt x="49490" y="0"/>
                  </a:moveTo>
                  <a:lnTo>
                    <a:pt x="98980" y="49162"/>
                  </a:lnTo>
                  <a:lnTo>
                    <a:pt x="49490" y="99137"/>
                  </a:lnTo>
                  <a:lnTo>
                    <a:pt x="0" y="49162"/>
                  </a:lnTo>
                  <a:lnTo>
                    <a:pt x="49490" y="0"/>
                  </a:lnTo>
                  <a:close/>
                </a:path>
              </a:pathLst>
            </a:custGeom>
            <a:noFill/>
            <a:ln cap="flat" cmpd="sng" w="1647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0" name="Google Shape;380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74987" y="4378305"/>
              <a:ext cx="115462" cy="11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1" name="Google Shape;381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86684" y="4378305"/>
              <a:ext cx="115462" cy="11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" name="Google Shape;382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115318" y="4378305"/>
              <a:ext cx="115462" cy="11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726795" y="4378305"/>
              <a:ext cx="115462" cy="11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38933" y="4378305"/>
              <a:ext cx="115462" cy="115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" name="Google Shape;385;p28"/>
            <p:cNvSpPr/>
            <p:nvPr/>
          </p:nvSpPr>
          <p:spPr>
            <a:xfrm>
              <a:off x="7975368" y="4386546"/>
              <a:ext cx="99695" cy="99695"/>
            </a:xfrm>
            <a:custGeom>
              <a:rect b="b" l="l" r="r" t="t"/>
              <a:pathLst>
                <a:path extrusionOk="0" h="99695" w="99695">
                  <a:moveTo>
                    <a:pt x="49490" y="0"/>
                  </a:moveTo>
                  <a:lnTo>
                    <a:pt x="0" y="49162"/>
                  </a:lnTo>
                  <a:lnTo>
                    <a:pt x="49490" y="99137"/>
                  </a:lnTo>
                  <a:lnTo>
                    <a:pt x="99420" y="49162"/>
                  </a:lnTo>
                  <a:lnTo>
                    <a:pt x="4949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8"/>
            <p:cNvSpPr/>
            <p:nvPr/>
          </p:nvSpPr>
          <p:spPr>
            <a:xfrm>
              <a:off x="7975368" y="4386546"/>
              <a:ext cx="99695" cy="99695"/>
            </a:xfrm>
            <a:custGeom>
              <a:rect b="b" l="l" r="r" t="t"/>
              <a:pathLst>
                <a:path extrusionOk="0" h="99695" w="99695">
                  <a:moveTo>
                    <a:pt x="49490" y="0"/>
                  </a:moveTo>
                  <a:lnTo>
                    <a:pt x="99420" y="49162"/>
                  </a:lnTo>
                  <a:lnTo>
                    <a:pt x="49490" y="99137"/>
                  </a:lnTo>
                  <a:lnTo>
                    <a:pt x="0" y="49162"/>
                  </a:lnTo>
                  <a:lnTo>
                    <a:pt x="49490" y="0"/>
                  </a:lnTo>
                  <a:close/>
                </a:path>
              </a:pathLst>
            </a:custGeom>
            <a:noFill/>
            <a:ln cap="flat" cmpd="sng" w="1647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7" name="Google Shape;387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79264" y="4378305"/>
              <a:ext cx="115462" cy="11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p2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07238" y="4378305"/>
              <a:ext cx="116122" cy="11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19375" y="4378305"/>
              <a:ext cx="115462" cy="115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0" name="Google Shape;390;p28"/>
            <p:cNvSpPr/>
            <p:nvPr/>
          </p:nvSpPr>
          <p:spPr>
            <a:xfrm>
              <a:off x="2394582" y="4972915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82503" y="0"/>
                  </a:moveTo>
                  <a:lnTo>
                    <a:pt x="0" y="0"/>
                  </a:lnTo>
                  <a:lnTo>
                    <a:pt x="0" y="82222"/>
                  </a:lnTo>
                  <a:lnTo>
                    <a:pt x="82503" y="82222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2394582" y="4972915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0" y="82222"/>
                  </a:moveTo>
                  <a:lnTo>
                    <a:pt x="82503" y="82222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222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3006169" y="4972915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82503" y="0"/>
                  </a:moveTo>
                  <a:lnTo>
                    <a:pt x="0" y="0"/>
                  </a:lnTo>
                  <a:lnTo>
                    <a:pt x="0" y="82222"/>
                  </a:lnTo>
                  <a:lnTo>
                    <a:pt x="82503" y="82222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8"/>
            <p:cNvSpPr/>
            <p:nvPr/>
          </p:nvSpPr>
          <p:spPr>
            <a:xfrm>
              <a:off x="3006169" y="4972915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0" y="82222"/>
                  </a:moveTo>
                  <a:lnTo>
                    <a:pt x="82503" y="82222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222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8"/>
            <p:cNvSpPr/>
            <p:nvPr/>
          </p:nvSpPr>
          <p:spPr>
            <a:xfrm>
              <a:off x="3634781" y="4675322"/>
              <a:ext cx="82550" cy="83185"/>
            </a:xfrm>
            <a:custGeom>
              <a:rect b="b" l="l" r="r" t="t"/>
              <a:pathLst>
                <a:path extrusionOk="0" h="83185" w="82550">
                  <a:moveTo>
                    <a:pt x="82503" y="0"/>
                  </a:moveTo>
                  <a:lnTo>
                    <a:pt x="0" y="0"/>
                  </a:lnTo>
                  <a:lnTo>
                    <a:pt x="0" y="82753"/>
                  </a:lnTo>
                  <a:lnTo>
                    <a:pt x="82503" y="82753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8"/>
            <p:cNvSpPr/>
            <p:nvPr/>
          </p:nvSpPr>
          <p:spPr>
            <a:xfrm>
              <a:off x="3634781" y="4675322"/>
              <a:ext cx="82550" cy="83185"/>
            </a:xfrm>
            <a:custGeom>
              <a:rect b="b" l="l" r="r" t="t"/>
              <a:pathLst>
                <a:path extrusionOk="0" h="83185" w="82550">
                  <a:moveTo>
                    <a:pt x="0" y="82753"/>
                  </a:moveTo>
                  <a:lnTo>
                    <a:pt x="82503" y="82753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753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4246456" y="4378195"/>
              <a:ext cx="82550" cy="83185"/>
            </a:xfrm>
            <a:custGeom>
              <a:rect b="b" l="l" r="r" t="t"/>
              <a:pathLst>
                <a:path extrusionOk="0" h="83185" w="82550">
                  <a:moveTo>
                    <a:pt x="82503" y="0"/>
                  </a:moveTo>
                  <a:lnTo>
                    <a:pt x="0" y="0"/>
                  </a:lnTo>
                  <a:lnTo>
                    <a:pt x="0" y="82753"/>
                  </a:lnTo>
                  <a:lnTo>
                    <a:pt x="82503" y="82753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4246456" y="4378195"/>
              <a:ext cx="82550" cy="83185"/>
            </a:xfrm>
            <a:custGeom>
              <a:rect b="b" l="l" r="r" t="t"/>
              <a:pathLst>
                <a:path extrusionOk="0" h="83185" w="82550">
                  <a:moveTo>
                    <a:pt x="0" y="82753"/>
                  </a:moveTo>
                  <a:lnTo>
                    <a:pt x="82503" y="82753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753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8"/>
            <p:cNvSpPr/>
            <p:nvPr/>
          </p:nvSpPr>
          <p:spPr>
            <a:xfrm>
              <a:off x="4875090" y="4097577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82503" y="0"/>
                  </a:moveTo>
                  <a:lnTo>
                    <a:pt x="0" y="0"/>
                  </a:lnTo>
                  <a:lnTo>
                    <a:pt x="0" y="82222"/>
                  </a:lnTo>
                  <a:lnTo>
                    <a:pt x="82503" y="82222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8"/>
            <p:cNvSpPr/>
            <p:nvPr/>
          </p:nvSpPr>
          <p:spPr>
            <a:xfrm>
              <a:off x="4875090" y="4097577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0" y="82222"/>
                  </a:moveTo>
                  <a:lnTo>
                    <a:pt x="82503" y="82222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222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5486567" y="4097577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82503" y="0"/>
                  </a:moveTo>
                  <a:lnTo>
                    <a:pt x="0" y="0"/>
                  </a:lnTo>
                  <a:lnTo>
                    <a:pt x="0" y="82222"/>
                  </a:lnTo>
                  <a:lnTo>
                    <a:pt x="82503" y="82222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8"/>
            <p:cNvSpPr/>
            <p:nvPr/>
          </p:nvSpPr>
          <p:spPr>
            <a:xfrm>
              <a:off x="5486567" y="4097577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0" y="82222"/>
                  </a:moveTo>
                  <a:lnTo>
                    <a:pt x="82503" y="82222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222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6115201" y="4097577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82503" y="0"/>
                  </a:moveTo>
                  <a:lnTo>
                    <a:pt x="0" y="0"/>
                  </a:lnTo>
                  <a:lnTo>
                    <a:pt x="0" y="82222"/>
                  </a:lnTo>
                  <a:lnTo>
                    <a:pt x="82503" y="82222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8"/>
            <p:cNvSpPr/>
            <p:nvPr/>
          </p:nvSpPr>
          <p:spPr>
            <a:xfrm>
              <a:off x="6115201" y="4097577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0" y="82222"/>
                  </a:moveTo>
                  <a:lnTo>
                    <a:pt x="82503" y="82222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222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6726898" y="4097577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82503" y="0"/>
                  </a:moveTo>
                  <a:lnTo>
                    <a:pt x="0" y="0"/>
                  </a:lnTo>
                  <a:lnTo>
                    <a:pt x="0" y="82222"/>
                  </a:lnTo>
                  <a:lnTo>
                    <a:pt x="82503" y="82222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6726898" y="4097577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0" y="82222"/>
                  </a:moveTo>
                  <a:lnTo>
                    <a:pt x="82503" y="82222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222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7339036" y="4097577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82503" y="0"/>
                  </a:moveTo>
                  <a:lnTo>
                    <a:pt x="0" y="0"/>
                  </a:lnTo>
                  <a:lnTo>
                    <a:pt x="0" y="82222"/>
                  </a:lnTo>
                  <a:lnTo>
                    <a:pt x="82503" y="82222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8"/>
            <p:cNvSpPr/>
            <p:nvPr/>
          </p:nvSpPr>
          <p:spPr>
            <a:xfrm>
              <a:off x="7339036" y="4097577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0" y="82222"/>
                  </a:moveTo>
                  <a:lnTo>
                    <a:pt x="82503" y="82222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222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8"/>
            <p:cNvSpPr/>
            <p:nvPr/>
          </p:nvSpPr>
          <p:spPr>
            <a:xfrm>
              <a:off x="7967010" y="4378195"/>
              <a:ext cx="82550" cy="83185"/>
            </a:xfrm>
            <a:custGeom>
              <a:rect b="b" l="l" r="r" t="t"/>
              <a:pathLst>
                <a:path extrusionOk="0" h="83185" w="82550">
                  <a:moveTo>
                    <a:pt x="82503" y="0"/>
                  </a:moveTo>
                  <a:lnTo>
                    <a:pt x="0" y="0"/>
                  </a:lnTo>
                  <a:lnTo>
                    <a:pt x="0" y="82753"/>
                  </a:lnTo>
                  <a:lnTo>
                    <a:pt x="82503" y="82753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8"/>
            <p:cNvSpPr/>
            <p:nvPr/>
          </p:nvSpPr>
          <p:spPr>
            <a:xfrm>
              <a:off x="7967010" y="4378195"/>
              <a:ext cx="82550" cy="83185"/>
            </a:xfrm>
            <a:custGeom>
              <a:rect b="b" l="l" r="r" t="t"/>
              <a:pathLst>
                <a:path extrusionOk="0" h="83185" w="82550">
                  <a:moveTo>
                    <a:pt x="0" y="82753"/>
                  </a:moveTo>
                  <a:lnTo>
                    <a:pt x="82503" y="82753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753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8579147" y="4675322"/>
              <a:ext cx="82550" cy="83185"/>
            </a:xfrm>
            <a:custGeom>
              <a:rect b="b" l="l" r="r" t="t"/>
              <a:pathLst>
                <a:path extrusionOk="0" h="83185" w="82550">
                  <a:moveTo>
                    <a:pt x="82503" y="0"/>
                  </a:moveTo>
                  <a:lnTo>
                    <a:pt x="0" y="0"/>
                  </a:lnTo>
                  <a:lnTo>
                    <a:pt x="0" y="82753"/>
                  </a:lnTo>
                  <a:lnTo>
                    <a:pt x="82503" y="82753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8579147" y="4675322"/>
              <a:ext cx="82550" cy="83185"/>
            </a:xfrm>
            <a:custGeom>
              <a:rect b="b" l="l" r="r" t="t"/>
              <a:pathLst>
                <a:path extrusionOk="0" h="83185" w="82550">
                  <a:moveTo>
                    <a:pt x="0" y="82753"/>
                  </a:moveTo>
                  <a:lnTo>
                    <a:pt x="82503" y="82753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753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9207341" y="4972915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82503" y="0"/>
                  </a:moveTo>
                  <a:lnTo>
                    <a:pt x="0" y="0"/>
                  </a:lnTo>
                  <a:lnTo>
                    <a:pt x="0" y="82222"/>
                  </a:lnTo>
                  <a:lnTo>
                    <a:pt x="82503" y="82222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8"/>
            <p:cNvSpPr/>
            <p:nvPr/>
          </p:nvSpPr>
          <p:spPr>
            <a:xfrm>
              <a:off x="9207341" y="4972915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0" y="82222"/>
                  </a:moveTo>
                  <a:lnTo>
                    <a:pt x="82503" y="82222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222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8"/>
            <p:cNvSpPr/>
            <p:nvPr/>
          </p:nvSpPr>
          <p:spPr>
            <a:xfrm>
              <a:off x="9819478" y="4972915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82503" y="0"/>
                  </a:moveTo>
                  <a:lnTo>
                    <a:pt x="0" y="0"/>
                  </a:lnTo>
                  <a:lnTo>
                    <a:pt x="0" y="82222"/>
                  </a:lnTo>
                  <a:lnTo>
                    <a:pt x="82503" y="82222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8"/>
            <p:cNvSpPr/>
            <p:nvPr/>
          </p:nvSpPr>
          <p:spPr>
            <a:xfrm>
              <a:off x="9819478" y="4972915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0" y="82222"/>
                  </a:moveTo>
                  <a:lnTo>
                    <a:pt x="82503" y="82222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222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6" name="Google Shape;416;p28"/>
          <p:cNvSpPr txBox="1"/>
          <p:nvPr/>
        </p:nvSpPr>
        <p:spPr>
          <a:xfrm>
            <a:off x="2861451" y="5736066"/>
            <a:ext cx="227457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Jan.	Fev.	Mar.	Abr.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8"/>
          <p:cNvSpPr txBox="1"/>
          <p:nvPr/>
        </p:nvSpPr>
        <p:spPr>
          <a:xfrm>
            <a:off x="5341894" y="5736066"/>
            <a:ext cx="4126865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Mai.	Jun.	Jul.	Ago.	Set.	Out.	Nov.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8"/>
          <p:cNvSpPr txBox="1"/>
          <p:nvPr/>
        </p:nvSpPr>
        <p:spPr>
          <a:xfrm>
            <a:off x="9674145" y="5736066"/>
            <a:ext cx="4064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Dez.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8"/>
          <p:cNvSpPr txBox="1"/>
          <p:nvPr/>
        </p:nvSpPr>
        <p:spPr>
          <a:xfrm>
            <a:off x="5672487" y="6000193"/>
            <a:ext cx="972185" cy="2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Períodos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8"/>
          <p:cNvSpPr txBox="1"/>
          <p:nvPr/>
        </p:nvSpPr>
        <p:spPr>
          <a:xfrm rot="-5400000">
            <a:off x="1181674" y="4606653"/>
            <a:ext cx="1317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Quantidades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28"/>
          <p:cNvGrpSpPr/>
          <p:nvPr/>
        </p:nvGrpSpPr>
        <p:grpSpPr>
          <a:xfrm>
            <a:off x="4618621" y="6360068"/>
            <a:ext cx="429895" cy="115156"/>
            <a:chOff x="4618621" y="6360068"/>
            <a:chExt cx="429895" cy="115156"/>
          </a:xfrm>
        </p:grpSpPr>
        <p:sp>
          <p:nvSpPr>
            <p:cNvPr id="422" name="Google Shape;422;p28"/>
            <p:cNvSpPr/>
            <p:nvPr/>
          </p:nvSpPr>
          <p:spPr>
            <a:xfrm>
              <a:off x="4618621" y="6417647"/>
              <a:ext cx="429895" cy="0"/>
            </a:xfrm>
            <a:custGeom>
              <a:rect b="b" l="l" r="r" t="t"/>
              <a:pathLst>
                <a:path extrusionOk="0" h="120000" w="429895">
                  <a:moveTo>
                    <a:pt x="0" y="0"/>
                  </a:moveTo>
                  <a:lnTo>
                    <a:pt x="429573" y="0"/>
                  </a:lnTo>
                </a:path>
              </a:pathLst>
            </a:custGeom>
            <a:noFill/>
            <a:ln cap="flat" cmpd="sng" w="16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3" name="Google Shape;423;p2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75567" y="6360068"/>
              <a:ext cx="115902" cy="1151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4" name="Google Shape;424;p28"/>
          <p:cNvGrpSpPr/>
          <p:nvPr/>
        </p:nvGrpSpPr>
        <p:grpSpPr>
          <a:xfrm>
            <a:off x="6503423" y="6360094"/>
            <a:ext cx="430530" cy="82550"/>
            <a:chOff x="6503423" y="6360094"/>
            <a:chExt cx="430530" cy="82550"/>
          </a:xfrm>
        </p:grpSpPr>
        <p:sp>
          <p:nvSpPr>
            <p:cNvPr id="425" name="Google Shape;425;p28"/>
            <p:cNvSpPr/>
            <p:nvPr/>
          </p:nvSpPr>
          <p:spPr>
            <a:xfrm>
              <a:off x="6503423" y="6417648"/>
              <a:ext cx="430530" cy="0"/>
            </a:xfrm>
            <a:custGeom>
              <a:rect b="b" l="l" r="r" t="t"/>
              <a:pathLst>
                <a:path extrusionOk="0" h="120000" w="430529">
                  <a:moveTo>
                    <a:pt x="0" y="0"/>
                  </a:moveTo>
                  <a:lnTo>
                    <a:pt x="157488" y="0"/>
                  </a:lnTo>
                </a:path>
                <a:path extrusionOk="0" h="120000" w="430529">
                  <a:moveTo>
                    <a:pt x="239991" y="0"/>
                  </a:moveTo>
                  <a:lnTo>
                    <a:pt x="430233" y="0"/>
                  </a:lnTo>
                </a:path>
              </a:pathLst>
            </a:custGeom>
            <a:noFill/>
            <a:ln cap="flat" cmpd="sng" w="16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8"/>
            <p:cNvSpPr/>
            <p:nvPr/>
          </p:nvSpPr>
          <p:spPr>
            <a:xfrm>
              <a:off x="6660912" y="6360094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82503" y="0"/>
                  </a:moveTo>
                  <a:lnTo>
                    <a:pt x="0" y="0"/>
                  </a:lnTo>
                  <a:lnTo>
                    <a:pt x="0" y="82222"/>
                  </a:lnTo>
                  <a:lnTo>
                    <a:pt x="82503" y="82222"/>
                  </a:lnTo>
                  <a:lnTo>
                    <a:pt x="8250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8"/>
            <p:cNvSpPr/>
            <p:nvPr/>
          </p:nvSpPr>
          <p:spPr>
            <a:xfrm>
              <a:off x="6660912" y="6360094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0" y="82222"/>
                  </a:moveTo>
                  <a:lnTo>
                    <a:pt x="82503" y="82222"/>
                  </a:lnTo>
                  <a:lnTo>
                    <a:pt x="82503" y="0"/>
                  </a:lnTo>
                  <a:lnTo>
                    <a:pt x="0" y="0"/>
                  </a:lnTo>
                  <a:lnTo>
                    <a:pt x="0" y="82222"/>
                  </a:lnTo>
                  <a:close/>
                </a:path>
              </a:pathLst>
            </a:custGeom>
            <a:noFill/>
            <a:ln cap="flat" cmpd="sng" w="164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8" name="Google Shape;428;p28"/>
          <p:cNvSpPr txBox="1"/>
          <p:nvPr/>
        </p:nvSpPr>
        <p:spPr>
          <a:xfrm>
            <a:off x="4283700" y="6304350"/>
            <a:ext cx="3854700" cy="205200"/>
          </a:xfrm>
          <a:prstGeom prst="rect">
            <a:avLst/>
          </a:prstGeom>
          <a:noFill/>
          <a:ln cap="flat" cmpd="sng" w="16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0300">
            <a:spAutoFit/>
          </a:bodyPr>
          <a:lstStyle/>
          <a:p>
            <a:pPr indent="0" lvl="0" marL="777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Produção	Vendas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8"/>
          <p:cNvSpPr txBox="1"/>
          <p:nvPr/>
        </p:nvSpPr>
        <p:spPr>
          <a:xfrm>
            <a:off x="466650" y="1225425"/>
            <a:ext cx="114888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-431165" lvl="0" marL="469265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Independente das variações previstas na demanda, se mantém um plano de</a:t>
            </a:r>
            <a:r>
              <a:rPr lang="en-US" sz="1800"/>
              <a:t>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produção com níveis constante.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31165" lvl="0" marL="469265" rtl="0" algn="l">
              <a:lnSpc>
                <a:spcPct val="120000"/>
              </a:lnSpc>
              <a:spcBef>
                <a:spcPts val="25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Quais são os Prós?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32434" lvl="1" marL="9271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⮚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 produção constante permite que os recursos trabalhem mais eficientemente.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8"/>
          <p:cNvSpPr txBox="1"/>
          <p:nvPr/>
        </p:nvSpPr>
        <p:spPr>
          <a:xfrm>
            <a:off x="455218" y="2547937"/>
            <a:ext cx="251460" cy="366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⮚</a:t>
            </a:r>
            <a:endParaRPr sz="22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1" name="Google Shape;431;p28"/>
          <p:cNvSpPr txBox="1"/>
          <p:nvPr/>
        </p:nvSpPr>
        <p:spPr>
          <a:xfrm>
            <a:off x="912418" y="2547937"/>
            <a:ext cx="27381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Quais são os Contra?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8"/>
          <p:cNvSpPr txBox="1"/>
          <p:nvPr/>
        </p:nvSpPr>
        <p:spPr>
          <a:xfrm>
            <a:off x="912418" y="2886519"/>
            <a:ext cx="4034790" cy="282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Custos com estoques.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57200" lvl="0" marL="4699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Produtos perecíveis, vida útil curta.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0015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30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0015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25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0015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20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0015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15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0015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10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9984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99845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37" name="Google Shape;437;p29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0">
            <a:spAutoFit/>
          </a:bodyPr>
          <a:lstStyle/>
          <a:p>
            <a:pPr indent="0" lvl="0" marL="209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Produção casada com a demanda</a:t>
            </a:r>
            <a:endParaRPr/>
          </a:p>
        </p:txBody>
      </p:sp>
      <p:sp>
        <p:nvSpPr>
          <p:cNvPr id="438" name="Google Shape;438;p29"/>
          <p:cNvSpPr txBox="1"/>
          <p:nvPr/>
        </p:nvSpPr>
        <p:spPr>
          <a:xfrm>
            <a:off x="445454" y="1181675"/>
            <a:ext cx="84201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-438150" lvl="0" marL="46990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⮚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Manter um ritmo acompanhando a demanda.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38150" lvl="0" marL="46990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⮚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Quais são os Prós?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38150" lvl="1" marL="92710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SzPts val="1500"/>
              <a:buFont typeface="Noto Sans Symbols"/>
              <a:buChar char="⮚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Evita estoques.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438150" lvl="1" marL="927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⮚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Produtos perecíveis.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501650" lvl="1" marL="9906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500"/>
              <a:buFont typeface="Noto Sans Symbols"/>
              <a:buChar char="⮚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Exigência da presença do consumidor.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9"/>
          <p:cNvSpPr txBox="1"/>
          <p:nvPr/>
        </p:nvSpPr>
        <p:spPr>
          <a:xfrm>
            <a:off x="445439" y="2674111"/>
            <a:ext cx="251460" cy="366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⮚</a:t>
            </a:r>
            <a:endParaRPr sz="22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40" name="Google Shape;440;p29"/>
          <p:cNvSpPr txBox="1"/>
          <p:nvPr/>
        </p:nvSpPr>
        <p:spPr>
          <a:xfrm>
            <a:off x="902957" y="2674111"/>
            <a:ext cx="28701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Quais são os Contras?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1" name="Google Shape;441;p29"/>
          <p:cNvGrpSpPr/>
          <p:nvPr/>
        </p:nvGrpSpPr>
        <p:grpSpPr>
          <a:xfrm>
            <a:off x="2330621" y="4076590"/>
            <a:ext cx="7226519" cy="1696085"/>
            <a:chOff x="2330621" y="4076590"/>
            <a:chExt cx="7226519" cy="1696085"/>
          </a:xfrm>
        </p:grpSpPr>
        <p:sp>
          <p:nvSpPr>
            <p:cNvPr id="442" name="Google Shape;442;p29"/>
            <p:cNvSpPr/>
            <p:nvPr/>
          </p:nvSpPr>
          <p:spPr>
            <a:xfrm>
              <a:off x="2385954" y="4076590"/>
              <a:ext cx="0" cy="1633220"/>
            </a:xfrm>
            <a:custGeom>
              <a:rect b="b" l="l" r="r" t="t"/>
              <a:pathLst>
                <a:path extrusionOk="0" h="1633220" w="120000">
                  <a:moveTo>
                    <a:pt x="0" y="1117178"/>
                  </a:moveTo>
                  <a:lnTo>
                    <a:pt x="0" y="1632601"/>
                  </a:lnTo>
                </a:path>
                <a:path extrusionOk="0" h="1633220" w="120000">
                  <a:moveTo>
                    <a:pt x="0" y="0"/>
                  </a:moveTo>
                  <a:lnTo>
                    <a:pt x="0" y="1038274"/>
                  </a:lnTo>
                </a:path>
              </a:pathLst>
            </a:custGeom>
            <a:noFill/>
            <a:ln cap="flat" cmpd="sng" w="15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2338526" y="4076590"/>
              <a:ext cx="7194550" cy="1696085"/>
            </a:xfrm>
            <a:custGeom>
              <a:rect b="b" l="l" r="r" t="t"/>
              <a:pathLst>
                <a:path extrusionOk="0" h="1696085" w="7194550">
                  <a:moveTo>
                    <a:pt x="0" y="1648376"/>
                  </a:moveTo>
                  <a:lnTo>
                    <a:pt x="31618" y="1648376"/>
                  </a:lnTo>
                </a:path>
                <a:path extrusionOk="0" h="1696085" w="7194550">
                  <a:moveTo>
                    <a:pt x="0" y="1378575"/>
                  </a:moveTo>
                  <a:lnTo>
                    <a:pt x="31618" y="1378575"/>
                  </a:lnTo>
                </a:path>
                <a:path extrusionOk="0" h="1696085" w="7194550">
                  <a:moveTo>
                    <a:pt x="0" y="824209"/>
                  </a:moveTo>
                  <a:lnTo>
                    <a:pt x="31618" y="824209"/>
                  </a:lnTo>
                </a:path>
                <a:path extrusionOk="0" h="1696085" w="7194550">
                  <a:moveTo>
                    <a:pt x="0" y="554977"/>
                  </a:moveTo>
                  <a:lnTo>
                    <a:pt x="31618" y="554977"/>
                  </a:lnTo>
                </a:path>
                <a:path extrusionOk="0" h="1696085" w="7194550">
                  <a:moveTo>
                    <a:pt x="0" y="269379"/>
                  </a:moveTo>
                  <a:lnTo>
                    <a:pt x="31618" y="269379"/>
                  </a:lnTo>
                </a:path>
                <a:path extrusionOk="0" h="1696085" w="7194550">
                  <a:moveTo>
                    <a:pt x="0" y="0"/>
                  </a:moveTo>
                  <a:lnTo>
                    <a:pt x="31618" y="0"/>
                  </a:lnTo>
                </a:path>
                <a:path extrusionOk="0" h="1696085" w="7194550">
                  <a:moveTo>
                    <a:pt x="47428" y="1648376"/>
                  </a:moveTo>
                  <a:lnTo>
                    <a:pt x="7178657" y="1648376"/>
                  </a:lnTo>
                </a:path>
                <a:path extrusionOk="0" h="1696085" w="7194550">
                  <a:moveTo>
                    <a:pt x="47428" y="1695723"/>
                  </a:moveTo>
                  <a:lnTo>
                    <a:pt x="47428" y="1664151"/>
                  </a:lnTo>
                </a:path>
                <a:path extrusionOk="0" h="1696085" w="7194550">
                  <a:moveTo>
                    <a:pt x="649362" y="1695723"/>
                  </a:moveTo>
                  <a:lnTo>
                    <a:pt x="649362" y="1664151"/>
                  </a:lnTo>
                </a:path>
                <a:path extrusionOk="0" h="1696085" w="7194550">
                  <a:moveTo>
                    <a:pt x="1235973" y="1695723"/>
                  </a:moveTo>
                  <a:lnTo>
                    <a:pt x="1235973" y="1664151"/>
                  </a:lnTo>
                </a:path>
                <a:path extrusionOk="0" h="1696085" w="7194550">
                  <a:moveTo>
                    <a:pt x="1837844" y="1695723"/>
                  </a:moveTo>
                  <a:lnTo>
                    <a:pt x="1837844" y="1664151"/>
                  </a:lnTo>
                </a:path>
                <a:path extrusionOk="0" h="1696085" w="7194550">
                  <a:moveTo>
                    <a:pt x="2424476" y="1695723"/>
                  </a:moveTo>
                  <a:lnTo>
                    <a:pt x="2424476" y="1664151"/>
                  </a:lnTo>
                </a:path>
                <a:path extrusionOk="0" h="1696085" w="7194550">
                  <a:moveTo>
                    <a:pt x="3026495" y="1695723"/>
                  </a:moveTo>
                  <a:lnTo>
                    <a:pt x="3026495" y="1664151"/>
                  </a:lnTo>
                </a:path>
                <a:path extrusionOk="0" h="1696085" w="7194550">
                  <a:moveTo>
                    <a:pt x="3628936" y="1695723"/>
                  </a:moveTo>
                  <a:lnTo>
                    <a:pt x="3628936" y="1664151"/>
                  </a:lnTo>
                </a:path>
                <a:path extrusionOk="0" h="1696085" w="7194550">
                  <a:moveTo>
                    <a:pt x="4214935" y="1695723"/>
                  </a:moveTo>
                  <a:lnTo>
                    <a:pt x="4214935" y="1664151"/>
                  </a:lnTo>
                </a:path>
                <a:path extrusionOk="0" h="1696085" w="7194550">
                  <a:moveTo>
                    <a:pt x="4817376" y="1695723"/>
                  </a:moveTo>
                  <a:lnTo>
                    <a:pt x="4817376" y="1664151"/>
                  </a:lnTo>
                </a:path>
                <a:path extrusionOk="0" h="1696085" w="7194550">
                  <a:moveTo>
                    <a:pt x="5403586" y="1695723"/>
                  </a:moveTo>
                  <a:lnTo>
                    <a:pt x="5403586" y="1664151"/>
                  </a:lnTo>
                </a:path>
                <a:path extrusionOk="0" h="1696085" w="7194550">
                  <a:moveTo>
                    <a:pt x="6006026" y="1695723"/>
                  </a:moveTo>
                  <a:lnTo>
                    <a:pt x="6006026" y="1664151"/>
                  </a:lnTo>
                </a:path>
                <a:path extrusionOk="0" h="1696085" w="7194550">
                  <a:moveTo>
                    <a:pt x="6592025" y="1695723"/>
                  </a:moveTo>
                  <a:lnTo>
                    <a:pt x="6592025" y="1664151"/>
                  </a:lnTo>
                </a:path>
                <a:path extrusionOk="0" h="1696085" w="7194550">
                  <a:moveTo>
                    <a:pt x="7194466" y="1695723"/>
                  </a:moveTo>
                  <a:lnTo>
                    <a:pt x="7194466" y="1664151"/>
                  </a:lnTo>
                </a:path>
              </a:pathLst>
            </a:custGeom>
            <a:noFill/>
            <a:ln cap="flat" cmpd="sng" w="15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2409687" y="5162195"/>
              <a:ext cx="523240" cy="15875"/>
            </a:xfrm>
            <a:custGeom>
              <a:rect b="b" l="l" r="r" t="t"/>
              <a:pathLst>
                <a:path extrusionOk="0" h="15875" w="523239">
                  <a:moveTo>
                    <a:pt x="0" y="15800"/>
                  </a:moveTo>
                  <a:lnTo>
                    <a:pt x="522848" y="15800"/>
                  </a:lnTo>
                  <a:lnTo>
                    <a:pt x="522848" y="0"/>
                  </a:lnTo>
                  <a:lnTo>
                    <a:pt x="0" y="0"/>
                  </a:lnTo>
                  <a:lnTo>
                    <a:pt x="0" y="15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2987889" y="4345970"/>
              <a:ext cx="1759585" cy="824230"/>
            </a:xfrm>
            <a:custGeom>
              <a:rect b="b" l="l" r="r" t="t"/>
              <a:pathLst>
                <a:path extrusionOk="0" h="824229" w="1759585">
                  <a:moveTo>
                    <a:pt x="0" y="824125"/>
                  </a:moveTo>
                  <a:lnTo>
                    <a:pt x="570801" y="554829"/>
                  </a:lnTo>
                </a:path>
                <a:path extrusionOk="0" h="824229" w="1759585">
                  <a:moveTo>
                    <a:pt x="586610" y="554829"/>
                  </a:moveTo>
                  <a:lnTo>
                    <a:pt x="1172672" y="285597"/>
                  </a:lnTo>
                </a:path>
                <a:path extrusionOk="0" h="824229" w="1759585">
                  <a:moveTo>
                    <a:pt x="1188481" y="285597"/>
                  </a:moveTo>
                  <a:lnTo>
                    <a:pt x="1759304" y="0"/>
                  </a:lnTo>
                </a:path>
              </a:pathLst>
            </a:custGeom>
            <a:noFill/>
            <a:ln cap="flat" cmpd="sng" w="15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4786833" y="4338078"/>
              <a:ext cx="2313940" cy="15875"/>
            </a:xfrm>
            <a:custGeom>
              <a:rect b="b" l="l" r="r" t="t"/>
              <a:pathLst>
                <a:path extrusionOk="0" h="15875" w="2313940">
                  <a:moveTo>
                    <a:pt x="522744" y="0"/>
                  </a:moveTo>
                  <a:lnTo>
                    <a:pt x="0" y="0"/>
                  </a:lnTo>
                  <a:lnTo>
                    <a:pt x="0" y="15798"/>
                  </a:lnTo>
                  <a:lnTo>
                    <a:pt x="522744" y="15798"/>
                  </a:lnTo>
                  <a:lnTo>
                    <a:pt x="522744" y="0"/>
                  </a:lnTo>
                  <a:close/>
                </a:path>
                <a:path extrusionOk="0" h="15875" w="2313940">
                  <a:moveTo>
                    <a:pt x="1125181" y="0"/>
                  </a:moveTo>
                  <a:lnTo>
                    <a:pt x="601814" y="0"/>
                  </a:lnTo>
                  <a:lnTo>
                    <a:pt x="601814" y="15798"/>
                  </a:lnTo>
                  <a:lnTo>
                    <a:pt x="1125181" y="15798"/>
                  </a:lnTo>
                  <a:lnTo>
                    <a:pt x="1125181" y="0"/>
                  </a:lnTo>
                  <a:close/>
                </a:path>
                <a:path extrusionOk="0" h="15875" w="2313940">
                  <a:moveTo>
                    <a:pt x="1711401" y="0"/>
                  </a:moveTo>
                  <a:lnTo>
                    <a:pt x="1204252" y="0"/>
                  </a:lnTo>
                  <a:lnTo>
                    <a:pt x="1204252" y="15798"/>
                  </a:lnTo>
                  <a:lnTo>
                    <a:pt x="1711401" y="15798"/>
                  </a:lnTo>
                  <a:lnTo>
                    <a:pt x="1711401" y="0"/>
                  </a:lnTo>
                  <a:close/>
                </a:path>
                <a:path extrusionOk="0" h="15875" w="2313940">
                  <a:moveTo>
                    <a:pt x="2313838" y="0"/>
                  </a:moveTo>
                  <a:lnTo>
                    <a:pt x="1790458" y="0"/>
                  </a:lnTo>
                  <a:lnTo>
                    <a:pt x="1790458" y="15798"/>
                  </a:lnTo>
                  <a:lnTo>
                    <a:pt x="2313838" y="15798"/>
                  </a:lnTo>
                  <a:lnTo>
                    <a:pt x="23138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7155902" y="4345970"/>
              <a:ext cx="1758950" cy="824230"/>
            </a:xfrm>
            <a:custGeom>
              <a:rect b="b" l="l" r="r" t="t"/>
              <a:pathLst>
                <a:path extrusionOk="0" h="824229" w="1758950">
                  <a:moveTo>
                    <a:pt x="0" y="0"/>
                  </a:moveTo>
                  <a:lnTo>
                    <a:pt x="570400" y="285597"/>
                  </a:lnTo>
                </a:path>
                <a:path extrusionOk="0" h="824229" w="1758950">
                  <a:moveTo>
                    <a:pt x="586209" y="285597"/>
                  </a:moveTo>
                  <a:lnTo>
                    <a:pt x="1172841" y="554829"/>
                  </a:lnTo>
                </a:path>
                <a:path extrusionOk="0" h="824229" w="1758950">
                  <a:moveTo>
                    <a:pt x="1188650" y="554829"/>
                  </a:moveTo>
                  <a:lnTo>
                    <a:pt x="1758840" y="824125"/>
                  </a:lnTo>
                </a:path>
              </a:pathLst>
            </a:custGeom>
            <a:noFill/>
            <a:ln cap="flat" cmpd="sng" w="15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2409685" y="5162206"/>
              <a:ext cx="7068184" cy="15875"/>
            </a:xfrm>
            <a:custGeom>
              <a:rect b="b" l="l" r="r" t="t"/>
              <a:pathLst>
                <a:path extrusionOk="0" h="15875" w="7068184">
                  <a:moveTo>
                    <a:pt x="522846" y="0"/>
                  </a:moveTo>
                  <a:lnTo>
                    <a:pt x="0" y="0"/>
                  </a:lnTo>
                  <a:lnTo>
                    <a:pt x="0" y="15798"/>
                  </a:lnTo>
                  <a:lnTo>
                    <a:pt x="522846" y="15798"/>
                  </a:lnTo>
                  <a:lnTo>
                    <a:pt x="522846" y="0"/>
                  </a:lnTo>
                  <a:close/>
                </a:path>
                <a:path extrusionOk="0" h="15875" w="7068184">
                  <a:moveTo>
                    <a:pt x="7068071" y="0"/>
                  </a:moveTo>
                  <a:lnTo>
                    <a:pt x="6545212" y="0"/>
                  </a:lnTo>
                  <a:lnTo>
                    <a:pt x="6545212" y="15798"/>
                  </a:lnTo>
                  <a:lnTo>
                    <a:pt x="7068071" y="15798"/>
                  </a:lnTo>
                  <a:lnTo>
                    <a:pt x="706807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9"/>
            <p:cNvSpPr/>
            <p:nvPr/>
          </p:nvSpPr>
          <p:spPr>
            <a:xfrm>
              <a:off x="2987889" y="4345970"/>
              <a:ext cx="1759585" cy="824230"/>
            </a:xfrm>
            <a:custGeom>
              <a:rect b="b" l="l" r="r" t="t"/>
              <a:pathLst>
                <a:path extrusionOk="0" h="824229" w="1759585">
                  <a:moveTo>
                    <a:pt x="0" y="824125"/>
                  </a:moveTo>
                  <a:lnTo>
                    <a:pt x="570801" y="554829"/>
                  </a:lnTo>
                </a:path>
                <a:path extrusionOk="0" h="824229" w="1759585">
                  <a:moveTo>
                    <a:pt x="586610" y="554829"/>
                  </a:moveTo>
                  <a:lnTo>
                    <a:pt x="1172672" y="285597"/>
                  </a:lnTo>
                </a:path>
                <a:path extrusionOk="0" h="824229" w="1759585">
                  <a:moveTo>
                    <a:pt x="1188481" y="285597"/>
                  </a:moveTo>
                  <a:lnTo>
                    <a:pt x="1759304" y="0"/>
                  </a:lnTo>
                </a:path>
              </a:pathLst>
            </a:custGeom>
            <a:noFill/>
            <a:ln cap="flat" cmpd="sng" w="15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9"/>
            <p:cNvSpPr/>
            <p:nvPr/>
          </p:nvSpPr>
          <p:spPr>
            <a:xfrm>
              <a:off x="4786833" y="4338078"/>
              <a:ext cx="2313940" cy="15875"/>
            </a:xfrm>
            <a:custGeom>
              <a:rect b="b" l="l" r="r" t="t"/>
              <a:pathLst>
                <a:path extrusionOk="0" h="15875" w="2313940">
                  <a:moveTo>
                    <a:pt x="522744" y="0"/>
                  </a:moveTo>
                  <a:lnTo>
                    <a:pt x="0" y="0"/>
                  </a:lnTo>
                  <a:lnTo>
                    <a:pt x="0" y="15798"/>
                  </a:lnTo>
                  <a:lnTo>
                    <a:pt x="522744" y="15798"/>
                  </a:lnTo>
                  <a:lnTo>
                    <a:pt x="522744" y="0"/>
                  </a:lnTo>
                  <a:close/>
                </a:path>
                <a:path extrusionOk="0" h="15875" w="2313940">
                  <a:moveTo>
                    <a:pt x="1125181" y="0"/>
                  </a:moveTo>
                  <a:lnTo>
                    <a:pt x="601814" y="0"/>
                  </a:lnTo>
                  <a:lnTo>
                    <a:pt x="601814" y="15798"/>
                  </a:lnTo>
                  <a:lnTo>
                    <a:pt x="1125181" y="15798"/>
                  </a:lnTo>
                  <a:lnTo>
                    <a:pt x="1125181" y="0"/>
                  </a:lnTo>
                  <a:close/>
                </a:path>
                <a:path extrusionOk="0" h="15875" w="2313940">
                  <a:moveTo>
                    <a:pt x="1711401" y="0"/>
                  </a:moveTo>
                  <a:lnTo>
                    <a:pt x="1204252" y="0"/>
                  </a:lnTo>
                  <a:lnTo>
                    <a:pt x="1204252" y="15798"/>
                  </a:lnTo>
                  <a:lnTo>
                    <a:pt x="1711401" y="15798"/>
                  </a:lnTo>
                  <a:lnTo>
                    <a:pt x="1711401" y="0"/>
                  </a:lnTo>
                  <a:close/>
                </a:path>
                <a:path extrusionOk="0" h="15875" w="2313940">
                  <a:moveTo>
                    <a:pt x="2313838" y="0"/>
                  </a:moveTo>
                  <a:lnTo>
                    <a:pt x="1790458" y="0"/>
                  </a:lnTo>
                  <a:lnTo>
                    <a:pt x="1790458" y="15798"/>
                  </a:lnTo>
                  <a:lnTo>
                    <a:pt x="2313838" y="15798"/>
                  </a:lnTo>
                  <a:lnTo>
                    <a:pt x="23138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7155902" y="4345970"/>
              <a:ext cx="1758950" cy="824230"/>
            </a:xfrm>
            <a:custGeom>
              <a:rect b="b" l="l" r="r" t="t"/>
              <a:pathLst>
                <a:path extrusionOk="0" h="824229" w="1758950">
                  <a:moveTo>
                    <a:pt x="0" y="0"/>
                  </a:moveTo>
                  <a:lnTo>
                    <a:pt x="570400" y="285597"/>
                  </a:lnTo>
                </a:path>
                <a:path extrusionOk="0" h="824229" w="1758950">
                  <a:moveTo>
                    <a:pt x="586209" y="285597"/>
                  </a:moveTo>
                  <a:lnTo>
                    <a:pt x="1172841" y="554829"/>
                  </a:lnTo>
                </a:path>
                <a:path extrusionOk="0" h="824229" w="1758950">
                  <a:moveTo>
                    <a:pt x="1188650" y="554829"/>
                  </a:moveTo>
                  <a:lnTo>
                    <a:pt x="1758840" y="824125"/>
                  </a:lnTo>
                </a:path>
              </a:pathLst>
            </a:custGeom>
            <a:noFill/>
            <a:ln cap="flat" cmpd="sng" w="15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8954900" y="5162195"/>
              <a:ext cx="523240" cy="15875"/>
            </a:xfrm>
            <a:custGeom>
              <a:rect b="b" l="l" r="r" t="t"/>
              <a:pathLst>
                <a:path extrusionOk="0" h="15875" w="523240">
                  <a:moveTo>
                    <a:pt x="0" y="15800"/>
                  </a:moveTo>
                  <a:lnTo>
                    <a:pt x="522865" y="15800"/>
                  </a:lnTo>
                  <a:lnTo>
                    <a:pt x="522865" y="0"/>
                  </a:lnTo>
                  <a:lnTo>
                    <a:pt x="0" y="0"/>
                  </a:lnTo>
                  <a:lnTo>
                    <a:pt x="0" y="15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2330621" y="5114865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79065" y="0"/>
                  </a:moveTo>
                  <a:lnTo>
                    <a:pt x="0" y="0"/>
                  </a:lnTo>
                  <a:lnTo>
                    <a:pt x="0" y="78903"/>
                  </a:lnTo>
                  <a:lnTo>
                    <a:pt x="79065" y="78903"/>
                  </a:lnTo>
                  <a:lnTo>
                    <a:pt x="7906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2330621" y="5114865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0" y="78903"/>
                  </a:moveTo>
                  <a:lnTo>
                    <a:pt x="79065" y="78903"/>
                  </a:lnTo>
                  <a:lnTo>
                    <a:pt x="79065" y="0"/>
                  </a:lnTo>
                  <a:lnTo>
                    <a:pt x="0" y="0"/>
                  </a:lnTo>
                  <a:lnTo>
                    <a:pt x="0" y="7890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2932535" y="5114865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79065" y="0"/>
                  </a:moveTo>
                  <a:lnTo>
                    <a:pt x="0" y="0"/>
                  </a:lnTo>
                  <a:lnTo>
                    <a:pt x="0" y="78903"/>
                  </a:lnTo>
                  <a:lnTo>
                    <a:pt x="79065" y="78903"/>
                  </a:lnTo>
                  <a:lnTo>
                    <a:pt x="7906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2932535" y="5114865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0" y="78903"/>
                  </a:moveTo>
                  <a:lnTo>
                    <a:pt x="79065" y="78903"/>
                  </a:lnTo>
                  <a:lnTo>
                    <a:pt x="79065" y="0"/>
                  </a:lnTo>
                  <a:lnTo>
                    <a:pt x="0" y="0"/>
                  </a:lnTo>
                  <a:lnTo>
                    <a:pt x="0" y="7890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3519145" y="4845060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79065" y="0"/>
                  </a:moveTo>
                  <a:lnTo>
                    <a:pt x="0" y="0"/>
                  </a:lnTo>
                  <a:lnTo>
                    <a:pt x="0" y="79413"/>
                  </a:lnTo>
                  <a:lnTo>
                    <a:pt x="79065" y="79413"/>
                  </a:lnTo>
                  <a:lnTo>
                    <a:pt x="7906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3519145" y="4845060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0" y="79413"/>
                  </a:moveTo>
                  <a:lnTo>
                    <a:pt x="79065" y="79413"/>
                  </a:lnTo>
                  <a:lnTo>
                    <a:pt x="79065" y="0"/>
                  </a:lnTo>
                  <a:lnTo>
                    <a:pt x="0" y="0"/>
                  </a:lnTo>
                  <a:lnTo>
                    <a:pt x="0" y="7941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4121143" y="4575785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79065" y="0"/>
                  </a:moveTo>
                  <a:lnTo>
                    <a:pt x="0" y="0"/>
                  </a:lnTo>
                  <a:lnTo>
                    <a:pt x="0" y="79413"/>
                  </a:lnTo>
                  <a:lnTo>
                    <a:pt x="79065" y="79413"/>
                  </a:lnTo>
                  <a:lnTo>
                    <a:pt x="7906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4121143" y="4575785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0" y="79413"/>
                  </a:moveTo>
                  <a:lnTo>
                    <a:pt x="79065" y="79413"/>
                  </a:lnTo>
                  <a:lnTo>
                    <a:pt x="79065" y="0"/>
                  </a:lnTo>
                  <a:lnTo>
                    <a:pt x="0" y="0"/>
                  </a:lnTo>
                  <a:lnTo>
                    <a:pt x="0" y="7941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4707775" y="4290778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79065" y="0"/>
                  </a:moveTo>
                  <a:lnTo>
                    <a:pt x="0" y="0"/>
                  </a:lnTo>
                  <a:lnTo>
                    <a:pt x="0" y="79413"/>
                  </a:lnTo>
                  <a:lnTo>
                    <a:pt x="79065" y="79413"/>
                  </a:lnTo>
                  <a:lnTo>
                    <a:pt x="7906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4707775" y="4290778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0" y="79413"/>
                  </a:moveTo>
                  <a:lnTo>
                    <a:pt x="79065" y="79413"/>
                  </a:lnTo>
                  <a:lnTo>
                    <a:pt x="79065" y="0"/>
                  </a:lnTo>
                  <a:lnTo>
                    <a:pt x="0" y="0"/>
                  </a:lnTo>
                  <a:lnTo>
                    <a:pt x="0" y="7941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5309583" y="4290778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79065" y="0"/>
                  </a:moveTo>
                  <a:lnTo>
                    <a:pt x="0" y="0"/>
                  </a:lnTo>
                  <a:lnTo>
                    <a:pt x="0" y="79413"/>
                  </a:lnTo>
                  <a:lnTo>
                    <a:pt x="79065" y="79413"/>
                  </a:lnTo>
                  <a:lnTo>
                    <a:pt x="7906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5309583" y="4290778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0" y="79413"/>
                  </a:moveTo>
                  <a:lnTo>
                    <a:pt x="79065" y="79413"/>
                  </a:lnTo>
                  <a:lnTo>
                    <a:pt x="79065" y="0"/>
                  </a:lnTo>
                  <a:lnTo>
                    <a:pt x="0" y="0"/>
                  </a:lnTo>
                  <a:lnTo>
                    <a:pt x="0" y="7941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5912024" y="4290778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79065" y="0"/>
                  </a:moveTo>
                  <a:lnTo>
                    <a:pt x="0" y="0"/>
                  </a:lnTo>
                  <a:lnTo>
                    <a:pt x="0" y="79413"/>
                  </a:lnTo>
                  <a:lnTo>
                    <a:pt x="79065" y="79413"/>
                  </a:lnTo>
                  <a:lnTo>
                    <a:pt x="7906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5912024" y="4290778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0" y="79413"/>
                  </a:moveTo>
                  <a:lnTo>
                    <a:pt x="79065" y="79413"/>
                  </a:lnTo>
                  <a:lnTo>
                    <a:pt x="79065" y="0"/>
                  </a:lnTo>
                  <a:lnTo>
                    <a:pt x="0" y="0"/>
                  </a:lnTo>
                  <a:lnTo>
                    <a:pt x="0" y="7941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6498234" y="4290778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79065" y="0"/>
                  </a:moveTo>
                  <a:lnTo>
                    <a:pt x="0" y="0"/>
                  </a:lnTo>
                  <a:lnTo>
                    <a:pt x="0" y="79413"/>
                  </a:lnTo>
                  <a:lnTo>
                    <a:pt x="79065" y="79413"/>
                  </a:lnTo>
                  <a:lnTo>
                    <a:pt x="7906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6498234" y="4290778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0" y="79413"/>
                  </a:moveTo>
                  <a:lnTo>
                    <a:pt x="79065" y="79413"/>
                  </a:lnTo>
                  <a:lnTo>
                    <a:pt x="79065" y="0"/>
                  </a:lnTo>
                  <a:lnTo>
                    <a:pt x="0" y="0"/>
                  </a:lnTo>
                  <a:lnTo>
                    <a:pt x="0" y="7941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7100675" y="4290778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79065" y="0"/>
                  </a:moveTo>
                  <a:lnTo>
                    <a:pt x="0" y="0"/>
                  </a:lnTo>
                  <a:lnTo>
                    <a:pt x="0" y="79413"/>
                  </a:lnTo>
                  <a:lnTo>
                    <a:pt x="79065" y="79413"/>
                  </a:lnTo>
                  <a:lnTo>
                    <a:pt x="7906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7100675" y="4290778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0" y="79413"/>
                  </a:moveTo>
                  <a:lnTo>
                    <a:pt x="79065" y="79413"/>
                  </a:lnTo>
                  <a:lnTo>
                    <a:pt x="79065" y="0"/>
                  </a:lnTo>
                  <a:lnTo>
                    <a:pt x="0" y="0"/>
                  </a:lnTo>
                  <a:lnTo>
                    <a:pt x="0" y="7941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7686674" y="4575785"/>
              <a:ext cx="80010" cy="80010"/>
            </a:xfrm>
            <a:custGeom>
              <a:rect b="b" l="l" r="r" t="t"/>
              <a:pathLst>
                <a:path extrusionOk="0" h="80010" w="80009">
                  <a:moveTo>
                    <a:pt x="79575" y="0"/>
                  </a:moveTo>
                  <a:lnTo>
                    <a:pt x="0" y="0"/>
                  </a:lnTo>
                  <a:lnTo>
                    <a:pt x="0" y="79413"/>
                  </a:lnTo>
                  <a:lnTo>
                    <a:pt x="79575" y="79413"/>
                  </a:lnTo>
                  <a:lnTo>
                    <a:pt x="7957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7686674" y="4575785"/>
              <a:ext cx="80010" cy="80010"/>
            </a:xfrm>
            <a:custGeom>
              <a:rect b="b" l="l" r="r" t="t"/>
              <a:pathLst>
                <a:path extrusionOk="0" h="80010" w="80009">
                  <a:moveTo>
                    <a:pt x="0" y="79413"/>
                  </a:moveTo>
                  <a:lnTo>
                    <a:pt x="79575" y="79413"/>
                  </a:lnTo>
                  <a:lnTo>
                    <a:pt x="79575" y="0"/>
                  </a:lnTo>
                  <a:lnTo>
                    <a:pt x="0" y="0"/>
                  </a:lnTo>
                  <a:lnTo>
                    <a:pt x="0" y="7941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8289115" y="4845060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79065" y="0"/>
                  </a:moveTo>
                  <a:lnTo>
                    <a:pt x="0" y="0"/>
                  </a:lnTo>
                  <a:lnTo>
                    <a:pt x="0" y="79413"/>
                  </a:lnTo>
                  <a:lnTo>
                    <a:pt x="79065" y="79413"/>
                  </a:lnTo>
                  <a:lnTo>
                    <a:pt x="7906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8289115" y="4845060"/>
              <a:ext cx="79375" cy="80010"/>
            </a:xfrm>
            <a:custGeom>
              <a:rect b="b" l="l" r="r" t="t"/>
              <a:pathLst>
                <a:path extrusionOk="0" h="80010" w="79375">
                  <a:moveTo>
                    <a:pt x="0" y="79413"/>
                  </a:moveTo>
                  <a:lnTo>
                    <a:pt x="79065" y="79413"/>
                  </a:lnTo>
                  <a:lnTo>
                    <a:pt x="79065" y="0"/>
                  </a:lnTo>
                  <a:lnTo>
                    <a:pt x="0" y="0"/>
                  </a:lnTo>
                  <a:lnTo>
                    <a:pt x="0" y="7941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8875324" y="5114865"/>
              <a:ext cx="80010" cy="79375"/>
            </a:xfrm>
            <a:custGeom>
              <a:rect b="b" l="l" r="r" t="t"/>
              <a:pathLst>
                <a:path extrusionOk="0" h="79375" w="80009">
                  <a:moveTo>
                    <a:pt x="79575" y="0"/>
                  </a:moveTo>
                  <a:lnTo>
                    <a:pt x="0" y="0"/>
                  </a:lnTo>
                  <a:lnTo>
                    <a:pt x="0" y="78903"/>
                  </a:lnTo>
                  <a:lnTo>
                    <a:pt x="79575" y="78903"/>
                  </a:lnTo>
                  <a:lnTo>
                    <a:pt x="7957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8875324" y="5114865"/>
              <a:ext cx="80010" cy="79375"/>
            </a:xfrm>
            <a:custGeom>
              <a:rect b="b" l="l" r="r" t="t"/>
              <a:pathLst>
                <a:path extrusionOk="0" h="79375" w="80009">
                  <a:moveTo>
                    <a:pt x="0" y="78903"/>
                  </a:moveTo>
                  <a:lnTo>
                    <a:pt x="79575" y="78903"/>
                  </a:lnTo>
                  <a:lnTo>
                    <a:pt x="79575" y="0"/>
                  </a:lnTo>
                  <a:lnTo>
                    <a:pt x="0" y="0"/>
                  </a:lnTo>
                  <a:lnTo>
                    <a:pt x="0" y="7890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9477765" y="5114865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79065" y="0"/>
                  </a:moveTo>
                  <a:lnTo>
                    <a:pt x="0" y="0"/>
                  </a:lnTo>
                  <a:lnTo>
                    <a:pt x="0" y="78903"/>
                  </a:lnTo>
                  <a:lnTo>
                    <a:pt x="79065" y="78903"/>
                  </a:lnTo>
                  <a:lnTo>
                    <a:pt x="7906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2330621" y="4290778"/>
              <a:ext cx="7226300" cy="903605"/>
            </a:xfrm>
            <a:custGeom>
              <a:rect b="b" l="l" r="r" t="t"/>
              <a:pathLst>
                <a:path extrusionOk="0" h="903604" w="7226300">
                  <a:moveTo>
                    <a:pt x="7147144" y="902990"/>
                  </a:moveTo>
                  <a:lnTo>
                    <a:pt x="7226209" y="902990"/>
                  </a:lnTo>
                  <a:lnTo>
                    <a:pt x="7226209" y="824087"/>
                  </a:lnTo>
                  <a:lnTo>
                    <a:pt x="7147144" y="824087"/>
                  </a:lnTo>
                  <a:lnTo>
                    <a:pt x="7147144" y="902990"/>
                  </a:lnTo>
                  <a:close/>
                </a:path>
                <a:path extrusionOk="0" h="903604" w="7226300">
                  <a:moveTo>
                    <a:pt x="0" y="902990"/>
                  </a:moveTo>
                  <a:lnTo>
                    <a:pt x="79065" y="902990"/>
                  </a:lnTo>
                  <a:lnTo>
                    <a:pt x="79065" y="824087"/>
                  </a:lnTo>
                  <a:lnTo>
                    <a:pt x="0" y="824087"/>
                  </a:lnTo>
                  <a:lnTo>
                    <a:pt x="0" y="902990"/>
                  </a:lnTo>
                  <a:close/>
                </a:path>
                <a:path extrusionOk="0" h="903604" w="7226300">
                  <a:moveTo>
                    <a:pt x="601913" y="902990"/>
                  </a:moveTo>
                  <a:lnTo>
                    <a:pt x="680979" y="902990"/>
                  </a:lnTo>
                  <a:lnTo>
                    <a:pt x="680979" y="824087"/>
                  </a:lnTo>
                  <a:lnTo>
                    <a:pt x="601913" y="824087"/>
                  </a:lnTo>
                  <a:lnTo>
                    <a:pt x="601913" y="902990"/>
                  </a:lnTo>
                  <a:close/>
                </a:path>
                <a:path extrusionOk="0" h="903604" w="7226300">
                  <a:moveTo>
                    <a:pt x="1188524" y="633695"/>
                  </a:moveTo>
                  <a:lnTo>
                    <a:pt x="1267589" y="633695"/>
                  </a:lnTo>
                  <a:lnTo>
                    <a:pt x="1267589" y="554282"/>
                  </a:lnTo>
                  <a:lnTo>
                    <a:pt x="1188524" y="554282"/>
                  </a:lnTo>
                  <a:lnTo>
                    <a:pt x="1188524" y="633695"/>
                  </a:lnTo>
                  <a:close/>
                </a:path>
                <a:path extrusionOk="0" h="903604" w="7226300">
                  <a:moveTo>
                    <a:pt x="1790522" y="364420"/>
                  </a:moveTo>
                  <a:lnTo>
                    <a:pt x="1869587" y="364420"/>
                  </a:lnTo>
                  <a:lnTo>
                    <a:pt x="1869587" y="285007"/>
                  </a:lnTo>
                  <a:lnTo>
                    <a:pt x="1790522" y="285007"/>
                  </a:lnTo>
                  <a:lnTo>
                    <a:pt x="1790522" y="364420"/>
                  </a:lnTo>
                  <a:close/>
                </a:path>
                <a:path extrusionOk="0" h="903604" w="7226300">
                  <a:moveTo>
                    <a:pt x="2377153" y="79413"/>
                  </a:moveTo>
                  <a:lnTo>
                    <a:pt x="2456219" y="79413"/>
                  </a:lnTo>
                  <a:lnTo>
                    <a:pt x="2456219" y="0"/>
                  </a:lnTo>
                  <a:lnTo>
                    <a:pt x="2377153" y="0"/>
                  </a:lnTo>
                  <a:lnTo>
                    <a:pt x="2377153" y="79413"/>
                  </a:lnTo>
                  <a:close/>
                </a:path>
                <a:path extrusionOk="0" h="903604" w="7226300">
                  <a:moveTo>
                    <a:pt x="2978962" y="79413"/>
                  </a:moveTo>
                  <a:lnTo>
                    <a:pt x="3058027" y="79413"/>
                  </a:lnTo>
                  <a:lnTo>
                    <a:pt x="3058027" y="0"/>
                  </a:lnTo>
                  <a:lnTo>
                    <a:pt x="2978962" y="0"/>
                  </a:lnTo>
                  <a:lnTo>
                    <a:pt x="2978962" y="79413"/>
                  </a:lnTo>
                  <a:close/>
                </a:path>
                <a:path extrusionOk="0" h="903604" w="7226300">
                  <a:moveTo>
                    <a:pt x="3581402" y="79413"/>
                  </a:moveTo>
                  <a:lnTo>
                    <a:pt x="3660468" y="79413"/>
                  </a:lnTo>
                  <a:lnTo>
                    <a:pt x="3660468" y="0"/>
                  </a:lnTo>
                  <a:lnTo>
                    <a:pt x="3581402" y="0"/>
                  </a:lnTo>
                  <a:lnTo>
                    <a:pt x="3581402" y="79413"/>
                  </a:lnTo>
                  <a:close/>
                </a:path>
                <a:path extrusionOk="0" h="903604" w="7226300">
                  <a:moveTo>
                    <a:pt x="4167612" y="79413"/>
                  </a:moveTo>
                  <a:lnTo>
                    <a:pt x="4246678" y="79413"/>
                  </a:lnTo>
                  <a:lnTo>
                    <a:pt x="4246678" y="0"/>
                  </a:lnTo>
                  <a:lnTo>
                    <a:pt x="4167612" y="0"/>
                  </a:lnTo>
                  <a:lnTo>
                    <a:pt x="4167612" y="79413"/>
                  </a:lnTo>
                  <a:close/>
                </a:path>
                <a:path extrusionOk="0" h="903604" w="7226300">
                  <a:moveTo>
                    <a:pt x="4770053" y="79413"/>
                  </a:moveTo>
                  <a:lnTo>
                    <a:pt x="4849119" y="79413"/>
                  </a:lnTo>
                  <a:lnTo>
                    <a:pt x="4849119" y="0"/>
                  </a:lnTo>
                  <a:lnTo>
                    <a:pt x="4770053" y="0"/>
                  </a:lnTo>
                  <a:lnTo>
                    <a:pt x="4770053" y="79413"/>
                  </a:lnTo>
                  <a:close/>
                </a:path>
                <a:path extrusionOk="0" h="903604" w="7226300">
                  <a:moveTo>
                    <a:pt x="5356052" y="364420"/>
                  </a:moveTo>
                  <a:lnTo>
                    <a:pt x="5435628" y="364420"/>
                  </a:lnTo>
                  <a:lnTo>
                    <a:pt x="5435628" y="285007"/>
                  </a:lnTo>
                  <a:lnTo>
                    <a:pt x="5356052" y="285007"/>
                  </a:lnTo>
                  <a:lnTo>
                    <a:pt x="5356052" y="364420"/>
                  </a:lnTo>
                  <a:close/>
                </a:path>
                <a:path extrusionOk="0" h="903604" w="7226300">
                  <a:moveTo>
                    <a:pt x="5958493" y="633695"/>
                  </a:moveTo>
                  <a:lnTo>
                    <a:pt x="6037558" y="633695"/>
                  </a:lnTo>
                  <a:lnTo>
                    <a:pt x="6037558" y="554282"/>
                  </a:lnTo>
                  <a:lnTo>
                    <a:pt x="5958493" y="554282"/>
                  </a:lnTo>
                  <a:lnTo>
                    <a:pt x="5958493" y="633695"/>
                  </a:lnTo>
                  <a:close/>
                </a:path>
                <a:path extrusionOk="0" h="903604" w="7226300">
                  <a:moveTo>
                    <a:pt x="6544703" y="902990"/>
                  </a:moveTo>
                  <a:lnTo>
                    <a:pt x="6624278" y="902990"/>
                  </a:lnTo>
                  <a:lnTo>
                    <a:pt x="6624278" y="824087"/>
                  </a:lnTo>
                  <a:lnTo>
                    <a:pt x="6544703" y="824087"/>
                  </a:lnTo>
                  <a:lnTo>
                    <a:pt x="6544703" y="902990"/>
                  </a:lnTo>
                  <a:close/>
                </a:path>
                <a:path extrusionOk="0" h="903604" w="7226300">
                  <a:moveTo>
                    <a:pt x="7147144" y="902990"/>
                  </a:moveTo>
                  <a:lnTo>
                    <a:pt x="7226209" y="902990"/>
                  </a:lnTo>
                  <a:lnTo>
                    <a:pt x="7226209" y="824087"/>
                  </a:lnTo>
                  <a:lnTo>
                    <a:pt x="7147144" y="824087"/>
                  </a:lnTo>
                  <a:lnTo>
                    <a:pt x="7147144" y="902990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9" name="Google Shape;479;p29"/>
          <p:cNvSpPr txBox="1"/>
          <p:nvPr/>
        </p:nvSpPr>
        <p:spPr>
          <a:xfrm>
            <a:off x="902957" y="3013392"/>
            <a:ext cx="4425900" cy="28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Custos de contratação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56565" lvl="0" marL="4692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Custos de demissão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Custos de hora extra e subcontratação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157605" rtl="0" algn="l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30</a:t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0" lvl="0" marL="115760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25</a:t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0" lvl="0" marL="1157605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20</a:t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0" lvl="0" marL="115760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15</a:t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0" lvl="0" marL="1157605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10</a:t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0" lvl="0" marL="1252855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5</a:t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0" lvl="0" marL="125285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0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9"/>
          <p:cNvSpPr txBox="1"/>
          <p:nvPr/>
        </p:nvSpPr>
        <p:spPr>
          <a:xfrm>
            <a:off x="2793339" y="5846700"/>
            <a:ext cx="37465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Jan.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9"/>
          <p:cNvSpPr txBox="1"/>
          <p:nvPr/>
        </p:nvSpPr>
        <p:spPr>
          <a:xfrm>
            <a:off x="3379444" y="5846700"/>
            <a:ext cx="37465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Fev.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9"/>
          <p:cNvSpPr txBox="1"/>
          <p:nvPr/>
        </p:nvSpPr>
        <p:spPr>
          <a:xfrm>
            <a:off x="3966160" y="5846700"/>
            <a:ext cx="406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Mar.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9"/>
          <p:cNvSpPr txBox="1"/>
          <p:nvPr/>
        </p:nvSpPr>
        <p:spPr>
          <a:xfrm>
            <a:off x="4640393" y="5832713"/>
            <a:ext cx="279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Abr.	Mai.	Jun.	Jul.	Ago.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9"/>
          <p:cNvSpPr txBox="1"/>
          <p:nvPr/>
        </p:nvSpPr>
        <p:spPr>
          <a:xfrm>
            <a:off x="7563309" y="5846700"/>
            <a:ext cx="35877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Set.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9"/>
          <p:cNvSpPr txBox="1"/>
          <p:nvPr/>
        </p:nvSpPr>
        <p:spPr>
          <a:xfrm>
            <a:off x="8149518" y="5846700"/>
            <a:ext cx="37465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Out.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9"/>
          <p:cNvSpPr txBox="1"/>
          <p:nvPr/>
        </p:nvSpPr>
        <p:spPr>
          <a:xfrm>
            <a:off x="8735939" y="5846700"/>
            <a:ext cx="39052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Nov.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9"/>
          <p:cNvSpPr txBox="1"/>
          <p:nvPr/>
        </p:nvSpPr>
        <p:spPr>
          <a:xfrm>
            <a:off x="9337958" y="5846700"/>
            <a:ext cx="39052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Dez.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9"/>
          <p:cNvSpPr txBox="1"/>
          <p:nvPr/>
        </p:nvSpPr>
        <p:spPr>
          <a:xfrm>
            <a:off x="5487228" y="6115962"/>
            <a:ext cx="932815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Períodos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9"/>
          <p:cNvSpPr txBox="1"/>
          <p:nvPr/>
        </p:nvSpPr>
        <p:spPr>
          <a:xfrm rot="-5400000">
            <a:off x="1166783" y="4778903"/>
            <a:ext cx="1265555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Quantidades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0" name="Google Shape;490;p29"/>
          <p:cNvGrpSpPr/>
          <p:nvPr/>
        </p:nvGrpSpPr>
        <p:grpSpPr>
          <a:xfrm>
            <a:off x="4429952" y="6477613"/>
            <a:ext cx="412115" cy="80010"/>
            <a:chOff x="4429952" y="6477613"/>
            <a:chExt cx="412115" cy="80010"/>
          </a:xfrm>
        </p:grpSpPr>
        <p:sp>
          <p:nvSpPr>
            <p:cNvPr id="491" name="Google Shape;491;p29"/>
            <p:cNvSpPr/>
            <p:nvPr/>
          </p:nvSpPr>
          <p:spPr>
            <a:xfrm>
              <a:off x="4429952" y="6532854"/>
              <a:ext cx="412115" cy="0"/>
            </a:xfrm>
            <a:custGeom>
              <a:rect b="b" l="l" r="r" t="t"/>
              <a:pathLst>
                <a:path extrusionOk="0" h="120000" w="412114">
                  <a:moveTo>
                    <a:pt x="0" y="0"/>
                  </a:moveTo>
                  <a:lnTo>
                    <a:pt x="150715" y="0"/>
                  </a:lnTo>
                </a:path>
                <a:path extrusionOk="0" h="120000" w="412114">
                  <a:moveTo>
                    <a:pt x="229781" y="0"/>
                  </a:moveTo>
                  <a:lnTo>
                    <a:pt x="412096" y="0"/>
                  </a:lnTo>
                </a:path>
              </a:pathLst>
            </a:custGeom>
            <a:noFill/>
            <a:ln cap="flat" cmpd="sng" w="15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4580668" y="6477613"/>
              <a:ext cx="79375" cy="80010"/>
            </a:xfrm>
            <a:custGeom>
              <a:rect b="b" l="l" r="r" t="t"/>
              <a:pathLst>
                <a:path extrusionOk="0" h="80009" w="79375">
                  <a:moveTo>
                    <a:pt x="79065" y="0"/>
                  </a:moveTo>
                  <a:lnTo>
                    <a:pt x="0" y="0"/>
                  </a:lnTo>
                  <a:lnTo>
                    <a:pt x="0" y="79413"/>
                  </a:lnTo>
                  <a:lnTo>
                    <a:pt x="79065" y="79413"/>
                  </a:lnTo>
                  <a:lnTo>
                    <a:pt x="7906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4580668" y="6477613"/>
              <a:ext cx="79375" cy="80010"/>
            </a:xfrm>
            <a:custGeom>
              <a:rect b="b" l="l" r="r" t="t"/>
              <a:pathLst>
                <a:path extrusionOk="0" h="80009" w="79375">
                  <a:moveTo>
                    <a:pt x="0" y="79413"/>
                  </a:moveTo>
                  <a:lnTo>
                    <a:pt x="79065" y="79413"/>
                  </a:lnTo>
                  <a:lnTo>
                    <a:pt x="79065" y="0"/>
                  </a:lnTo>
                  <a:lnTo>
                    <a:pt x="0" y="0"/>
                  </a:lnTo>
                  <a:lnTo>
                    <a:pt x="0" y="7941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29"/>
          <p:cNvGrpSpPr/>
          <p:nvPr/>
        </p:nvGrpSpPr>
        <p:grpSpPr>
          <a:xfrm>
            <a:off x="6315900" y="6477613"/>
            <a:ext cx="412115" cy="80010"/>
            <a:chOff x="6315900" y="6477613"/>
            <a:chExt cx="412115" cy="80010"/>
          </a:xfrm>
        </p:grpSpPr>
        <p:sp>
          <p:nvSpPr>
            <p:cNvPr id="495" name="Google Shape;495;p29"/>
            <p:cNvSpPr/>
            <p:nvPr/>
          </p:nvSpPr>
          <p:spPr>
            <a:xfrm>
              <a:off x="6315900" y="6532854"/>
              <a:ext cx="412115" cy="0"/>
            </a:xfrm>
            <a:custGeom>
              <a:rect b="b" l="l" r="r" t="t"/>
              <a:pathLst>
                <a:path extrusionOk="0" h="120000" w="412115">
                  <a:moveTo>
                    <a:pt x="0" y="0"/>
                  </a:moveTo>
                  <a:lnTo>
                    <a:pt x="150715" y="0"/>
                  </a:lnTo>
                </a:path>
                <a:path extrusionOk="0" h="120000" w="412115">
                  <a:moveTo>
                    <a:pt x="229781" y="0"/>
                  </a:moveTo>
                  <a:lnTo>
                    <a:pt x="412096" y="0"/>
                  </a:lnTo>
                </a:path>
              </a:pathLst>
            </a:custGeom>
            <a:noFill/>
            <a:ln cap="flat" cmpd="sng" w="15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6466615" y="6477613"/>
              <a:ext cx="79375" cy="80010"/>
            </a:xfrm>
            <a:custGeom>
              <a:rect b="b" l="l" r="r" t="t"/>
              <a:pathLst>
                <a:path extrusionOk="0" h="80009" w="79375">
                  <a:moveTo>
                    <a:pt x="79065" y="0"/>
                  </a:moveTo>
                  <a:lnTo>
                    <a:pt x="0" y="0"/>
                  </a:lnTo>
                  <a:lnTo>
                    <a:pt x="0" y="79413"/>
                  </a:lnTo>
                  <a:lnTo>
                    <a:pt x="79065" y="79413"/>
                  </a:lnTo>
                  <a:lnTo>
                    <a:pt x="79065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6466615" y="6477613"/>
              <a:ext cx="79375" cy="80010"/>
            </a:xfrm>
            <a:custGeom>
              <a:rect b="b" l="l" r="r" t="t"/>
              <a:pathLst>
                <a:path extrusionOk="0" h="80009" w="79375">
                  <a:moveTo>
                    <a:pt x="0" y="79413"/>
                  </a:moveTo>
                  <a:lnTo>
                    <a:pt x="79065" y="79413"/>
                  </a:lnTo>
                  <a:lnTo>
                    <a:pt x="79065" y="0"/>
                  </a:lnTo>
                  <a:lnTo>
                    <a:pt x="0" y="0"/>
                  </a:lnTo>
                  <a:lnTo>
                    <a:pt x="0" y="79413"/>
                  </a:lnTo>
                  <a:close/>
                </a:path>
              </a:pathLst>
            </a:custGeom>
            <a:noFill/>
            <a:ln cap="flat" cmpd="sng" w="15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8" name="Google Shape;498;p29"/>
          <p:cNvSpPr txBox="1"/>
          <p:nvPr/>
        </p:nvSpPr>
        <p:spPr>
          <a:xfrm>
            <a:off x="3966159" y="6404070"/>
            <a:ext cx="3597300" cy="227100"/>
          </a:xfrm>
          <a:prstGeom prst="rect">
            <a:avLst/>
          </a:prstGeom>
          <a:noFill/>
          <a:ln cap="flat" cmpd="sng" w="15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spAutoFit/>
          </a:bodyPr>
          <a:lstStyle/>
          <a:p>
            <a:pPr indent="0" lvl="0" marL="7918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Arial"/>
                <a:ea typeface="Arial"/>
                <a:cs typeface="Arial"/>
                <a:sym typeface="Arial"/>
              </a:rPr>
              <a:t>Produção	Vendas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03" name="Google Shape;503;p30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0950">
            <a:spAutoFit/>
          </a:bodyPr>
          <a:lstStyle/>
          <a:p>
            <a:pPr indent="0" lvl="0" marL="2203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Variar a taxa de produção em patamares</a:t>
            </a:r>
            <a:endParaRPr/>
          </a:p>
        </p:txBody>
      </p:sp>
      <p:grpSp>
        <p:nvGrpSpPr>
          <p:cNvPr id="504" name="Google Shape;504;p30"/>
          <p:cNvGrpSpPr/>
          <p:nvPr/>
        </p:nvGrpSpPr>
        <p:grpSpPr>
          <a:xfrm>
            <a:off x="2197054" y="3424161"/>
            <a:ext cx="7717167" cy="1826260"/>
            <a:chOff x="2197054" y="3424161"/>
            <a:chExt cx="7717167" cy="1826260"/>
          </a:xfrm>
        </p:grpSpPr>
        <p:sp>
          <p:nvSpPr>
            <p:cNvPr id="505" name="Google Shape;505;p30"/>
            <p:cNvSpPr/>
            <p:nvPr/>
          </p:nvSpPr>
          <p:spPr>
            <a:xfrm>
              <a:off x="2255635" y="3424161"/>
              <a:ext cx="0" cy="1759585"/>
            </a:xfrm>
            <a:custGeom>
              <a:rect b="b" l="l" r="r" t="t"/>
              <a:pathLst>
                <a:path extrusionOk="0" h="1759585" w="120000">
                  <a:moveTo>
                    <a:pt x="0" y="0"/>
                  </a:moveTo>
                  <a:lnTo>
                    <a:pt x="0" y="1130928"/>
                  </a:lnTo>
                </a:path>
                <a:path extrusionOk="0" h="1759585" w="120000">
                  <a:moveTo>
                    <a:pt x="0" y="1214335"/>
                  </a:moveTo>
                  <a:lnTo>
                    <a:pt x="0" y="1759175"/>
                  </a:lnTo>
                </a:path>
              </a:pathLst>
            </a:custGeom>
            <a:noFill/>
            <a:ln cap="flat" cmpd="sng" w="167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205423" y="3424161"/>
              <a:ext cx="7650480" cy="1826260"/>
            </a:xfrm>
            <a:custGeom>
              <a:rect b="b" l="l" r="r" t="t"/>
              <a:pathLst>
                <a:path extrusionOk="0" h="1826260" w="7650480">
                  <a:moveTo>
                    <a:pt x="0" y="1775850"/>
                  </a:moveTo>
                  <a:lnTo>
                    <a:pt x="33474" y="1775850"/>
                  </a:lnTo>
                </a:path>
                <a:path extrusionOk="0" h="1826260" w="7650480">
                  <a:moveTo>
                    <a:pt x="0" y="1473975"/>
                  </a:moveTo>
                  <a:lnTo>
                    <a:pt x="33474" y="1473975"/>
                  </a:lnTo>
                </a:path>
                <a:path extrusionOk="0" h="1826260" w="7650480">
                  <a:moveTo>
                    <a:pt x="0" y="887969"/>
                  </a:moveTo>
                  <a:lnTo>
                    <a:pt x="33474" y="887969"/>
                  </a:lnTo>
                </a:path>
                <a:path extrusionOk="0" h="1826260" w="7650480">
                  <a:moveTo>
                    <a:pt x="0" y="585983"/>
                  </a:moveTo>
                  <a:lnTo>
                    <a:pt x="33474" y="585983"/>
                  </a:lnTo>
                </a:path>
                <a:path extrusionOk="0" h="1826260" w="7650480">
                  <a:moveTo>
                    <a:pt x="0" y="301452"/>
                  </a:moveTo>
                  <a:lnTo>
                    <a:pt x="33474" y="301452"/>
                  </a:lnTo>
                </a:path>
                <a:path extrusionOk="0" h="1826260" w="7650480">
                  <a:moveTo>
                    <a:pt x="0" y="0"/>
                  </a:moveTo>
                  <a:lnTo>
                    <a:pt x="33474" y="0"/>
                  </a:lnTo>
                </a:path>
                <a:path extrusionOk="0" h="1826260" w="7650480">
                  <a:moveTo>
                    <a:pt x="50211" y="1775850"/>
                  </a:moveTo>
                  <a:lnTo>
                    <a:pt x="7633487" y="1775850"/>
                  </a:lnTo>
                </a:path>
                <a:path extrusionOk="0" h="1826260" w="7650480">
                  <a:moveTo>
                    <a:pt x="50211" y="1825899"/>
                  </a:moveTo>
                  <a:lnTo>
                    <a:pt x="50211" y="1792526"/>
                  </a:lnTo>
                </a:path>
                <a:path extrusionOk="0" h="1826260" w="7650480">
                  <a:moveTo>
                    <a:pt x="687477" y="1825899"/>
                  </a:moveTo>
                  <a:lnTo>
                    <a:pt x="687477" y="1792526"/>
                  </a:lnTo>
                </a:path>
                <a:path extrusionOk="0" h="1826260" w="7650480">
                  <a:moveTo>
                    <a:pt x="1325256" y="1825899"/>
                  </a:moveTo>
                  <a:lnTo>
                    <a:pt x="1325256" y="1792526"/>
                  </a:lnTo>
                </a:path>
                <a:path extrusionOk="0" h="1826260" w="7650480">
                  <a:moveTo>
                    <a:pt x="1945718" y="1825899"/>
                  </a:moveTo>
                  <a:lnTo>
                    <a:pt x="1945718" y="1792526"/>
                  </a:lnTo>
                </a:path>
                <a:path extrusionOk="0" h="1826260" w="7650480">
                  <a:moveTo>
                    <a:pt x="2583519" y="1825899"/>
                  </a:moveTo>
                  <a:lnTo>
                    <a:pt x="2583519" y="1792526"/>
                  </a:lnTo>
                </a:path>
                <a:path extrusionOk="0" h="1826260" w="7650480">
                  <a:moveTo>
                    <a:pt x="3220874" y="1825899"/>
                  </a:moveTo>
                  <a:lnTo>
                    <a:pt x="3220874" y="1792526"/>
                  </a:lnTo>
                </a:path>
                <a:path extrusionOk="0" h="1826260" w="7650480">
                  <a:moveTo>
                    <a:pt x="3858676" y="1825899"/>
                  </a:moveTo>
                  <a:lnTo>
                    <a:pt x="3858676" y="1792526"/>
                  </a:lnTo>
                </a:path>
                <a:path extrusionOk="0" h="1826260" w="7650480">
                  <a:moveTo>
                    <a:pt x="4479071" y="1825899"/>
                  </a:moveTo>
                  <a:lnTo>
                    <a:pt x="4479071" y="1792526"/>
                  </a:lnTo>
                </a:path>
                <a:path extrusionOk="0" h="1826260" w="7650480">
                  <a:moveTo>
                    <a:pt x="5116872" y="1825899"/>
                  </a:moveTo>
                  <a:lnTo>
                    <a:pt x="5116872" y="1792526"/>
                  </a:lnTo>
                </a:path>
                <a:path extrusionOk="0" h="1826260" w="7650480">
                  <a:moveTo>
                    <a:pt x="5754673" y="1825899"/>
                  </a:moveTo>
                  <a:lnTo>
                    <a:pt x="5754673" y="1792526"/>
                  </a:lnTo>
                </a:path>
                <a:path extrusionOk="0" h="1826260" w="7650480">
                  <a:moveTo>
                    <a:pt x="6392029" y="1825899"/>
                  </a:moveTo>
                  <a:lnTo>
                    <a:pt x="6392029" y="1792526"/>
                  </a:lnTo>
                </a:path>
                <a:path extrusionOk="0" h="1826260" w="7650480">
                  <a:moveTo>
                    <a:pt x="7013093" y="1825899"/>
                  </a:moveTo>
                  <a:lnTo>
                    <a:pt x="7013093" y="1792526"/>
                  </a:lnTo>
                </a:path>
                <a:path extrusionOk="0" h="1826260" w="7650480">
                  <a:moveTo>
                    <a:pt x="7650225" y="1825899"/>
                  </a:moveTo>
                  <a:lnTo>
                    <a:pt x="7650225" y="1792526"/>
                  </a:lnTo>
                </a:path>
                <a:path extrusionOk="0" h="1826260" w="7650480">
                  <a:moveTo>
                    <a:pt x="50211" y="585983"/>
                  </a:moveTo>
                  <a:lnTo>
                    <a:pt x="670718" y="585983"/>
                  </a:lnTo>
                </a:path>
                <a:path extrusionOk="0" h="1826260" w="7650480">
                  <a:moveTo>
                    <a:pt x="687477" y="585983"/>
                  </a:moveTo>
                  <a:lnTo>
                    <a:pt x="1308519" y="585983"/>
                  </a:lnTo>
                </a:path>
                <a:path extrusionOk="0" h="1826260" w="7650480">
                  <a:moveTo>
                    <a:pt x="1325256" y="585983"/>
                  </a:moveTo>
                  <a:lnTo>
                    <a:pt x="1928981" y="585983"/>
                  </a:lnTo>
                </a:path>
                <a:path extrusionOk="0" h="1826260" w="7650480">
                  <a:moveTo>
                    <a:pt x="1945718" y="585983"/>
                  </a:moveTo>
                  <a:lnTo>
                    <a:pt x="2566782" y="468875"/>
                  </a:lnTo>
                </a:path>
                <a:path extrusionOk="0" h="1826260" w="7650480">
                  <a:moveTo>
                    <a:pt x="2583519" y="468875"/>
                  </a:moveTo>
                  <a:lnTo>
                    <a:pt x="3204137" y="468875"/>
                  </a:lnTo>
                </a:path>
                <a:path extrusionOk="0" h="1826260" w="7650480">
                  <a:moveTo>
                    <a:pt x="3220874" y="468875"/>
                  </a:moveTo>
                  <a:lnTo>
                    <a:pt x="3841939" y="468875"/>
                  </a:lnTo>
                </a:path>
                <a:path extrusionOk="0" h="1826260" w="7650480">
                  <a:moveTo>
                    <a:pt x="3858676" y="468875"/>
                  </a:moveTo>
                  <a:lnTo>
                    <a:pt x="4462333" y="468875"/>
                  </a:lnTo>
                </a:path>
                <a:path extrusionOk="0" h="1826260" w="7650480">
                  <a:moveTo>
                    <a:pt x="4479071" y="468875"/>
                  </a:moveTo>
                  <a:lnTo>
                    <a:pt x="5100135" y="468875"/>
                  </a:lnTo>
                </a:path>
                <a:path extrusionOk="0" h="1826260" w="7650480">
                  <a:moveTo>
                    <a:pt x="5116872" y="468875"/>
                  </a:moveTo>
                  <a:lnTo>
                    <a:pt x="5737490" y="585983"/>
                  </a:lnTo>
                </a:path>
                <a:path extrusionOk="0" h="1826260" w="7650480">
                  <a:moveTo>
                    <a:pt x="5754673" y="585983"/>
                  </a:moveTo>
                  <a:lnTo>
                    <a:pt x="6375291" y="585983"/>
                  </a:lnTo>
                </a:path>
                <a:path extrusionOk="0" h="1826260" w="7650480">
                  <a:moveTo>
                    <a:pt x="6392029" y="585983"/>
                  </a:moveTo>
                  <a:lnTo>
                    <a:pt x="6995686" y="585983"/>
                  </a:lnTo>
                </a:path>
                <a:path extrusionOk="0" h="1826260" w="7650480">
                  <a:moveTo>
                    <a:pt x="7013093" y="585983"/>
                  </a:moveTo>
                  <a:lnTo>
                    <a:pt x="7633487" y="585983"/>
                  </a:lnTo>
                </a:path>
              </a:pathLst>
            </a:custGeom>
            <a:noFill/>
            <a:ln cap="flat" cmpd="sng" w="1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280761" y="4613472"/>
              <a:ext cx="553720" cy="0"/>
            </a:xfrm>
            <a:custGeom>
              <a:rect b="b" l="l" r="r" t="t"/>
              <a:pathLst>
                <a:path extrusionOk="0" h="120000" w="553719">
                  <a:moveTo>
                    <a:pt x="0" y="0"/>
                  </a:moveTo>
                  <a:lnTo>
                    <a:pt x="553537" y="0"/>
                  </a:lnTo>
                </a:path>
              </a:pathLst>
            </a:custGeom>
            <a:noFill/>
            <a:ln cap="flat" cmpd="sng" w="1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0"/>
            <p:cNvSpPr/>
            <p:nvPr/>
          </p:nvSpPr>
          <p:spPr>
            <a:xfrm>
              <a:off x="2892901" y="3725613"/>
              <a:ext cx="1879600" cy="888365"/>
            </a:xfrm>
            <a:custGeom>
              <a:rect b="b" l="l" r="r" t="t"/>
              <a:pathLst>
                <a:path extrusionOk="0" h="888364" w="1879600">
                  <a:moveTo>
                    <a:pt x="0" y="887858"/>
                  </a:moveTo>
                  <a:lnTo>
                    <a:pt x="621041" y="586517"/>
                  </a:lnTo>
                </a:path>
                <a:path extrusionOk="0" h="888364" w="1879600">
                  <a:moveTo>
                    <a:pt x="637779" y="586517"/>
                  </a:moveTo>
                  <a:lnTo>
                    <a:pt x="1241503" y="284531"/>
                  </a:lnTo>
                </a:path>
                <a:path extrusionOk="0" h="888364" w="1879600">
                  <a:moveTo>
                    <a:pt x="1258240" y="284531"/>
                  </a:moveTo>
                  <a:lnTo>
                    <a:pt x="1879304" y="0"/>
                  </a:lnTo>
                </a:path>
              </a:pathLst>
            </a:custGeom>
            <a:noFill/>
            <a:ln cap="flat" cmpd="sng" w="1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0"/>
            <p:cNvSpPr/>
            <p:nvPr/>
          </p:nvSpPr>
          <p:spPr>
            <a:xfrm>
              <a:off x="4814180" y="3725613"/>
              <a:ext cx="2449830" cy="0"/>
            </a:xfrm>
            <a:custGeom>
              <a:rect b="b" l="l" r="r" t="t"/>
              <a:pathLst>
                <a:path extrusionOk="0" h="120000" w="2449829">
                  <a:moveTo>
                    <a:pt x="0" y="0"/>
                  </a:moveTo>
                  <a:lnTo>
                    <a:pt x="553425" y="0"/>
                  </a:lnTo>
                </a:path>
                <a:path extrusionOk="0" h="120000" w="2449829">
                  <a:moveTo>
                    <a:pt x="637671" y="0"/>
                  </a:moveTo>
                  <a:lnTo>
                    <a:pt x="1191226" y="0"/>
                  </a:lnTo>
                </a:path>
                <a:path extrusionOk="0" h="120000" w="2449829">
                  <a:moveTo>
                    <a:pt x="1274933" y="0"/>
                  </a:moveTo>
                  <a:lnTo>
                    <a:pt x="1811844" y="0"/>
                  </a:lnTo>
                </a:path>
                <a:path extrusionOk="0" h="120000" w="2449829">
                  <a:moveTo>
                    <a:pt x="1896091" y="0"/>
                  </a:moveTo>
                  <a:lnTo>
                    <a:pt x="2449646" y="0"/>
                  </a:lnTo>
                </a:path>
              </a:pathLst>
            </a:custGeom>
            <a:noFill/>
            <a:ln cap="flat" cmpd="sng" w="1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7322295" y="3725613"/>
              <a:ext cx="1878964" cy="888365"/>
            </a:xfrm>
            <a:custGeom>
              <a:rect b="b" l="l" r="r" t="t"/>
              <a:pathLst>
                <a:path extrusionOk="0" h="888364" w="1878965">
                  <a:moveTo>
                    <a:pt x="0" y="0"/>
                  </a:moveTo>
                  <a:lnTo>
                    <a:pt x="620617" y="284531"/>
                  </a:lnTo>
                </a:path>
                <a:path extrusionOk="0" h="888364" w="1878965">
                  <a:moveTo>
                    <a:pt x="637801" y="284531"/>
                  </a:moveTo>
                  <a:lnTo>
                    <a:pt x="1258419" y="586517"/>
                  </a:lnTo>
                </a:path>
                <a:path extrusionOk="0" h="888364" w="1878965">
                  <a:moveTo>
                    <a:pt x="1275156" y="586517"/>
                  </a:moveTo>
                  <a:lnTo>
                    <a:pt x="1878813" y="887858"/>
                  </a:lnTo>
                </a:path>
              </a:pathLst>
            </a:custGeom>
            <a:noFill/>
            <a:ln cap="flat" cmpd="sng" w="1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9243624" y="4613472"/>
              <a:ext cx="553720" cy="0"/>
            </a:xfrm>
            <a:custGeom>
              <a:rect b="b" l="l" r="r" t="t"/>
              <a:pathLst>
                <a:path extrusionOk="0" h="120000" w="553720">
                  <a:moveTo>
                    <a:pt x="0" y="0"/>
                  </a:moveTo>
                  <a:lnTo>
                    <a:pt x="553554" y="0"/>
                  </a:lnTo>
                </a:path>
              </a:pathLst>
            </a:custGeom>
            <a:noFill/>
            <a:ln cap="flat" cmpd="sng" w="1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2" name="Google Shape;512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97062" y="3951913"/>
              <a:ext cx="117167" cy="117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" name="Google Shape;513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4306" y="3951913"/>
              <a:ext cx="117703" cy="117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72107" y="3951913"/>
              <a:ext cx="117212" cy="117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0"/>
            <p:cNvSpPr/>
            <p:nvPr/>
          </p:nvSpPr>
          <p:spPr>
            <a:xfrm>
              <a:off x="4100930" y="3960274"/>
              <a:ext cx="101600" cy="100965"/>
            </a:xfrm>
            <a:custGeom>
              <a:rect b="b" l="l" r="r" t="t"/>
              <a:pathLst>
                <a:path extrusionOk="0" h="100964" w="101600">
                  <a:moveTo>
                    <a:pt x="50211" y="0"/>
                  </a:moveTo>
                  <a:lnTo>
                    <a:pt x="0" y="49870"/>
                  </a:lnTo>
                  <a:lnTo>
                    <a:pt x="50211" y="100565"/>
                  </a:lnTo>
                  <a:lnTo>
                    <a:pt x="101093" y="49870"/>
                  </a:lnTo>
                  <a:lnTo>
                    <a:pt x="50211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100930" y="3960274"/>
              <a:ext cx="101600" cy="100965"/>
            </a:xfrm>
            <a:custGeom>
              <a:rect b="b" l="l" r="r" t="t"/>
              <a:pathLst>
                <a:path extrusionOk="0" h="100964" w="101600">
                  <a:moveTo>
                    <a:pt x="50211" y="0"/>
                  </a:moveTo>
                  <a:lnTo>
                    <a:pt x="101093" y="49870"/>
                  </a:lnTo>
                  <a:lnTo>
                    <a:pt x="50211" y="100565"/>
                  </a:lnTo>
                  <a:lnTo>
                    <a:pt x="0" y="49870"/>
                  </a:lnTo>
                  <a:lnTo>
                    <a:pt x="50211" y="0"/>
                  </a:lnTo>
                  <a:close/>
                </a:path>
              </a:pathLst>
            </a:custGeom>
            <a:noFill/>
            <a:ln cap="flat" cmpd="sng" w="16700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7" name="Google Shape;517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30370" y="3834582"/>
              <a:ext cx="117145" cy="117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3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67725" y="3834582"/>
              <a:ext cx="117591" cy="117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05527" y="3834582"/>
              <a:ext cx="117145" cy="117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0" name="Google Shape;520;p3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625922" y="3834582"/>
              <a:ext cx="117814" cy="1173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1" name="Google Shape;521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63723" y="3834582"/>
              <a:ext cx="117145" cy="1173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" name="Google Shape;522;p30"/>
            <p:cNvSpPr/>
            <p:nvPr/>
          </p:nvSpPr>
          <p:spPr>
            <a:xfrm>
              <a:off x="7909439" y="3960274"/>
              <a:ext cx="100965" cy="100965"/>
            </a:xfrm>
            <a:custGeom>
              <a:rect b="b" l="l" r="r" t="t"/>
              <a:pathLst>
                <a:path extrusionOk="0" h="100964" w="100965">
                  <a:moveTo>
                    <a:pt x="50658" y="0"/>
                  </a:moveTo>
                  <a:lnTo>
                    <a:pt x="0" y="49870"/>
                  </a:lnTo>
                  <a:lnTo>
                    <a:pt x="50658" y="100565"/>
                  </a:lnTo>
                  <a:lnTo>
                    <a:pt x="100869" y="49870"/>
                  </a:lnTo>
                  <a:lnTo>
                    <a:pt x="50658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7909439" y="3960274"/>
              <a:ext cx="100965" cy="100965"/>
            </a:xfrm>
            <a:custGeom>
              <a:rect b="b" l="l" r="r" t="t"/>
              <a:pathLst>
                <a:path extrusionOk="0" h="100964" w="100965">
                  <a:moveTo>
                    <a:pt x="50658" y="0"/>
                  </a:moveTo>
                  <a:lnTo>
                    <a:pt x="100869" y="49870"/>
                  </a:lnTo>
                  <a:lnTo>
                    <a:pt x="50658" y="100565"/>
                  </a:lnTo>
                  <a:lnTo>
                    <a:pt x="0" y="49870"/>
                  </a:lnTo>
                  <a:lnTo>
                    <a:pt x="50658" y="0"/>
                  </a:lnTo>
                  <a:close/>
                </a:path>
              </a:pathLst>
            </a:custGeom>
            <a:noFill/>
            <a:ln cap="flat" cmpd="sng" w="16700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24" name="Google Shape;524;p3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538879" y="3951913"/>
              <a:ext cx="117145" cy="117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5" name="Google Shape;525;p3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159274" y="3951913"/>
              <a:ext cx="117814" cy="117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p3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797076" y="3951913"/>
              <a:ext cx="117145" cy="117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7" name="Google Shape;527;p30"/>
            <p:cNvSpPr/>
            <p:nvPr/>
          </p:nvSpPr>
          <p:spPr>
            <a:xfrm>
              <a:off x="2197054" y="4555089"/>
              <a:ext cx="83820" cy="83820"/>
            </a:xfrm>
            <a:custGeom>
              <a:rect b="b" l="l" r="r" t="t"/>
              <a:pathLst>
                <a:path extrusionOk="0" h="83820" w="83819">
                  <a:moveTo>
                    <a:pt x="83706" y="0"/>
                  </a:moveTo>
                  <a:lnTo>
                    <a:pt x="0" y="0"/>
                  </a:lnTo>
                  <a:lnTo>
                    <a:pt x="0" y="83406"/>
                  </a:lnTo>
                  <a:lnTo>
                    <a:pt x="83706" y="83406"/>
                  </a:lnTo>
                  <a:lnTo>
                    <a:pt x="8370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2197054" y="4555089"/>
              <a:ext cx="83820" cy="83820"/>
            </a:xfrm>
            <a:custGeom>
              <a:rect b="b" l="l" r="r" t="t"/>
              <a:pathLst>
                <a:path extrusionOk="0" h="83820" w="83819">
                  <a:moveTo>
                    <a:pt x="0" y="83406"/>
                  </a:moveTo>
                  <a:lnTo>
                    <a:pt x="83706" y="83406"/>
                  </a:lnTo>
                  <a:lnTo>
                    <a:pt x="83706" y="0"/>
                  </a:lnTo>
                  <a:lnTo>
                    <a:pt x="0" y="0"/>
                  </a:lnTo>
                  <a:lnTo>
                    <a:pt x="0" y="83406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2834298" y="4555089"/>
              <a:ext cx="83820" cy="83820"/>
            </a:xfrm>
            <a:custGeom>
              <a:rect b="b" l="l" r="r" t="t"/>
              <a:pathLst>
                <a:path extrusionOk="0" h="83820" w="83819">
                  <a:moveTo>
                    <a:pt x="83706" y="0"/>
                  </a:moveTo>
                  <a:lnTo>
                    <a:pt x="0" y="0"/>
                  </a:lnTo>
                  <a:lnTo>
                    <a:pt x="0" y="83406"/>
                  </a:lnTo>
                  <a:lnTo>
                    <a:pt x="83706" y="83406"/>
                  </a:lnTo>
                  <a:lnTo>
                    <a:pt x="8370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2834298" y="4555089"/>
              <a:ext cx="83820" cy="83820"/>
            </a:xfrm>
            <a:custGeom>
              <a:rect b="b" l="l" r="r" t="t"/>
              <a:pathLst>
                <a:path extrusionOk="0" h="83820" w="83819">
                  <a:moveTo>
                    <a:pt x="0" y="83406"/>
                  </a:moveTo>
                  <a:lnTo>
                    <a:pt x="83706" y="83406"/>
                  </a:lnTo>
                  <a:lnTo>
                    <a:pt x="83706" y="0"/>
                  </a:lnTo>
                  <a:lnTo>
                    <a:pt x="0" y="0"/>
                  </a:lnTo>
                  <a:lnTo>
                    <a:pt x="0" y="83406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3472099" y="4253210"/>
              <a:ext cx="83820" cy="84455"/>
            </a:xfrm>
            <a:custGeom>
              <a:rect b="b" l="l" r="r" t="t"/>
              <a:pathLst>
                <a:path extrusionOk="0" h="84454" w="83820">
                  <a:moveTo>
                    <a:pt x="83706" y="0"/>
                  </a:moveTo>
                  <a:lnTo>
                    <a:pt x="0" y="0"/>
                  </a:lnTo>
                  <a:lnTo>
                    <a:pt x="0" y="83945"/>
                  </a:lnTo>
                  <a:lnTo>
                    <a:pt x="83706" y="83945"/>
                  </a:lnTo>
                  <a:lnTo>
                    <a:pt x="8370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3472099" y="4253210"/>
              <a:ext cx="83820" cy="84455"/>
            </a:xfrm>
            <a:custGeom>
              <a:rect b="b" l="l" r="r" t="t"/>
              <a:pathLst>
                <a:path extrusionOk="0" h="84454" w="83820">
                  <a:moveTo>
                    <a:pt x="0" y="83945"/>
                  </a:moveTo>
                  <a:lnTo>
                    <a:pt x="83706" y="83945"/>
                  </a:lnTo>
                  <a:lnTo>
                    <a:pt x="83706" y="0"/>
                  </a:lnTo>
                  <a:lnTo>
                    <a:pt x="0" y="0"/>
                  </a:lnTo>
                  <a:lnTo>
                    <a:pt x="0" y="83945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4092673" y="3951802"/>
              <a:ext cx="83820" cy="84455"/>
            </a:xfrm>
            <a:custGeom>
              <a:rect b="b" l="l" r="r" t="t"/>
              <a:pathLst>
                <a:path extrusionOk="0" h="84454" w="83820">
                  <a:moveTo>
                    <a:pt x="83706" y="0"/>
                  </a:moveTo>
                  <a:lnTo>
                    <a:pt x="0" y="0"/>
                  </a:lnTo>
                  <a:lnTo>
                    <a:pt x="0" y="83945"/>
                  </a:lnTo>
                  <a:lnTo>
                    <a:pt x="83706" y="83945"/>
                  </a:lnTo>
                  <a:lnTo>
                    <a:pt x="8370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0"/>
            <p:cNvSpPr/>
            <p:nvPr/>
          </p:nvSpPr>
          <p:spPr>
            <a:xfrm>
              <a:off x="4092673" y="3951802"/>
              <a:ext cx="83820" cy="84455"/>
            </a:xfrm>
            <a:custGeom>
              <a:rect b="b" l="l" r="r" t="t"/>
              <a:pathLst>
                <a:path extrusionOk="0" h="84454" w="83820">
                  <a:moveTo>
                    <a:pt x="0" y="83945"/>
                  </a:moveTo>
                  <a:lnTo>
                    <a:pt x="83706" y="83945"/>
                  </a:lnTo>
                  <a:lnTo>
                    <a:pt x="83706" y="0"/>
                  </a:lnTo>
                  <a:lnTo>
                    <a:pt x="0" y="0"/>
                  </a:lnTo>
                  <a:lnTo>
                    <a:pt x="0" y="83945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0"/>
            <p:cNvSpPr/>
            <p:nvPr/>
          </p:nvSpPr>
          <p:spPr>
            <a:xfrm>
              <a:off x="4730474" y="3667142"/>
              <a:ext cx="83820" cy="83820"/>
            </a:xfrm>
            <a:custGeom>
              <a:rect b="b" l="l" r="r" t="t"/>
              <a:pathLst>
                <a:path extrusionOk="0" h="83820" w="83820">
                  <a:moveTo>
                    <a:pt x="83706" y="0"/>
                  </a:moveTo>
                  <a:lnTo>
                    <a:pt x="0" y="0"/>
                  </a:lnTo>
                  <a:lnTo>
                    <a:pt x="0" y="83406"/>
                  </a:lnTo>
                  <a:lnTo>
                    <a:pt x="83706" y="83406"/>
                  </a:lnTo>
                  <a:lnTo>
                    <a:pt x="8370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4730474" y="3667142"/>
              <a:ext cx="83820" cy="83820"/>
            </a:xfrm>
            <a:custGeom>
              <a:rect b="b" l="l" r="r" t="t"/>
              <a:pathLst>
                <a:path extrusionOk="0" h="83820" w="83820">
                  <a:moveTo>
                    <a:pt x="0" y="83406"/>
                  </a:moveTo>
                  <a:lnTo>
                    <a:pt x="83706" y="83406"/>
                  </a:lnTo>
                  <a:lnTo>
                    <a:pt x="83706" y="0"/>
                  </a:lnTo>
                  <a:lnTo>
                    <a:pt x="0" y="0"/>
                  </a:lnTo>
                  <a:lnTo>
                    <a:pt x="0" y="83406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5367606" y="3667142"/>
              <a:ext cx="84455" cy="83820"/>
            </a:xfrm>
            <a:custGeom>
              <a:rect b="b" l="l" r="r" t="t"/>
              <a:pathLst>
                <a:path extrusionOk="0" h="83820" w="84454">
                  <a:moveTo>
                    <a:pt x="84246" y="0"/>
                  </a:moveTo>
                  <a:lnTo>
                    <a:pt x="0" y="0"/>
                  </a:lnTo>
                  <a:lnTo>
                    <a:pt x="0" y="83406"/>
                  </a:lnTo>
                  <a:lnTo>
                    <a:pt x="84246" y="83406"/>
                  </a:lnTo>
                  <a:lnTo>
                    <a:pt x="8424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5367606" y="3667142"/>
              <a:ext cx="84455" cy="83820"/>
            </a:xfrm>
            <a:custGeom>
              <a:rect b="b" l="l" r="r" t="t"/>
              <a:pathLst>
                <a:path extrusionOk="0" h="83820" w="84454">
                  <a:moveTo>
                    <a:pt x="0" y="83406"/>
                  </a:moveTo>
                  <a:lnTo>
                    <a:pt x="84246" y="83406"/>
                  </a:lnTo>
                  <a:lnTo>
                    <a:pt x="84246" y="0"/>
                  </a:lnTo>
                  <a:lnTo>
                    <a:pt x="0" y="0"/>
                  </a:lnTo>
                  <a:lnTo>
                    <a:pt x="0" y="83406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6005407" y="3667142"/>
              <a:ext cx="83820" cy="83820"/>
            </a:xfrm>
            <a:custGeom>
              <a:rect b="b" l="l" r="r" t="t"/>
              <a:pathLst>
                <a:path extrusionOk="0" h="83820" w="83820">
                  <a:moveTo>
                    <a:pt x="83706" y="0"/>
                  </a:moveTo>
                  <a:lnTo>
                    <a:pt x="0" y="0"/>
                  </a:lnTo>
                  <a:lnTo>
                    <a:pt x="0" y="83406"/>
                  </a:lnTo>
                  <a:lnTo>
                    <a:pt x="83706" y="83406"/>
                  </a:lnTo>
                  <a:lnTo>
                    <a:pt x="8370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6005407" y="3667142"/>
              <a:ext cx="83820" cy="83820"/>
            </a:xfrm>
            <a:custGeom>
              <a:rect b="b" l="l" r="r" t="t"/>
              <a:pathLst>
                <a:path extrusionOk="0" h="83820" w="83820">
                  <a:moveTo>
                    <a:pt x="0" y="83406"/>
                  </a:moveTo>
                  <a:lnTo>
                    <a:pt x="83706" y="83406"/>
                  </a:lnTo>
                  <a:lnTo>
                    <a:pt x="83706" y="0"/>
                  </a:lnTo>
                  <a:lnTo>
                    <a:pt x="0" y="0"/>
                  </a:lnTo>
                  <a:lnTo>
                    <a:pt x="0" y="83406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6626025" y="3667142"/>
              <a:ext cx="84455" cy="83820"/>
            </a:xfrm>
            <a:custGeom>
              <a:rect b="b" l="l" r="r" t="t"/>
              <a:pathLst>
                <a:path extrusionOk="0" h="83820" w="84454">
                  <a:moveTo>
                    <a:pt x="84246" y="0"/>
                  </a:moveTo>
                  <a:lnTo>
                    <a:pt x="0" y="0"/>
                  </a:lnTo>
                  <a:lnTo>
                    <a:pt x="0" y="83406"/>
                  </a:lnTo>
                  <a:lnTo>
                    <a:pt x="84246" y="83406"/>
                  </a:lnTo>
                  <a:lnTo>
                    <a:pt x="8424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6626025" y="3667142"/>
              <a:ext cx="84455" cy="83820"/>
            </a:xfrm>
            <a:custGeom>
              <a:rect b="b" l="l" r="r" t="t"/>
              <a:pathLst>
                <a:path extrusionOk="0" h="83820" w="84454">
                  <a:moveTo>
                    <a:pt x="0" y="83406"/>
                  </a:moveTo>
                  <a:lnTo>
                    <a:pt x="84246" y="83406"/>
                  </a:lnTo>
                  <a:lnTo>
                    <a:pt x="84246" y="0"/>
                  </a:lnTo>
                  <a:lnTo>
                    <a:pt x="0" y="0"/>
                  </a:lnTo>
                  <a:lnTo>
                    <a:pt x="0" y="83406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0"/>
            <p:cNvSpPr/>
            <p:nvPr/>
          </p:nvSpPr>
          <p:spPr>
            <a:xfrm>
              <a:off x="7263826" y="3667142"/>
              <a:ext cx="83820" cy="83820"/>
            </a:xfrm>
            <a:custGeom>
              <a:rect b="b" l="l" r="r" t="t"/>
              <a:pathLst>
                <a:path extrusionOk="0" h="83820" w="83820">
                  <a:moveTo>
                    <a:pt x="83706" y="0"/>
                  </a:moveTo>
                  <a:lnTo>
                    <a:pt x="0" y="0"/>
                  </a:lnTo>
                  <a:lnTo>
                    <a:pt x="0" y="83406"/>
                  </a:lnTo>
                  <a:lnTo>
                    <a:pt x="83706" y="83406"/>
                  </a:lnTo>
                  <a:lnTo>
                    <a:pt x="8370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0"/>
            <p:cNvSpPr/>
            <p:nvPr/>
          </p:nvSpPr>
          <p:spPr>
            <a:xfrm>
              <a:off x="7263826" y="3667142"/>
              <a:ext cx="83820" cy="83820"/>
            </a:xfrm>
            <a:custGeom>
              <a:rect b="b" l="l" r="r" t="t"/>
              <a:pathLst>
                <a:path extrusionOk="0" h="83820" w="83820">
                  <a:moveTo>
                    <a:pt x="0" y="83406"/>
                  </a:moveTo>
                  <a:lnTo>
                    <a:pt x="83706" y="83406"/>
                  </a:lnTo>
                  <a:lnTo>
                    <a:pt x="83706" y="0"/>
                  </a:lnTo>
                  <a:lnTo>
                    <a:pt x="0" y="0"/>
                  </a:lnTo>
                  <a:lnTo>
                    <a:pt x="0" y="83406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7900959" y="3951802"/>
              <a:ext cx="84455" cy="84455"/>
            </a:xfrm>
            <a:custGeom>
              <a:rect b="b" l="l" r="r" t="t"/>
              <a:pathLst>
                <a:path extrusionOk="0" h="84454" w="84454">
                  <a:moveTo>
                    <a:pt x="84246" y="0"/>
                  </a:moveTo>
                  <a:lnTo>
                    <a:pt x="0" y="0"/>
                  </a:lnTo>
                  <a:lnTo>
                    <a:pt x="0" y="83945"/>
                  </a:lnTo>
                  <a:lnTo>
                    <a:pt x="84246" y="83945"/>
                  </a:lnTo>
                  <a:lnTo>
                    <a:pt x="8424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7900959" y="3951802"/>
              <a:ext cx="84455" cy="84455"/>
            </a:xfrm>
            <a:custGeom>
              <a:rect b="b" l="l" r="r" t="t"/>
              <a:pathLst>
                <a:path extrusionOk="0" h="84454" w="84454">
                  <a:moveTo>
                    <a:pt x="0" y="83945"/>
                  </a:moveTo>
                  <a:lnTo>
                    <a:pt x="84246" y="83945"/>
                  </a:lnTo>
                  <a:lnTo>
                    <a:pt x="84246" y="0"/>
                  </a:lnTo>
                  <a:lnTo>
                    <a:pt x="0" y="0"/>
                  </a:lnTo>
                  <a:lnTo>
                    <a:pt x="0" y="83945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9159378" y="4555089"/>
              <a:ext cx="84455" cy="83820"/>
            </a:xfrm>
            <a:custGeom>
              <a:rect b="b" l="l" r="r" t="t"/>
              <a:pathLst>
                <a:path extrusionOk="0" h="83820" w="84454">
                  <a:moveTo>
                    <a:pt x="84246" y="0"/>
                  </a:moveTo>
                  <a:lnTo>
                    <a:pt x="0" y="0"/>
                  </a:lnTo>
                  <a:lnTo>
                    <a:pt x="0" y="83406"/>
                  </a:lnTo>
                  <a:lnTo>
                    <a:pt x="84246" y="83406"/>
                  </a:lnTo>
                  <a:lnTo>
                    <a:pt x="8424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9159378" y="4555089"/>
              <a:ext cx="84455" cy="83820"/>
            </a:xfrm>
            <a:custGeom>
              <a:rect b="b" l="l" r="r" t="t"/>
              <a:pathLst>
                <a:path extrusionOk="0" h="83820" w="84454">
                  <a:moveTo>
                    <a:pt x="0" y="83406"/>
                  </a:moveTo>
                  <a:lnTo>
                    <a:pt x="84246" y="83406"/>
                  </a:lnTo>
                  <a:lnTo>
                    <a:pt x="84246" y="0"/>
                  </a:lnTo>
                  <a:lnTo>
                    <a:pt x="0" y="0"/>
                  </a:lnTo>
                  <a:lnTo>
                    <a:pt x="0" y="83406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9797180" y="4555089"/>
              <a:ext cx="83820" cy="83820"/>
            </a:xfrm>
            <a:custGeom>
              <a:rect b="b" l="l" r="r" t="t"/>
              <a:pathLst>
                <a:path extrusionOk="0" h="83820" w="83820">
                  <a:moveTo>
                    <a:pt x="83706" y="0"/>
                  </a:moveTo>
                  <a:lnTo>
                    <a:pt x="0" y="0"/>
                  </a:lnTo>
                  <a:lnTo>
                    <a:pt x="0" y="83406"/>
                  </a:lnTo>
                  <a:lnTo>
                    <a:pt x="83706" y="83406"/>
                  </a:lnTo>
                  <a:lnTo>
                    <a:pt x="8370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9797180" y="4555089"/>
              <a:ext cx="83820" cy="83820"/>
            </a:xfrm>
            <a:custGeom>
              <a:rect b="b" l="l" r="r" t="t"/>
              <a:pathLst>
                <a:path extrusionOk="0" h="83820" w="83820">
                  <a:moveTo>
                    <a:pt x="0" y="83406"/>
                  </a:moveTo>
                  <a:lnTo>
                    <a:pt x="83706" y="83406"/>
                  </a:lnTo>
                  <a:lnTo>
                    <a:pt x="83706" y="0"/>
                  </a:lnTo>
                  <a:lnTo>
                    <a:pt x="0" y="0"/>
                  </a:lnTo>
                  <a:lnTo>
                    <a:pt x="0" y="83406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1" name="Google Shape;551;p30"/>
          <p:cNvGrpSpPr/>
          <p:nvPr/>
        </p:nvGrpSpPr>
        <p:grpSpPr>
          <a:xfrm>
            <a:off x="8538760" y="4253209"/>
            <a:ext cx="83820" cy="84455"/>
            <a:chOff x="8538760" y="4253209"/>
            <a:chExt cx="83820" cy="84455"/>
          </a:xfrm>
        </p:grpSpPr>
        <p:sp>
          <p:nvSpPr>
            <p:cNvPr id="552" name="Google Shape;552;p30"/>
            <p:cNvSpPr/>
            <p:nvPr/>
          </p:nvSpPr>
          <p:spPr>
            <a:xfrm>
              <a:off x="8538760" y="4253209"/>
              <a:ext cx="83820" cy="84455"/>
            </a:xfrm>
            <a:custGeom>
              <a:rect b="b" l="l" r="r" t="t"/>
              <a:pathLst>
                <a:path extrusionOk="0" h="84454" w="83820">
                  <a:moveTo>
                    <a:pt x="83706" y="0"/>
                  </a:moveTo>
                  <a:lnTo>
                    <a:pt x="0" y="0"/>
                  </a:lnTo>
                  <a:lnTo>
                    <a:pt x="0" y="83945"/>
                  </a:lnTo>
                  <a:lnTo>
                    <a:pt x="83706" y="83945"/>
                  </a:lnTo>
                  <a:lnTo>
                    <a:pt x="8370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0"/>
            <p:cNvSpPr/>
            <p:nvPr/>
          </p:nvSpPr>
          <p:spPr>
            <a:xfrm>
              <a:off x="8538760" y="4253209"/>
              <a:ext cx="83820" cy="84455"/>
            </a:xfrm>
            <a:custGeom>
              <a:rect b="b" l="l" r="r" t="t"/>
              <a:pathLst>
                <a:path extrusionOk="0" h="84454" w="83820">
                  <a:moveTo>
                    <a:pt x="0" y="83945"/>
                  </a:moveTo>
                  <a:lnTo>
                    <a:pt x="83706" y="83945"/>
                  </a:lnTo>
                  <a:lnTo>
                    <a:pt x="83706" y="0"/>
                  </a:lnTo>
                  <a:lnTo>
                    <a:pt x="0" y="0"/>
                  </a:lnTo>
                  <a:lnTo>
                    <a:pt x="0" y="83945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4" name="Google Shape;554;p30"/>
          <p:cNvSpPr txBox="1"/>
          <p:nvPr/>
        </p:nvSpPr>
        <p:spPr>
          <a:xfrm>
            <a:off x="456171" y="1153350"/>
            <a:ext cx="7738745" cy="415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-457200" lvl="0" marL="46990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Acompanha a taxa de produção em patamares no tempo.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0" marL="46990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A mais empregada e combina as duas técnicas anteriores.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0" marL="469900" rtl="0" algn="l">
              <a:lnSpc>
                <a:spcPct val="120000"/>
              </a:lnSpc>
              <a:spcBef>
                <a:spcPts val="25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Quais são os Prós?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1" marL="9271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Permite ritmos de produção.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57200" lvl="1" marL="927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Reduz estoques.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454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latin typeface="Arial"/>
                <a:ea typeface="Arial"/>
                <a:cs typeface="Arial"/>
                <a:sym typeface="Arial"/>
              </a:rPr>
              <a:t>30</a:t>
            </a:r>
            <a:endParaRPr sz="1450">
              <a:latin typeface="Arial"/>
              <a:ea typeface="Arial"/>
              <a:cs typeface="Arial"/>
              <a:sym typeface="Arial"/>
            </a:endParaRPr>
          </a:p>
          <a:p>
            <a:pPr indent="0" lvl="0" marL="1454785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450">
                <a:latin typeface="Arial"/>
                <a:ea typeface="Arial"/>
                <a:cs typeface="Arial"/>
                <a:sym typeface="Arial"/>
              </a:rPr>
              <a:t>25</a:t>
            </a:r>
            <a:endParaRPr sz="1450">
              <a:latin typeface="Arial"/>
              <a:ea typeface="Arial"/>
              <a:cs typeface="Arial"/>
              <a:sym typeface="Arial"/>
            </a:endParaRPr>
          </a:p>
          <a:p>
            <a:pPr indent="0" lvl="0" marL="145478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450">
                <a:latin typeface="Arial"/>
                <a:ea typeface="Arial"/>
                <a:cs typeface="Arial"/>
                <a:sym typeface="Arial"/>
              </a:rPr>
              <a:t>20</a:t>
            </a:r>
            <a:endParaRPr sz="1450">
              <a:latin typeface="Arial"/>
              <a:ea typeface="Arial"/>
              <a:cs typeface="Arial"/>
              <a:sym typeface="Arial"/>
            </a:endParaRPr>
          </a:p>
          <a:p>
            <a:pPr indent="0" lvl="0" marL="1454785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b="1" lang="en-US" sz="1450">
                <a:latin typeface="Arial"/>
                <a:ea typeface="Arial"/>
                <a:cs typeface="Arial"/>
                <a:sym typeface="Arial"/>
              </a:rPr>
              <a:t>15</a:t>
            </a:r>
            <a:endParaRPr sz="1450">
              <a:latin typeface="Arial"/>
              <a:ea typeface="Arial"/>
              <a:cs typeface="Arial"/>
              <a:sym typeface="Arial"/>
            </a:endParaRPr>
          </a:p>
          <a:p>
            <a:pPr indent="0" lvl="0" marL="1454785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450">
                <a:latin typeface="Arial"/>
                <a:ea typeface="Arial"/>
                <a:cs typeface="Arial"/>
                <a:sym typeface="Arial"/>
              </a:rPr>
              <a:t>10</a:t>
            </a:r>
            <a:endParaRPr sz="1450">
              <a:latin typeface="Arial"/>
              <a:ea typeface="Arial"/>
              <a:cs typeface="Arial"/>
              <a:sym typeface="Arial"/>
            </a:endParaRPr>
          </a:p>
          <a:p>
            <a:pPr indent="0" lvl="0" marL="155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450">
                <a:latin typeface="Arial"/>
                <a:ea typeface="Arial"/>
                <a:cs typeface="Arial"/>
                <a:sym typeface="Arial"/>
              </a:rPr>
              <a:t>5</a:t>
            </a:r>
            <a:endParaRPr sz="1450">
              <a:latin typeface="Arial"/>
              <a:ea typeface="Arial"/>
              <a:cs typeface="Arial"/>
              <a:sym typeface="Arial"/>
            </a:endParaRPr>
          </a:p>
          <a:p>
            <a:pPr indent="0" lvl="0" marL="1555750" rtl="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rPr b="1" lang="en-US" sz="1450">
                <a:latin typeface="Arial"/>
                <a:ea typeface="Arial"/>
                <a:cs typeface="Arial"/>
                <a:sym typeface="Arial"/>
              </a:rPr>
              <a:t>0</a:t>
            </a:r>
            <a:endParaRPr sz="1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0"/>
          <p:cNvSpPr txBox="1"/>
          <p:nvPr/>
        </p:nvSpPr>
        <p:spPr>
          <a:xfrm>
            <a:off x="2687678" y="5329417"/>
            <a:ext cx="394970" cy="247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latin typeface="Arial"/>
                <a:ea typeface="Arial"/>
                <a:cs typeface="Arial"/>
                <a:sym typeface="Arial"/>
              </a:rPr>
              <a:t>Jan.</a:t>
            </a:r>
            <a:endParaRPr sz="1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0"/>
          <p:cNvSpPr txBox="1"/>
          <p:nvPr/>
        </p:nvSpPr>
        <p:spPr>
          <a:xfrm>
            <a:off x="3324921" y="5329417"/>
            <a:ext cx="394970" cy="247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latin typeface="Arial"/>
                <a:ea typeface="Arial"/>
                <a:cs typeface="Arial"/>
                <a:sym typeface="Arial"/>
              </a:rPr>
              <a:t>Fev.</a:t>
            </a:r>
            <a:endParaRPr sz="1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0"/>
          <p:cNvSpPr txBox="1"/>
          <p:nvPr/>
        </p:nvSpPr>
        <p:spPr>
          <a:xfrm>
            <a:off x="3929337" y="5329417"/>
            <a:ext cx="613219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9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latin typeface="Arial"/>
                <a:ea typeface="Arial"/>
                <a:cs typeface="Arial"/>
                <a:sym typeface="Arial"/>
              </a:rPr>
              <a:t>Mar.	Abr.	Mai.	Jun.	Jul.	Ago.	Set.	Out.	Nov.	Dez.</a:t>
            </a:r>
            <a:endParaRPr sz="1450">
              <a:latin typeface="Arial"/>
              <a:ea typeface="Arial"/>
              <a:cs typeface="Arial"/>
              <a:sym typeface="Arial"/>
            </a:endParaRPr>
          </a:p>
          <a:p>
            <a:pPr indent="0" lvl="0" marL="1807210" rtl="0" algn="l">
              <a:lnSpc>
                <a:spcPct val="119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Períodos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0"/>
          <p:cNvSpPr txBox="1"/>
          <p:nvPr/>
        </p:nvSpPr>
        <p:spPr>
          <a:xfrm rot="-5400000">
            <a:off x="966687" y="4183784"/>
            <a:ext cx="133604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Quantidades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9" name="Google Shape;559;p30"/>
          <p:cNvGrpSpPr/>
          <p:nvPr/>
        </p:nvGrpSpPr>
        <p:grpSpPr>
          <a:xfrm>
            <a:off x="4872629" y="5962224"/>
            <a:ext cx="436880" cy="116817"/>
            <a:chOff x="4872629" y="5962224"/>
            <a:chExt cx="436880" cy="116817"/>
          </a:xfrm>
        </p:grpSpPr>
        <p:sp>
          <p:nvSpPr>
            <p:cNvPr id="560" name="Google Shape;560;p30"/>
            <p:cNvSpPr/>
            <p:nvPr/>
          </p:nvSpPr>
          <p:spPr>
            <a:xfrm>
              <a:off x="4872629" y="6020633"/>
              <a:ext cx="436880" cy="0"/>
            </a:xfrm>
            <a:custGeom>
              <a:rect b="b" l="l" r="r" t="t"/>
              <a:pathLst>
                <a:path extrusionOk="0" h="120000" w="436879">
                  <a:moveTo>
                    <a:pt x="0" y="0"/>
                  </a:moveTo>
                  <a:lnTo>
                    <a:pt x="436507" y="0"/>
                  </a:lnTo>
                </a:path>
              </a:pathLst>
            </a:custGeom>
            <a:noFill/>
            <a:ln cap="flat" cmpd="sng" w="1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61" name="Google Shape;561;p3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032311" y="5962224"/>
              <a:ext cx="117145" cy="11681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2" name="Google Shape;562;p30"/>
          <p:cNvGrpSpPr/>
          <p:nvPr/>
        </p:nvGrpSpPr>
        <p:grpSpPr>
          <a:xfrm>
            <a:off x="6634282" y="5962251"/>
            <a:ext cx="436880" cy="83820"/>
            <a:chOff x="6634282" y="5962251"/>
            <a:chExt cx="436880" cy="83820"/>
          </a:xfrm>
        </p:grpSpPr>
        <p:sp>
          <p:nvSpPr>
            <p:cNvPr id="563" name="Google Shape;563;p30"/>
            <p:cNvSpPr/>
            <p:nvPr/>
          </p:nvSpPr>
          <p:spPr>
            <a:xfrm>
              <a:off x="6634282" y="6020634"/>
              <a:ext cx="436880" cy="0"/>
            </a:xfrm>
            <a:custGeom>
              <a:rect b="b" l="l" r="r" t="t"/>
              <a:pathLst>
                <a:path extrusionOk="0" h="120000" w="436879">
                  <a:moveTo>
                    <a:pt x="0" y="0"/>
                  </a:moveTo>
                  <a:lnTo>
                    <a:pt x="159561" y="0"/>
                  </a:lnTo>
                </a:path>
                <a:path extrusionOk="0" h="120000" w="436879">
                  <a:moveTo>
                    <a:pt x="243268" y="0"/>
                  </a:moveTo>
                  <a:lnTo>
                    <a:pt x="436507" y="0"/>
                  </a:lnTo>
                </a:path>
              </a:pathLst>
            </a:custGeom>
            <a:noFill/>
            <a:ln cap="flat" cmpd="sng" w="1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6793844" y="5962251"/>
              <a:ext cx="83820" cy="83820"/>
            </a:xfrm>
            <a:custGeom>
              <a:rect b="b" l="l" r="r" t="t"/>
              <a:pathLst>
                <a:path extrusionOk="0" h="83820" w="83820">
                  <a:moveTo>
                    <a:pt x="83706" y="0"/>
                  </a:moveTo>
                  <a:lnTo>
                    <a:pt x="0" y="0"/>
                  </a:lnTo>
                  <a:lnTo>
                    <a:pt x="0" y="83406"/>
                  </a:lnTo>
                  <a:lnTo>
                    <a:pt x="83706" y="83406"/>
                  </a:lnTo>
                  <a:lnTo>
                    <a:pt x="8370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6793844" y="5962251"/>
              <a:ext cx="83820" cy="83820"/>
            </a:xfrm>
            <a:custGeom>
              <a:rect b="b" l="l" r="r" t="t"/>
              <a:pathLst>
                <a:path extrusionOk="0" h="83820" w="83820">
                  <a:moveTo>
                    <a:pt x="0" y="83406"/>
                  </a:moveTo>
                  <a:lnTo>
                    <a:pt x="83706" y="83406"/>
                  </a:lnTo>
                  <a:lnTo>
                    <a:pt x="83706" y="0"/>
                  </a:lnTo>
                  <a:lnTo>
                    <a:pt x="0" y="0"/>
                  </a:lnTo>
                  <a:lnTo>
                    <a:pt x="0" y="83406"/>
                  </a:lnTo>
                  <a:close/>
                </a:path>
              </a:pathLst>
            </a:custGeom>
            <a:noFill/>
            <a:ln cap="flat" cmpd="sng" w="167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6" name="Google Shape;566;p30"/>
          <p:cNvSpPr txBox="1"/>
          <p:nvPr/>
        </p:nvSpPr>
        <p:spPr>
          <a:xfrm>
            <a:off x="4646118" y="5861614"/>
            <a:ext cx="3339465" cy="335280"/>
          </a:xfrm>
          <a:prstGeom prst="rect">
            <a:avLst/>
          </a:prstGeom>
          <a:noFill/>
          <a:ln cap="flat" cmpd="sng" w="16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721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latin typeface="Arial"/>
                <a:ea typeface="Arial"/>
                <a:cs typeface="Arial"/>
                <a:sym typeface="Arial"/>
              </a:rPr>
              <a:t>Produção	Vendas</a:t>
            </a:r>
            <a:endParaRPr sz="14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1"/>
          <p:cNvSpPr txBox="1"/>
          <p:nvPr/>
        </p:nvSpPr>
        <p:spPr>
          <a:xfrm>
            <a:off x="536575" y="1836292"/>
            <a:ext cx="7825105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171449" lvl="0" marL="1739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Política de Produção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1449" lvl="1" marL="631190" rtl="0" algn="l">
              <a:lnSpc>
                <a:spcPct val="107678"/>
              </a:lnSpc>
              <a:spcBef>
                <a:spcPts val="2050"/>
              </a:spcBef>
              <a:spcAft>
                <a:spcPts val="0"/>
              </a:spcAft>
              <a:buSzPts val="270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Utiliza política de acompanhamento de demanda;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42570" lvl="1" marL="712470" rtl="0" algn="l">
              <a:lnSpc>
                <a:spcPct val="107678"/>
              </a:lnSpc>
              <a:spcBef>
                <a:spcPts val="0"/>
              </a:spcBef>
              <a:spcAft>
                <a:spcPts val="0"/>
              </a:spcAft>
              <a:buSzPts val="270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Não permite estoques, apenas de insumos.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72" name="Google Shape;572;p31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900">
            <a:spAutoFit/>
          </a:bodyPr>
          <a:lstStyle/>
          <a:p>
            <a:pPr indent="0" lvl="0" marL="60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Plano de Produção em Serviços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2"/>
          <p:cNvSpPr txBox="1"/>
          <p:nvPr/>
        </p:nvSpPr>
        <p:spPr>
          <a:xfrm>
            <a:off x="284625" y="1348225"/>
            <a:ext cx="12335100" cy="49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Etapas: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38150" lvl="0" marL="46990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Agrupar os serviços em famílias afins;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38150" lvl="0" marL="46990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Estabelecer o horizonte de planejamento (ex. 2 anos) e os períodos de tempo (ex. meses,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69900" rtl="0" algn="l">
              <a:lnSpc>
                <a:spcPct val="11909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trimestre);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38150" lvl="0" marL="46990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 startAt="3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Determinar, período à período, a previsão de demanda (PD) para estas famílias de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serviços;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38150" lvl="0" marL="469900" rtl="0" algn="l">
              <a:lnSpc>
                <a:spcPct val="119090"/>
              </a:lnSpc>
              <a:spcBef>
                <a:spcPts val="25"/>
              </a:spcBef>
              <a:spcAft>
                <a:spcPts val="0"/>
              </a:spcAft>
              <a:buSzPts val="1900"/>
              <a:buFont typeface="Arial"/>
              <a:buAutoNum type="arabicPeriod" startAt="4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Analisar a capacidade produtiva – Produção total no período (Pt);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38150" lvl="0" marL="46990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 startAt="4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Identificar os períodos com falta de capacidade (PD &gt; Pt);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38150" lvl="0" marL="46990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SzPts val="1900"/>
              <a:buFont typeface="Arial"/>
              <a:buAutoNum type="arabicPeriod" startAt="4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Quando necessário, aumentar a capacidade segundo a estratégia permitida (turno normal,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69900" rtl="0" algn="l">
              <a:lnSpc>
                <a:spcPct val="11909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turno extra, subcontratações, etc.);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38150" lvl="0" marL="46990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 startAt="7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Calcular os custos decorrentes do Plano de Produção (PP) resultando no Plano Financeiro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(PF);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38150" lvl="0" marL="469900" rtl="0" algn="l">
              <a:lnSpc>
                <a:spcPct val="118863"/>
              </a:lnSpc>
              <a:spcBef>
                <a:spcPts val="30"/>
              </a:spcBef>
              <a:spcAft>
                <a:spcPts val="0"/>
              </a:spcAft>
              <a:buSzPts val="1900"/>
              <a:buFont typeface="Arial"/>
              <a:buAutoNum type="arabicPeriod" startAt="8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Desenvolver planos de produção alternativos;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38150" lvl="0" marL="469900" rtl="0" algn="l">
              <a:lnSpc>
                <a:spcPct val="118863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 startAt="8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Entre os planos alternativos viáveis, escolher o PP com melhor retorno financeiro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considerando todo horizonte de planejamento.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578" name="Google Shape;578;p32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8975">
            <a:spAutoFit/>
          </a:bodyPr>
          <a:lstStyle/>
          <a:p>
            <a:pPr indent="0" lvl="0" marL="358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Plano de Produção em Serviços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3"/>
          <p:cNvSpPr txBox="1"/>
          <p:nvPr/>
        </p:nvSpPr>
        <p:spPr>
          <a:xfrm>
            <a:off x="282740" y="1512506"/>
            <a:ext cx="11411700" cy="4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40640" rtl="0" algn="l">
              <a:lnSpc>
                <a:spcPct val="10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Uma base de distribuição de combustíveis recebe produtos de petróleo via dutos de balsas tanques diariamente das refinarias. O produto é armazenado nos tanques e em seguida é preparado para ser comercializado nos postos de combustíveis via caminhão tanque.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6985" rtl="0" algn="l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base possui atualmente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16 operadores efetivos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onde cada um possui em média uma produtividade de abastecimento de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100 caminhões tanque por mês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cada um atuando em apenas um turno de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 horas ao longo de 5 dias na semana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com um salário média de R$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30,00 por hora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4000"/>
              </a:lnSpc>
              <a:spcBef>
                <a:spcPts val="1925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política atual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da empresa, devido a demanda mensal não ser estável, tem sido de adotar 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estratégia de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contratar e demitir funcionários temporários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4250"/>
              </a:lnSpc>
              <a:spcBef>
                <a:spcPts val="1925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No entanto,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produtividade estimada desses temporários é de 80%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apenas, a um custo de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R$ 20,00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4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por hora, cada um trabalhando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 horas ao longo de 5 dias na semana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584" name="Google Shape;584;p33"/>
          <p:cNvSpPr txBox="1"/>
          <p:nvPr>
            <p:ph type="title"/>
          </p:nvPr>
        </p:nvSpPr>
        <p:spPr>
          <a:xfrm>
            <a:off x="156933" y="64592"/>
            <a:ext cx="10513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8975">
            <a:spAutoFit/>
          </a:bodyPr>
          <a:lstStyle/>
          <a:p>
            <a:pPr indent="0" lvl="0" marL="358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Plano de Produção em Serviços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4"/>
          <p:cNvSpPr txBox="1"/>
          <p:nvPr/>
        </p:nvSpPr>
        <p:spPr>
          <a:xfrm>
            <a:off x="317423" y="1315338"/>
            <a:ext cx="11691620" cy="4519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Para os próximos 12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meses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o custo estimado de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contratar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um funcionário temporário é de R$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2.000,00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similarmente o custo estimado de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demissão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é de R$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3.000,00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029335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 aumento e/ou diminuição da capacidade em função das contratações e/ou demissões serão considerados sempre no início do mês;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9050" rtl="0" algn="l">
              <a:lnSpc>
                <a:spcPct val="2165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Os </a:t>
            </a:r>
            <a:r>
              <a:rPr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custos de contratar 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funcionários temporários devem ser contabilizados no </a:t>
            </a:r>
            <a:r>
              <a:rPr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primeiro mês contratado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; Os </a:t>
            </a:r>
            <a:r>
              <a:rPr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custos de demissão 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de funcionários temporários devem ser contabilizados </a:t>
            </a:r>
            <a:r>
              <a:rPr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mês após a dispensa;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14250"/>
              </a:lnSpc>
              <a:spcBef>
                <a:spcPts val="1455"/>
              </a:spcBef>
              <a:spcAft>
                <a:spcPts val="0"/>
              </a:spcAft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No final do horizonte de planejamento, deve-se incluir os </a:t>
            </a:r>
            <a:r>
              <a:rPr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custos de demissão do saldo de funcionários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14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temporários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25"/>
              </a:spcBef>
              <a:spcAft>
                <a:spcPts val="0"/>
              </a:spcAft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Em nenhuma das opções considera-se demitir algum dos 16 funcionários permanentes atuais.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25"/>
              </a:spcBef>
              <a:spcAft>
                <a:spcPts val="0"/>
              </a:spcAft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 seguir apresenta-se a previsão de demanda (PD) dos serviços durante os próximos 12 meses: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descr="$PPTXTitle" id="590" name="Google Shape;590;p34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8975">
            <a:spAutoFit/>
          </a:bodyPr>
          <a:lstStyle/>
          <a:p>
            <a:pPr indent="0" lvl="0" marL="358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Plano de Produção em Serviços</a:t>
            </a:r>
            <a:endParaRPr/>
          </a:p>
        </p:txBody>
      </p:sp>
      <p:pic>
        <p:nvPicPr>
          <p:cNvPr id="591" name="Google Shape;59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038967"/>
            <a:ext cx="11274552" cy="372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96" name="Google Shape;596;p35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7475">
            <a:spAutoFit/>
          </a:bodyPr>
          <a:lstStyle/>
          <a:p>
            <a:pPr indent="0" lvl="0" marL="338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Passo-a-passo 1</a:t>
            </a:r>
            <a:endParaRPr/>
          </a:p>
        </p:txBody>
      </p:sp>
      <p:sp>
        <p:nvSpPr>
          <p:cNvPr id="597" name="Google Shape;597;p35"/>
          <p:cNvSpPr txBox="1"/>
          <p:nvPr/>
        </p:nvSpPr>
        <p:spPr>
          <a:xfrm>
            <a:off x="536257" y="2842450"/>
            <a:ext cx="279336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Divide-se o plano em 3 partes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8" name="Google Shape;598;p35"/>
          <p:cNvGraphicFramePr/>
          <p:nvPr/>
        </p:nvGraphicFramePr>
        <p:xfrm>
          <a:off x="4224527" y="14176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{CBC92ADA-D85B-437F-BB6A-64D2A2958FB9}</a:tableStyleId>
              </a:tblPr>
              <a:tblGrid>
                <a:gridCol w="1765300"/>
                <a:gridCol w="4845675"/>
              </a:tblGrid>
              <a:tr h="245100">
                <a:tc row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7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207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Plano de Produção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Previsão de demanda (PD)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975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10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Produção Total no período (PT)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75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Necessidade de Produção (PT - PD)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90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75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Produção com Efetivos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10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Produção com Temporários (Saldo)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75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Produção com HE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90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75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Produção com SUB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1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45750">
                <a:tc row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4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2222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Força de Trabalho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Quantidade de Funcionários Efetivos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75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Quantidade de Funcionários Temporários Contratados (CT)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10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Quantidade de Funcionários Temporários Demitidos (DT)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75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Saldo Funcionários Temporários (Ft = Ft-1 +Ct - Dt)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75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Quantidade de Funcionários usando HE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10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Quantidade de Funcionários usando SUB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7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45750">
                <a:tc row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45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2686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Plano Financeiro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Gastos com Funcionários Efetivos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10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Gastos com Funcionários Temporários (Saldo)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75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Gastos com Funcionários em HE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90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75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Gastos com Funcionários em SUB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100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Gastos com Contratações (CT)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5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25">
                <a:tc vMerge="1"/>
                <a:tc>
                  <a:txBody>
                    <a:bodyPr/>
                    <a:lstStyle/>
                    <a:p>
                      <a:pPr indent="0" lvl="0" marL="38100" marR="0" rtl="0" algn="l">
                        <a:lnSpc>
                          <a:spcPct val="1189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Gastos com Demissões (DT)</a:t>
                      </a:r>
                      <a:endParaRPr sz="14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90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03" name="Google Shape;603;p36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7475">
            <a:spAutoFit/>
          </a:bodyPr>
          <a:lstStyle/>
          <a:p>
            <a:pPr indent="0" lvl="0" marL="338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Passo-a-passo 2</a:t>
            </a:r>
            <a:endParaRPr/>
          </a:p>
        </p:txBody>
      </p:sp>
      <p:sp>
        <p:nvSpPr>
          <p:cNvPr id="604" name="Google Shape;604;p36"/>
          <p:cNvSpPr txBox="1"/>
          <p:nvPr/>
        </p:nvSpPr>
        <p:spPr>
          <a:xfrm>
            <a:off x="237337" y="1243139"/>
            <a:ext cx="264604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Programar a produção total: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6"/>
          <p:cNvSpPr txBox="1"/>
          <p:nvPr/>
        </p:nvSpPr>
        <p:spPr>
          <a:xfrm>
            <a:off x="237337" y="3930840"/>
            <a:ext cx="3567429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Analisar a necessidade de capacidade: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6" name="Google Shape;606;p36"/>
          <p:cNvGrpSpPr/>
          <p:nvPr/>
        </p:nvGrpSpPr>
        <p:grpSpPr>
          <a:xfrm>
            <a:off x="180845" y="1801748"/>
            <a:ext cx="7168136" cy="1487285"/>
            <a:chOff x="180845" y="1801748"/>
            <a:chExt cx="7168136" cy="1487285"/>
          </a:xfrm>
        </p:grpSpPr>
        <p:pic>
          <p:nvPicPr>
            <p:cNvPr descr="A list of different languages  Description automatically generated" id="607" name="Google Shape;607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0845" y="1801748"/>
              <a:ext cx="6311394" cy="14872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8" name="Google Shape;608;p36"/>
            <p:cNvSpPr/>
            <p:nvPr/>
          </p:nvSpPr>
          <p:spPr>
            <a:xfrm>
              <a:off x="5554979" y="2016696"/>
              <a:ext cx="1125220" cy="238125"/>
            </a:xfrm>
            <a:custGeom>
              <a:rect b="b" l="l" r="r" t="t"/>
              <a:pathLst>
                <a:path extrusionOk="0" h="238125" w="1125220">
                  <a:moveTo>
                    <a:pt x="0" y="237807"/>
                  </a:moveTo>
                  <a:lnTo>
                    <a:pt x="1124712" y="237807"/>
                  </a:lnTo>
                  <a:lnTo>
                    <a:pt x="1124712" y="0"/>
                  </a:lnTo>
                  <a:lnTo>
                    <a:pt x="0" y="0"/>
                  </a:lnTo>
                  <a:lnTo>
                    <a:pt x="0" y="237807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6679691" y="2100452"/>
              <a:ext cx="669290" cy="76200"/>
            </a:xfrm>
            <a:custGeom>
              <a:rect b="b" l="l" r="r" t="t"/>
              <a:pathLst>
                <a:path extrusionOk="0" h="76200" w="669290">
                  <a:moveTo>
                    <a:pt x="592835" y="0"/>
                  </a:moveTo>
                  <a:lnTo>
                    <a:pt x="592454" y="76200"/>
                  </a:lnTo>
                  <a:lnTo>
                    <a:pt x="656552" y="44576"/>
                  </a:lnTo>
                  <a:lnTo>
                    <a:pt x="605408" y="44576"/>
                  </a:lnTo>
                  <a:lnTo>
                    <a:pt x="605408" y="31876"/>
                  </a:lnTo>
                  <a:lnTo>
                    <a:pt x="655853" y="31876"/>
                  </a:lnTo>
                  <a:lnTo>
                    <a:pt x="592835" y="0"/>
                  </a:lnTo>
                  <a:close/>
                </a:path>
                <a:path extrusionOk="0" h="76200" w="669290">
                  <a:moveTo>
                    <a:pt x="0" y="28829"/>
                  </a:moveTo>
                  <a:lnTo>
                    <a:pt x="0" y="41529"/>
                  </a:lnTo>
                  <a:lnTo>
                    <a:pt x="605408" y="44576"/>
                  </a:lnTo>
                  <a:lnTo>
                    <a:pt x="592613" y="44576"/>
                  </a:lnTo>
                  <a:lnTo>
                    <a:pt x="592676" y="31876"/>
                  </a:lnTo>
                  <a:lnTo>
                    <a:pt x="605408" y="31876"/>
                  </a:lnTo>
                  <a:lnTo>
                    <a:pt x="0" y="28829"/>
                  </a:lnTo>
                  <a:close/>
                </a:path>
                <a:path extrusionOk="0" h="76200" w="669290">
                  <a:moveTo>
                    <a:pt x="655853" y="31876"/>
                  </a:moveTo>
                  <a:lnTo>
                    <a:pt x="605408" y="31876"/>
                  </a:lnTo>
                  <a:lnTo>
                    <a:pt x="605408" y="44576"/>
                  </a:lnTo>
                  <a:lnTo>
                    <a:pt x="656552" y="44576"/>
                  </a:lnTo>
                  <a:lnTo>
                    <a:pt x="668908" y="38481"/>
                  </a:lnTo>
                  <a:lnTo>
                    <a:pt x="655853" y="3187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0" name="Google Shape;610;p36"/>
          <p:cNvSpPr txBox="1"/>
          <p:nvPr/>
        </p:nvSpPr>
        <p:spPr>
          <a:xfrm>
            <a:off x="7467727" y="1994598"/>
            <a:ext cx="4373880" cy="267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𝑃𝑇 = 𝑃𝑟𝑜𝑑. 𝐸𝑓𝑒𝑡𝑖𝑣𝑜𝑠 + 𝑃. 𝑇𝑒𝑚𝑝. +𝑃. 𝐻𝐸 + 𝑃. 𝑆𝑈𝐵</a:t>
            </a:r>
            <a:endParaRPr sz="15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611" name="Google Shape;611;p36"/>
          <p:cNvGrpSpPr/>
          <p:nvPr/>
        </p:nvGrpSpPr>
        <p:grpSpPr>
          <a:xfrm>
            <a:off x="180845" y="4635142"/>
            <a:ext cx="7204712" cy="1474573"/>
            <a:chOff x="180845" y="4635142"/>
            <a:chExt cx="7204712" cy="1474573"/>
          </a:xfrm>
        </p:grpSpPr>
        <p:pic>
          <p:nvPicPr>
            <p:cNvPr descr="A list of different languages  Description automatically generated" id="612" name="Google Shape;612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0845" y="4635142"/>
              <a:ext cx="6311394" cy="14745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36"/>
            <p:cNvSpPr/>
            <p:nvPr/>
          </p:nvSpPr>
          <p:spPr>
            <a:xfrm>
              <a:off x="5591556" y="5025834"/>
              <a:ext cx="1125220" cy="238125"/>
            </a:xfrm>
            <a:custGeom>
              <a:rect b="b" l="l" r="r" t="t"/>
              <a:pathLst>
                <a:path extrusionOk="0" h="238125" w="1125220">
                  <a:moveTo>
                    <a:pt x="0" y="237807"/>
                  </a:moveTo>
                  <a:lnTo>
                    <a:pt x="1124711" y="237807"/>
                  </a:lnTo>
                  <a:lnTo>
                    <a:pt x="1124711" y="0"/>
                  </a:lnTo>
                  <a:lnTo>
                    <a:pt x="0" y="0"/>
                  </a:lnTo>
                  <a:lnTo>
                    <a:pt x="0" y="237807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6"/>
            <p:cNvSpPr/>
            <p:nvPr/>
          </p:nvSpPr>
          <p:spPr>
            <a:xfrm>
              <a:off x="6716267" y="5109590"/>
              <a:ext cx="669290" cy="76200"/>
            </a:xfrm>
            <a:custGeom>
              <a:rect b="b" l="l" r="r" t="t"/>
              <a:pathLst>
                <a:path extrusionOk="0" h="76200" w="669290">
                  <a:moveTo>
                    <a:pt x="592835" y="0"/>
                  </a:moveTo>
                  <a:lnTo>
                    <a:pt x="592454" y="76199"/>
                  </a:lnTo>
                  <a:lnTo>
                    <a:pt x="656552" y="44576"/>
                  </a:lnTo>
                  <a:lnTo>
                    <a:pt x="605408" y="44576"/>
                  </a:lnTo>
                  <a:lnTo>
                    <a:pt x="605408" y="31876"/>
                  </a:lnTo>
                  <a:lnTo>
                    <a:pt x="655853" y="31876"/>
                  </a:lnTo>
                  <a:lnTo>
                    <a:pt x="592835" y="0"/>
                  </a:lnTo>
                  <a:close/>
                </a:path>
                <a:path extrusionOk="0" h="76200" w="669290">
                  <a:moveTo>
                    <a:pt x="0" y="28828"/>
                  </a:moveTo>
                  <a:lnTo>
                    <a:pt x="0" y="41528"/>
                  </a:lnTo>
                  <a:lnTo>
                    <a:pt x="605408" y="44576"/>
                  </a:lnTo>
                  <a:lnTo>
                    <a:pt x="592613" y="44576"/>
                  </a:lnTo>
                  <a:lnTo>
                    <a:pt x="592676" y="31876"/>
                  </a:lnTo>
                  <a:lnTo>
                    <a:pt x="605408" y="31876"/>
                  </a:lnTo>
                  <a:lnTo>
                    <a:pt x="0" y="28828"/>
                  </a:lnTo>
                  <a:close/>
                </a:path>
                <a:path extrusionOk="0" h="76200" w="669290">
                  <a:moveTo>
                    <a:pt x="655853" y="31876"/>
                  </a:moveTo>
                  <a:lnTo>
                    <a:pt x="605408" y="31876"/>
                  </a:lnTo>
                  <a:lnTo>
                    <a:pt x="605408" y="44576"/>
                  </a:lnTo>
                  <a:lnTo>
                    <a:pt x="656552" y="44576"/>
                  </a:lnTo>
                  <a:lnTo>
                    <a:pt x="668908" y="38480"/>
                  </a:lnTo>
                  <a:lnTo>
                    <a:pt x="655853" y="3187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5" name="Google Shape;615;p36"/>
          <p:cNvSpPr txBox="1"/>
          <p:nvPr/>
        </p:nvSpPr>
        <p:spPr>
          <a:xfrm>
            <a:off x="7601457" y="4999799"/>
            <a:ext cx="3071495" cy="8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𝑁𝑒𝑐. 𝐶𝑎𝑝𝑎𝑐𝑖𝑑𝑎𝑑𝑒 = 𝑃𝑇 − 𝑃𝐷</a:t>
            </a:r>
            <a:endParaRPr sz="155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Se negativo, necessário produzir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20" name="Google Shape;620;p37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7475">
            <a:spAutoFit/>
          </a:bodyPr>
          <a:lstStyle/>
          <a:p>
            <a:pPr indent="0" lvl="0" marL="338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Passo-a-passo 3</a:t>
            </a:r>
            <a:endParaRPr/>
          </a:p>
        </p:txBody>
      </p:sp>
      <p:sp>
        <p:nvSpPr>
          <p:cNvPr id="621" name="Google Shape;621;p37"/>
          <p:cNvSpPr txBox="1"/>
          <p:nvPr/>
        </p:nvSpPr>
        <p:spPr>
          <a:xfrm>
            <a:off x="193192" y="1196530"/>
            <a:ext cx="424434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Definir a produtividade por força de trabalho: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7"/>
          <p:cNvSpPr txBox="1"/>
          <p:nvPr>
            <p:ph idx="1" type="body"/>
          </p:nvPr>
        </p:nvSpPr>
        <p:spPr>
          <a:xfrm>
            <a:off x="6622668" y="2017839"/>
            <a:ext cx="5398770" cy="227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𝑃𝑟𝑜𝑑. 𝐸𝑓𝑒𝑡𝑖𝑣𝑜𝑠 = 𝑃𝑟𝑜𝑑𝑢𝑡𝑖𝑣. 𝐸𝑓𝑒𝑡𝑖𝑣𝑜𝑠  × 𝑄𝑡𝑑. 𝐹𝑢𝑛𝑐. 𝐸𝑓𝑒𝑡𝑖𝑣𝑜𝑠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079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𝑃𝑟𝑜𝑑. 𝑇𝑒𝑚𝑝. = 𝑃𝑟𝑜𝑑𝑢𝑡𝑖𝑣. 𝑇𝑒𝑚𝑝  × 𝑄𝑡𝑑. 𝐹𝑢𝑛𝑐. 𝑇𝑒𝑚𝑝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71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𝑃𝑟𝑜𝑑. 𝐻𝐸. = 𝑃𝑟𝑜𝑑𝑢𝑡𝑖𝑣. 𝐻𝐸  × 𝑄𝑡𝑑. 𝐹𝑢𝑛𝑐. 𝐻𝐸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71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𝑃𝑟𝑜𝑑. 𝑆𝑈𝐵. = 𝑃𝑟𝑜𝑑𝑢𝑡𝑖𝑣. 𝑆𝑈𝐵  × 𝑄𝑡𝑑. 𝐹𝑢𝑛𝑐. 𝑆𝑈𝐵</a:t>
            </a:r>
            <a:endParaRPr/>
          </a:p>
        </p:txBody>
      </p:sp>
      <p:grpSp>
        <p:nvGrpSpPr>
          <p:cNvPr id="623" name="Google Shape;623;p37"/>
          <p:cNvGrpSpPr/>
          <p:nvPr/>
        </p:nvGrpSpPr>
        <p:grpSpPr>
          <a:xfrm>
            <a:off x="135162" y="2336926"/>
            <a:ext cx="6963248" cy="1722120"/>
            <a:chOff x="135162" y="2336926"/>
            <a:chExt cx="6963248" cy="1722120"/>
          </a:xfrm>
        </p:grpSpPr>
        <p:pic>
          <p:nvPicPr>
            <p:cNvPr descr="A list of different languages  Description automatically generated" id="624" name="Google Shape;62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5162" y="2551810"/>
              <a:ext cx="6320501" cy="14872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37"/>
            <p:cNvSpPr/>
            <p:nvPr/>
          </p:nvSpPr>
          <p:spPr>
            <a:xfrm>
              <a:off x="5536691" y="3187509"/>
              <a:ext cx="1005840" cy="247015"/>
            </a:xfrm>
            <a:custGeom>
              <a:rect b="b" l="l" r="r" t="t"/>
              <a:pathLst>
                <a:path extrusionOk="0" h="247014" w="1005840">
                  <a:moveTo>
                    <a:pt x="0" y="246951"/>
                  </a:moveTo>
                  <a:lnTo>
                    <a:pt x="1005839" y="246951"/>
                  </a:lnTo>
                  <a:lnTo>
                    <a:pt x="1005839" y="0"/>
                  </a:lnTo>
                  <a:lnTo>
                    <a:pt x="0" y="0"/>
                  </a:lnTo>
                  <a:lnTo>
                    <a:pt x="0" y="246951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7"/>
            <p:cNvSpPr/>
            <p:nvPr/>
          </p:nvSpPr>
          <p:spPr>
            <a:xfrm>
              <a:off x="6536309" y="2336926"/>
              <a:ext cx="258445" cy="979169"/>
            </a:xfrm>
            <a:custGeom>
              <a:rect b="b" l="l" r="r" t="t"/>
              <a:pathLst>
                <a:path extrusionOk="0" h="979170" w="258445">
                  <a:moveTo>
                    <a:pt x="214724" y="72628"/>
                  </a:moveTo>
                  <a:lnTo>
                    <a:pt x="0" y="976249"/>
                  </a:lnTo>
                  <a:lnTo>
                    <a:pt x="12446" y="979170"/>
                  </a:lnTo>
                  <a:lnTo>
                    <a:pt x="227069" y="75571"/>
                  </a:lnTo>
                  <a:lnTo>
                    <a:pt x="214724" y="72628"/>
                  </a:lnTo>
                  <a:close/>
                </a:path>
                <a:path extrusionOk="0" h="979170" w="258445">
                  <a:moveTo>
                    <a:pt x="252610" y="60198"/>
                  </a:moveTo>
                  <a:lnTo>
                    <a:pt x="217677" y="60198"/>
                  </a:lnTo>
                  <a:lnTo>
                    <a:pt x="229997" y="63246"/>
                  </a:lnTo>
                  <a:lnTo>
                    <a:pt x="227069" y="75571"/>
                  </a:lnTo>
                  <a:lnTo>
                    <a:pt x="257937" y="82931"/>
                  </a:lnTo>
                  <a:lnTo>
                    <a:pt x="252610" y="60198"/>
                  </a:lnTo>
                  <a:close/>
                </a:path>
                <a:path extrusionOk="0" h="979170" w="258445">
                  <a:moveTo>
                    <a:pt x="217677" y="60198"/>
                  </a:moveTo>
                  <a:lnTo>
                    <a:pt x="214724" y="72628"/>
                  </a:lnTo>
                  <a:lnTo>
                    <a:pt x="227069" y="75571"/>
                  </a:lnTo>
                  <a:lnTo>
                    <a:pt x="229997" y="63246"/>
                  </a:lnTo>
                  <a:lnTo>
                    <a:pt x="217677" y="60198"/>
                  </a:lnTo>
                  <a:close/>
                </a:path>
                <a:path extrusionOk="0" h="979170" w="258445">
                  <a:moveTo>
                    <a:pt x="238506" y="0"/>
                  </a:moveTo>
                  <a:lnTo>
                    <a:pt x="183896" y="65277"/>
                  </a:lnTo>
                  <a:lnTo>
                    <a:pt x="214724" y="72628"/>
                  </a:lnTo>
                  <a:lnTo>
                    <a:pt x="217677" y="60198"/>
                  </a:lnTo>
                  <a:lnTo>
                    <a:pt x="252610" y="60198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7"/>
            <p:cNvSpPr/>
            <p:nvPr/>
          </p:nvSpPr>
          <p:spPr>
            <a:xfrm>
              <a:off x="5536691" y="3379533"/>
              <a:ext cx="1005840" cy="247015"/>
            </a:xfrm>
            <a:custGeom>
              <a:rect b="b" l="l" r="r" t="t"/>
              <a:pathLst>
                <a:path extrusionOk="0" h="247014" w="1005840">
                  <a:moveTo>
                    <a:pt x="0" y="246951"/>
                  </a:moveTo>
                  <a:lnTo>
                    <a:pt x="1005839" y="246951"/>
                  </a:lnTo>
                  <a:lnTo>
                    <a:pt x="1005839" y="0"/>
                  </a:lnTo>
                  <a:lnTo>
                    <a:pt x="0" y="0"/>
                  </a:lnTo>
                  <a:lnTo>
                    <a:pt x="0" y="246951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7"/>
            <p:cNvSpPr/>
            <p:nvPr/>
          </p:nvSpPr>
          <p:spPr>
            <a:xfrm>
              <a:off x="6537705" y="2830829"/>
              <a:ext cx="560705" cy="674370"/>
            </a:xfrm>
            <a:custGeom>
              <a:rect b="b" l="l" r="r" t="t"/>
              <a:pathLst>
                <a:path extrusionOk="0" h="674370" w="560704">
                  <a:moveTo>
                    <a:pt x="506859" y="54506"/>
                  </a:moveTo>
                  <a:lnTo>
                    <a:pt x="0" y="665988"/>
                  </a:lnTo>
                  <a:lnTo>
                    <a:pt x="9651" y="674116"/>
                  </a:lnTo>
                  <a:lnTo>
                    <a:pt x="516647" y="62621"/>
                  </a:lnTo>
                  <a:lnTo>
                    <a:pt x="506859" y="54506"/>
                  </a:lnTo>
                  <a:close/>
                </a:path>
                <a:path extrusionOk="0" h="674370" w="560704">
                  <a:moveTo>
                    <a:pt x="550045" y="44704"/>
                  </a:moveTo>
                  <a:lnTo>
                    <a:pt x="514985" y="44704"/>
                  </a:lnTo>
                  <a:lnTo>
                    <a:pt x="524764" y="52832"/>
                  </a:lnTo>
                  <a:lnTo>
                    <a:pt x="516647" y="62621"/>
                  </a:lnTo>
                  <a:lnTo>
                    <a:pt x="541147" y="82931"/>
                  </a:lnTo>
                  <a:lnTo>
                    <a:pt x="550045" y="44704"/>
                  </a:lnTo>
                  <a:close/>
                </a:path>
                <a:path extrusionOk="0" h="674370" w="560704">
                  <a:moveTo>
                    <a:pt x="514985" y="44704"/>
                  </a:moveTo>
                  <a:lnTo>
                    <a:pt x="506859" y="54506"/>
                  </a:lnTo>
                  <a:lnTo>
                    <a:pt x="516647" y="62621"/>
                  </a:lnTo>
                  <a:lnTo>
                    <a:pt x="524764" y="52832"/>
                  </a:lnTo>
                  <a:lnTo>
                    <a:pt x="514985" y="44704"/>
                  </a:lnTo>
                  <a:close/>
                </a:path>
                <a:path extrusionOk="0" h="674370" w="560704">
                  <a:moveTo>
                    <a:pt x="560451" y="0"/>
                  </a:moveTo>
                  <a:lnTo>
                    <a:pt x="482473" y="34290"/>
                  </a:lnTo>
                  <a:lnTo>
                    <a:pt x="506859" y="54506"/>
                  </a:lnTo>
                  <a:lnTo>
                    <a:pt x="514985" y="44704"/>
                  </a:lnTo>
                  <a:lnTo>
                    <a:pt x="550045" y="44704"/>
                  </a:lnTo>
                  <a:lnTo>
                    <a:pt x="56045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7"/>
            <p:cNvSpPr/>
            <p:nvPr/>
          </p:nvSpPr>
          <p:spPr>
            <a:xfrm>
              <a:off x="5536691" y="3580714"/>
              <a:ext cx="1005840" cy="229235"/>
            </a:xfrm>
            <a:custGeom>
              <a:rect b="b" l="l" r="r" t="t"/>
              <a:pathLst>
                <a:path extrusionOk="0" h="229235" w="1005840">
                  <a:moveTo>
                    <a:pt x="0" y="228650"/>
                  </a:moveTo>
                  <a:lnTo>
                    <a:pt x="1005839" y="228650"/>
                  </a:lnTo>
                  <a:lnTo>
                    <a:pt x="1005839" y="0"/>
                  </a:lnTo>
                  <a:lnTo>
                    <a:pt x="0" y="0"/>
                  </a:lnTo>
                  <a:lnTo>
                    <a:pt x="0" y="228650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7"/>
            <p:cNvSpPr/>
            <p:nvPr/>
          </p:nvSpPr>
          <p:spPr>
            <a:xfrm>
              <a:off x="6539356" y="3434460"/>
              <a:ext cx="463550" cy="267970"/>
            </a:xfrm>
            <a:custGeom>
              <a:rect b="b" l="l" r="r" t="t"/>
              <a:pathLst>
                <a:path extrusionOk="0" h="267970" w="463550">
                  <a:moveTo>
                    <a:pt x="394175" y="32140"/>
                  </a:moveTo>
                  <a:lnTo>
                    <a:pt x="0" y="256412"/>
                  </a:lnTo>
                  <a:lnTo>
                    <a:pt x="6350" y="267462"/>
                  </a:lnTo>
                  <a:lnTo>
                    <a:pt x="400486" y="43211"/>
                  </a:lnTo>
                  <a:lnTo>
                    <a:pt x="394175" y="32140"/>
                  </a:lnTo>
                  <a:close/>
                </a:path>
                <a:path extrusionOk="0" h="267970" w="463550">
                  <a:moveTo>
                    <a:pt x="446200" y="25908"/>
                  </a:moveTo>
                  <a:lnTo>
                    <a:pt x="405129" y="25908"/>
                  </a:lnTo>
                  <a:lnTo>
                    <a:pt x="411479" y="36956"/>
                  </a:lnTo>
                  <a:lnTo>
                    <a:pt x="400486" y="43211"/>
                  </a:lnTo>
                  <a:lnTo>
                    <a:pt x="416178" y="70738"/>
                  </a:lnTo>
                  <a:lnTo>
                    <a:pt x="446200" y="25908"/>
                  </a:lnTo>
                  <a:close/>
                </a:path>
                <a:path extrusionOk="0" h="267970" w="463550">
                  <a:moveTo>
                    <a:pt x="405129" y="25908"/>
                  </a:moveTo>
                  <a:lnTo>
                    <a:pt x="394175" y="32140"/>
                  </a:lnTo>
                  <a:lnTo>
                    <a:pt x="400486" y="43211"/>
                  </a:lnTo>
                  <a:lnTo>
                    <a:pt x="411479" y="36956"/>
                  </a:lnTo>
                  <a:lnTo>
                    <a:pt x="405129" y="25908"/>
                  </a:lnTo>
                  <a:close/>
                </a:path>
                <a:path extrusionOk="0" h="267970" w="463550">
                  <a:moveTo>
                    <a:pt x="463550" y="0"/>
                  </a:moveTo>
                  <a:lnTo>
                    <a:pt x="378460" y="4572"/>
                  </a:lnTo>
                  <a:lnTo>
                    <a:pt x="394175" y="32140"/>
                  </a:lnTo>
                  <a:lnTo>
                    <a:pt x="405129" y="25908"/>
                  </a:lnTo>
                  <a:lnTo>
                    <a:pt x="446200" y="25908"/>
                  </a:lnTo>
                  <a:lnTo>
                    <a:pt x="46355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7"/>
            <p:cNvSpPr/>
            <p:nvPr/>
          </p:nvSpPr>
          <p:spPr>
            <a:xfrm>
              <a:off x="5536691" y="3791140"/>
              <a:ext cx="1005840" cy="247015"/>
            </a:xfrm>
            <a:custGeom>
              <a:rect b="b" l="l" r="r" t="t"/>
              <a:pathLst>
                <a:path extrusionOk="0" h="247014" w="1005840">
                  <a:moveTo>
                    <a:pt x="0" y="246951"/>
                  </a:moveTo>
                  <a:lnTo>
                    <a:pt x="1005839" y="246951"/>
                  </a:lnTo>
                  <a:lnTo>
                    <a:pt x="1005839" y="0"/>
                  </a:lnTo>
                  <a:lnTo>
                    <a:pt x="0" y="0"/>
                  </a:lnTo>
                  <a:lnTo>
                    <a:pt x="0" y="246951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7"/>
            <p:cNvSpPr/>
            <p:nvPr/>
          </p:nvSpPr>
          <p:spPr>
            <a:xfrm>
              <a:off x="6541261" y="3912996"/>
              <a:ext cx="556895" cy="146050"/>
            </a:xfrm>
            <a:custGeom>
              <a:rect b="b" l="l" r="r" t="t"/>
              <a:pathLst>
                <a:path extrusionOk="0" h="146050" w="556895">
                  <a:moveTo>
                    <a:pt x="481093" y="114953"/>
                  </a:moveTo>
                  <a:lnTo>
                    <a:pt x="474472" y="146050"/>
                  </a:lnTo>
                  <a:lnTo>
                    <a:pt x="556895" y="124586"/>
                  </a:lnTo>
                  <a:lnTo>
                    <a:pt x="548138" y="117601"/>
                  </a:lnTo>
                  <a:lnTo>
                    <a:pt x="493522" y="117601"/>
                  </a:lnTo>
                  <a:lnTo>
                    <a:pt x="481093" y="114953"/>
                  </a:lnTo>
                  <a:close/>
                </a:path>
                <a:path extrusionOk="0" h="146050" w="556895">
                  <a:moveTo>
                    <a:pt x="483744" y="102505"/>
                  </a:moveTo>
                  <a:lnTo>
                    <a:pt x="481093" y="114953"/>
                  </a:lnTo>
                  <a:lnTo>
                    <a:pt x="493522" y="117601"/>
                  </a:lnTo>
                  <a:lnTo>
                    <a:pt x="496189" y="105155"/>
                  </a:lnTo>
                  <a:lnTo>
                    <a:pt x="483744" y="102505"/>
                  </a:lnTo>
                  <a:close/>
                </a:path>
                <a:path extrusionOk="0" h="146050" w="556895">
                  <a:moveTo>
                    <a:pt x="490347" y="71500"/>
                  </a:moveTo>
                  <a:lnTo>
                    <a:pt x="483744" y="102505"/>
                  </a:lnTo>
                  <a:lnTo>
                    <a:pt x="496189" y="105155"/>
                  </a:lnTo>
                  <a:lnTo>
                    <a:pt x="493522" y="117601"/>
                  </a:lnTo>
                  <a:lnTo>
                    <a:pt x="548138" y="117601"/>
                  </a:lnTo>
                  <a:lnTo>
                    <a:pt x="490347" y="71500"/>
                  </a:lnTo>
                  <a:close/>
                </a:path>
                <a:path extrusionOk="0" h="146050" w="556895">
                  <a:moveTo>
                    <a:pt x="2540" y="0"/>
                  </a:moveTo>
                  <a:lnTo>
                    <a:pt x="0" y="12445"/>
                  </a:lnTo>
                  <a:lnTo>
                    <a:pt x="481093" y="114953"/>
                  </a:lnTo>
                  <a:lnTo>
                    <a:pt x="483744" y="102505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37" name="Google Shape;637;p38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7475">
            <a:spAutoFit/>
          </a:bodyPr>
          <a:lstStyle/>
          <a:p>
            <a:pPr indent="0" lvl="0" marL="338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Passo-a-passo 4</a:t>
            </a:r>
            <a:endParaRPr/>
          </a:p>
        </p:txBody>
      </p:sp>
      <p:sp>
        <p:nvSpPr>
          <p:cNvPr id="638" name="Google Shape;638;p38"/>
          <p:cNvSpPr txBox="1"/>
          <p:nvPr/>
        </p:nvSpPr>
        <p:spPr>
          <a:xfrm>
            <a:off x="10742930" y="3388296"/>
            <a:ext cx="821690" cy="267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∴ 𝐹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= 0</a:t>
            </a:r>
            <a:endParaRPr sz="15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39" name="Google Shape;639;p38"/>
          <p:cNvSpPr txBox="1"/>
          <p:nvPr/>
        </p:nvSpPr>
        <p:spPr>
          <a:xfrm>
            <a:off x="307657" y="1285112"/>
            <a:ext cx="5533390" cy="30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Programar o saldo de funcionários temporários do período: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0" name="Google Shape;640;p38"/>
          <p:cNvGrpSpPr/>
          <p:nvPr/>
        </p:nvGrpSpPr>
        <p:grpSpPr>
          <a:xfrm>
            <a:off x="299932" y="2579242"/>
            <a:ext cx="7890298" cy="1668615"/>
            <a:chOff x="299932" y="2579242"/>
            <a:chExt cx="7890298" cy="1668615"/>
          </a:xfrm>
        </p:grpSpPr>
        <p:pic>
          <p:nvPicPr>
            <p:cNvPr descr="A close-up of several words  Description automatically generated" id="641" name="Google Shape;641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9932" y="2579242"/>
              <a:ext cx="7097563" cy="16686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2" name="Google Shape;642;p38"/>
            <p:cNvSpPr/>
            <p:nvPr/>
          </p:nvSpPr>
          <p:spPr>
            <a:xfrm>
              <a:off x="6396228" y="3416109"/>
              <a:ext cx="1125220" cy="238125"/>
            </a:xfrm>
            <a:custGeom>
              <a:rect b="b" l="l" r="r" t="t"/>
              <a:pathLst>
                <a:path extrusionOk="0" h="238125" w="1125220">
                  <a:moveTo>
                    <a:pt x="0" y="237807"/>
                  </a:moveTo>
                  <a:lnTo>
                    <a:pt x="1124712" y="237807"/>
                  </a:lnTo>
                  <a:lnTo>
                    <a:pt x="1124712" y="0"/>
                  </a:lnTo>
                  <a:lnTo>
                    <a:pt x="0" y="0"/>
                  </a:lnTo>
                  <a:lnTo>
                    <a:pt x="0" y="237807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8"/>
            <p:cNvSpPr/>
            <p:nvPr/>
          </p:nvSpPr>
          <p:spPr>
            <a:xfrm>
              <a:off x="7520940" y="3499865"/>
              <a:ext cx="669290" cy="76200"/>
            </a:xfrm>
            <a:custGeom>
              <a:rect b="b" l="l" r="r" t="t"/>
              <a:pathLst>
                <a:path extrusionOk="0" h="76200" w="669290">
                  <a:moveTo>
                    <a:pt x="592835" y="0"/>
                  </a:moveTo>
                  <a:lnTo>
                    <a:pt x="592454" y="76200"/>
                  </a:lnTo>
                  <a:lnTo>
                    <a:pt x="656552" y="44576"/>
                  </a:lnTo>
                  <a:lnTo>
                    <a:pt x="605408" y="44576"/>
                  </a:lnTo>
                  <a:lnTo>
                    <a:pt x="605408" y="31876"/>
                  </a:lnTo>
                  <a:lnTo>
                    <a:pt x="655853" y="31876"/>
                  </a:lnTo>
                  <a:lnTo>
                    <a:pt x="592835" y="0"/>
                  </a:lnTo>
                  <a:close/>
                </a:path>
                <a:path extrusionOk="0" h="76200" w="669290">
                  <a:moveTo>
                    <a:pt x="0" y="28829"/>
                  </a:moveTo>
                  <a:lnTo>
                    <a:pt x="0" y="41529"/>
                  </a:lnTo>
                  <a:lnTo>
                    <a:pt x="605408" y="44576"/>
                  </a:lnTo>
                  <a:lnTo>
                    <a:pt x="592613" y="44576"/>
                  </a:lnTo>
                  <a:lnTo>
                    <a:pt x="592676" y="31876"/>
                  </a:lnTo>
                  <a:lnTo>
                    <a:pt x="605408" y="31876"/>
                  </a:lnTo>
                  <a:lnTo>
                    <a:pt x="0" y="28829"/>
                  </a:lnTo>
                  <a:close/>
                </a:path>
                <a:path extrusionOk="0" h="76200" w="669290">
                  <a:moveTo>
                    <a:pt x="655853" y="31876"/>
                  </a:moveTo>
                  <a:lnTo>
                    <a:pt x="605408" y="31876"/>
                  </a:lnTo>
                  <a:lnTo>
                    <a:pt x="605408" y="44576"/>
                  </a:lnTo>
                  <a:lnTo>
                    <a:pt x="656552" y="44576"/>
                  </a:lnTo>
                  <a:lnTo>
                    <a:pt x="668908" y="38481"/>
                  </a:lnTo>
                  <a:lnTo>
                    <a:pt x="655853" y="3187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4" name="Google Shape;644;p38"/>
          <p:cNvSpPr txBox="1"/>
          <p:nvPr/>
        </p:nvSpPr>
        <p:spPr>
          <a:xfrm>
            <a:off x="8392032" y="3388296"/>
            <a:ext cx="1760220" cy="267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𝐹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𝑡 </a:t>
            </a: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= 𝐹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𝑡−1 </a:t>
            </a: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+ 𝐶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𝑡 </a:t>
            </a: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− 𝐷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𝑡</a:t>
            </a:r>
            <a:endParaRPr baseline="-25000" sz="1725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49" name="Google Shape;649;p39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7475">
            <a:spAutoFit/>
          </a:bodyPr>
          <a:lstStyle/>
          <a:p>
            <a:pPr indent="0" lvl="0" marL="338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Passo-a-passo 5</a:t>
            </a:r>
            <a:endParaRPr/>
          </a:p>
        </p:txBody>
      </p:sp>
      <p:sp>
        <p:nvSpPr>
          <p:cNvPr id="650" name="Google Shape;650;p39"/>
          <p:cNvSpPr txBox="1"/>
          <p:nvPr/>
        </p:nvSpPr>
        <p:spPr>
          <a:xfrm>
            <a:off x="360946" y="1274127"/>
            <a:ext cx="357759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Calcular os gastos com os funcionários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table of text with black text  Description automatically generated" id="651" name="Google Shape;65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242" y="1893316"/>
            <a:ext cx="6364141" cy="1423167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9"/>
          <p:cNvSpPr txBox="1"/>
          <p:nvPr/>
        </p:nvSpPr>
        <p:spPr>
          <a:xfrm>
            <a:off x="360946" y="3887025"/>
            <a:ext cx="11858625" cy="1901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711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𝐺𝑎𝑠𝑡𝑜𝑠 𝑐𝑜𝑚 𝐹𝑢𝑛𝑐. 𝐸𝑓𝑒𝑡. = 𝑄𝑡𝑑. 𝑇𝑢𝑟𝑛𝑜  ×  𝐻𝑜𝑟𝑎𝑠 𝑝𝑜𝑟 𝑡𝑢𝑟𝑛𝑜  ×  𝐷𝑖𝑎𝑠 𝑡𝑟𝑎𝑏𝑎𝑙ℎ𝑎𝑑𝑜𝑠 𝑛𝑜 𝑝𝑒𝑟í𝑜𝑑𝑜  ×  𝐶𝑢𝑠𝑡𝑜 𝐻𝑜𝑟𝑎 𝐸𝑓𝑒𝑡.×  𝑄𝑡𝑑. 𝐹𝑢𝑛𝑐. 𝐸𝑓𝑒𝑡.</a:t>
            </a:r>
            <a:endParaRPr sz="155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𝐺𝑎𝑠𝑡𝑜𝑠 𝑐𝑜𝑚 𝐹𝑢𝑛𝑐. 𝑇𝑒𝑚𝑝. = 𝑄𝑡𝑑. 𝑇𝑢𝑟𝑛𝑜  ×  𝐻𝑜𝑟𝑎𝑠 𝑝𝑜𝑟 𝑡𝑢𝑟𝑛𝑜  ×  𝐷𝑖𝑎𝑠 𝑡𝑟𝑎𝑏𝑎𝑙ℎ𝑎𝑑𝑜𝑠 𝑛𝑜 𝑝𝑒𝑟í𝑜𝑑𝑜  ×  𝐶𝑢𝑠𝑡𝑜 𝐻𝑜𝑟𝑎 𝑇𝑒𝑚𝑝.×  𝑄𝑡𝑑. 𝐹𝑢𝑛𝑐. 𝑇𝑒𝑚𝑝.</a:t>
            </a:r>
            <a:endParaRPr sz="155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𝐺𝑎𝑠𝑡𝑜𝑠 𝑐𝑜𝑚 𝐹𝑢𝑛𝑐. 𝐻𝐸. = 𝑄𝑡𝑑. 𝑇𝑢𝑟𝑛𝑜  ×  𝐻𝑜𝑟𝑎𝑠 𝑝𝑜𝑟 𝑡𝑢𝑟𝑛𝑜  ×  𝐷𝑖𝑎𝑠 𝑡𝑟𝑎𝑏𝑎𝑙ℎ𝑎𝑑𝑜𝑠 𝑛𝑜 𝑝𝑒𝑟í𝑜𝑑𝑜  ×  𝐶𝑢𝑠𝑡𝑜 𝐻𝑜𝑟𝑎 𝐻𝐸.×  𝑄𝑡𝑑. 𝐹𝑢𝑛𝑐. 𝐻𝐸.</a:t>
            </a:r>
            <a:endParaRPr sz="155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𝐺𝑎𝑠𝑡𝑜𝑠 𝑐𝑜𝑚 𝐹𝑢𝑛𝑐. 𝑆𝑈𝐵. = 𝑄𝑡𝑑. 𝑇𝑢𝑟𝑛𝑜  ×  𝐻𝑜𝑟𝑎𝑠 𝑝𝑜𝑟 𝑡𝑢𝑟𝑛𝑜  ×  𝐷𝑖𝑎𝑠 𝑡𝑟𝑎𝑏𝑎𝑙ℎ𝑎𝑑𝑜𝑠 𝑛𝑜 𝑝𝑒𝑟í𝑜𝑑𝑜  ×  𝐶𝑢𝑠𝑡𝑜 𝐻𝑜𝑟𝑎 𝑆𝑈𝐵.×  𝑄𝑡𝑑. 𝐹𝑢𝑛𝑐. 𝑆𝑈𝐵.</a:t>
            </a:r>
            <a:endParaRPr sz="15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653" name="Google Shape;653;p39"/>
          <p:cNvGrpSpPr/>
          <p:nvPr/>
        </p:nvGrpSpPr>
        <p:grpSpPr>
          <a:xfrm>
            <a:off x="0" y="2007654"/>
            <a:ext cx="9187180" cy="3823677"/>
            <a:chOff x="0" y="2007654"/>
            <a:chExt cx="9187180" cy="3823677"/>
          </a:xfrm>
        </p:grpSpPr>
        <p:sp>
          <p:nvSpPr>
            <p:cNvPr id="654" name="Google Shape;654;p39"/>
            <p:cNvSpPr/>
            <p:nvPr/>
          </p:nvSpPr>
          <p:spPr>
            <a:xfrm>
              <a:off x="7822692" y="2007654"/>
              <a:ext cx="1125220" cy="850900"/>
            </a:xfrm>
            <a:custGeom>
              <a:rect b="b" l="l" r="r" t="t"/>
              <a:pathLst>
                <a:path extrusionOk="0" h="850900" w="1125220">
                  <a:moveTo>
                    <a:pt x="0" y="850607"/>
                  </a:moveTo>
                  <a:lnTo>
                    <a:pt x="1124711" y="850607"/>
                  </a:lnTo>
                  <a:lnTo>
                    <a:pt x="1124711" y="0"/>
                  </a:lnTo>
                  <a:lnTo>
                    <a:pt x="0" y="0"/>
                  </a:lnTo>
                  <a:lnTo>
                    <a:pt x="0" y="850607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9"/>
            <p:cNvSpPr/>
            <p:nvPr/>
          </p:nvSpPr>
          <p:spPr>
            <a:xfrm>
              <a:off x="178307" y="3699636"/>
              <a:ext cx="165100" cy="2131695"/>
            </a:xfrm>
            <a:custGeom>
              <a:rect b="b" l="l" r="r" t="t"/>
              <a:pathLst>
                <a:path extrusionOk="0" h="2131695" w="165100">
                  <a:moveTo>
                    <a:pt x="164592" y="2131123"/>
                  </a:moveTo>
                  <a:lnTo>
                    <a:pt x="132557" y="2130044"/>
                  </a:lnTo>
                  <a:lnTo>
                    <a:pt x="106399" y="2127103"/>
                  </a:lnTo>
                  <a:lnTo>
                    <a:pt x="88762" y="2122743"/>
                  </a:lnTo>
                  <a:lnTo>
                    <a:pt x="82296" y="2117407"/>
                  </a:lnTo>
                  <a:lnTo>
                    <a:pt x="82296" y="1079245"/>
                  </a:lnTo>
                  <a:lnTo>
                    <a:pt x="75829" y="1073941"/>
                  </a:lnTo>
                  <a:lnTo>
                    <a:pt x="58192" y="1069578"/>
                  </a:lnTo>
                  <a:lnTo>
                    <a:pt x="32034" y="1066619"/>
                  </a:lnTo>
                  <a:lnTo>
                    <a:pt x="0" y="1065530"/>
                  </a:lnTo>
                  <a:lnTo>
                    <a:pt x="32034" y="1064458"/>
                  </a:lnTo>
                  <a:lnTo>
                    <a:pt x="58192" y="1061529"/>
                  </a:lnTo>
                  <a:lnTo>
                    <a:pt x="75829" y="1057171"/>
                  </a:lnTo>
                  <a:lnTo>
                    <a:pt x="82296" y="1051814"/>
                  </a:lnTo>
                  <a:lnTo>
                    <a:pt x="82296" y="13715"/>
                  </a:lnTo>
                  <a:lnTo>
                    <a:pt x="88762" y="8411"/>
                  </a:lnTo>
                  <a:lnTo>
                    <a:pt x="106399" y="4048"/>
                  </a:lnTo>
                  <a:lnTo>
                    <a:pt x="132557" y="1089"/>
                  </a:lnTo>
                  <a:lnTo>
                    <a:pt x="164592" y="0"/>
                  </a:ln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9"/>
            <p:cNvSpPr/>
            <p:nvPr/>
          </p:nvSpPr>
          <p:spPr>
            <a:xfrm>
              <a:off x="0" y="2422016"/>
              <a:ext cx="9187180" cy="2377440"/>
            </a:xfrm>
            <a:custGeom>
              <a:rect b="b" l="l" r="r" t="t"/>
              <a:pathLst>
                <a:path extrusionOk="0" h="2377440" w="9187180">
                  <a:moveTo>
                    <a:pt x="102125" y="2301240"/>
                  </a:moveTo>
                  <a:lnTo>
                    <a:pt x="102125" y="2377440"/>
                  </a:lnTo>
                  <a:lnTo>
                    <a:pt x="165610" y="2345690"/>
                  </a:lnTo>
                  <a:lnTo>
                    <a:pt x="114823" y="2345690"/>
                  </a:lnTo>
                  <a:lnTo>
                    <a:pt x="114823" y="2332990"/>
                  </a:lnTo>
                  <a:lnTo>
                    <a:pt x="165610" y="2332990"/>
                  </a:lnTo>
                  <a:lnTo>
                    <a:pt x="102125" y="2301240"/>
                  </a:lnTo>
                  <a:close/>
                </a:path>
                <a:path extrusionOk="0" h="2377440" w="9187180">
                  <a:moveTo>
                    <a:pt x="102125" y="2332990"/>
                  </a:moveTo>
                  <a:lnTo>
                    <a:pt x="0" y="2332990"/>
                  </a:lnTo>
                  <a:lnTo>
                    <a:pt x="0" y="2345690"/>
                  </a:lnTo>
                  <a:lnTo>
                    <a:pt x="102125" y="2345690"/>
                  </a:lnTo>
                  <a:lnTo>
                    <a:pt x="102125" y="2332990"/>
                  </a:lnTo>
                  <a:close/>
                </a:path>
                <a:path extrusionOk="0" h="2377440" w="9187180">
                  <a:moveTo>
                    <a:pt x="165610" y="2332990"/>
                  </a:moveTo>
                  <a:lnTo>
                    <a:pt x="114823" y="2332990"/>
                  </a:lnTo>
                  <a:lnTo>
                    <a:pt x="114823" y="2345690"/>
                  </a:lnTo>
                  <a:lnTo>
                    <a:pt x="165610" y="2345690"/>
                  </a:lnTo>
                  <a:lnTo>
                    <a:pt x="178308" y="2339340"/>
                  </a:lnTo>
                  <a:lnTo>
                    <a:pt x="165610" y="2332990"/>
                  </a:lnTo>
                  <a:close/>
                </a:path>
                <a:path extrusionOk="0" h="2377440" w="9187180">
                  <a:moveTo>
                    <a:pt x="9174099" y="846455"/>
                  </a:moveTo>
                  <a:lnTo>
                    <a:pt x="0" y="846455"/>
                  </a:lnTo>
                  <a:lnTo>
                    <a:pt x="0" y="859155"/>
                  </a:lnTo>
                  <a:lnTo>
                    <a:pt x="9184005" y="859155"/>
                  </a:lnTo>
                  <a:lnTo>
                    <a:pt x="9186799" y="856234"/>
                  </a:lnTo>
                  <a:lnTo>
                    <a:pt x="9186799" y="852805"/>
                  </a:lnTo>
                  <a:lnTo>
                    <a:pt x="9174099" y="852805"/>
                  </a:lnTo>
                  <a:lnTo>
                    <a:pt x="9174099" y="846455"/>
                  </a:lnTo>
                  <a:close/>
                </a:path>
                <a:path extrusionOk="0" h="2377440" w="9187180">
                  <a:moveTo>
                    <a:pt x="9174099" y="6350"/>
                  </a:moveTo>
                  <a:lnTo>
                    <a:pt x="9174099" y="852805"/>
                  </a:lnTo>
                  <a:lnTo>
                    <a:pt x="9180449" y="846455"/>
                  </a:lnTo>
                  <a:lnTo>
                    <a:pt x="9186799" y="846455"/>
                  </a:lnTo>
                  <a:lnTo>
                    <a:pt x="9186799" y="12700"/>
                  </a:lnTo>
                  <a:lnTo>
                    <a:pt x="9180449" y="12700"/>
                  </a:lnTo>
                  <a:lnTo>
                    <a:pt x="9174099" y="6350"/>
                  </a:lnTo>
                  <a:close/>
                </a:path>
                <a:path extrusionOk="0" h="2377440" w="9187180">
                  <a:moveTo>
                    <a:pt x="9186799" y="846455"/>
                  </a:moveTo>
                  <a:lnTo>
                    <a:pt x="9180449" y="846455"/>
                  </a:lnTo>
                  <a:lnTo>
                    <a:pt x="9174099" y="852805"/>
                  </a:lnTo>
                  <a:lnTo>
                    <a:pt x="9186799" y="852805"/>
                  </a:lnTo>
                  <a:lnTo>
                    <a:pt x="9186799" y="846455"/>
                  </a:lnTo>
                  <a:close/>
                </a:path>
                <a:path extrusionOk="0" h="2377440" w="9187180">
                  <a:moveTo>
                    <a:pt x="9184005" y="0"/>
                  </a:moveTo>
                  <a:lnTo>
                    <a:pt x="8951849" y="0"/>
                  </a:lnTo>
                  <a:lnTo>
                    <a:pt x="8951849" y="12700"/>
                  </a:lnTo>
                  <a:lnTo>
                    <a:pt x="9174099" y="12700"/>
                  </a:lnTo>
                  <a:lnTo>
                    <a:pt x="9174099" y="6350"/>
                  </a:lnTo>
                  <a:lnTo>
                    <a:pt x="9186799" y="6350"/>
                  </a:lnTo>
                  <a:lnTo>
                    <a:pt x="9186799" y="2794"/>
                  </a:lnTo>
                  <a:lnTo>
                    <a:pt x="9184005" y="0"/>
                  </a:lnTo>
                  <a:close/>
                </a:path>
                <a:path extrusionOk="0" h="2377440" w="9187180">
                  <a:moveTo>
                    <a:pt x="9186799" y="6350"/>
                  </a:moveTo>
                  <a:lnTo>
                    <a:pt x="9174099" y="6350"/>
                  </a:lnTo>
                  <a:lnTo>
                    <a:pt x="9180449" y="12700"/>
                  </a:lnTo>
                  <a:lnTo>
                    <a:pt x="9186799" y="12700"/>
                  </a:lnTo>
                  <a:lnTo>
                    <a:pt x="9186799" y="635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61" name="Google Shape;661;p40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7475">
            <a:spAutoFit/>
          </a:bodyPr>
          <a:lstStyle/>
          <a:p>
            <a:pPr indent="0" lvl="0" marL="338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Passo-a-passo 6</a:t>
            </a:r>
            <a:endParaRPr/>
          </a:p>
        </p:txBody>
      </p:sp>
      <p:sp>
        <p:nvSpPr>
          <p:cNvPr id="662" name="Google Shape;662;p40"/>
          <p:cNvSpPr txBox="1"/>
          <p:nvPr/>
        </p:nvSpPr>
        <p:spPr>
          <a:xfrm>
            <a:off x="360946" y="1274127"/>
            <a:ext cx="42310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Calcular os gastos com contratação/demissão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0"/>
          <p:cNvSpPr txBox="1"/>
          <p:nvPr/>
        </p:nvSpPr>
        <p:spPr>
          <a:xfrm>
            <a:off x="1242694" y="3886136"/>
            <a:ext cx="4517390" cy="267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𝐺𝑎𝑠𝑡𝑜𝑠 𝐶𝑜𝑛𝑡𝑟𝑎𝑡𝑎çã𝑜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𝑡 </a:t>
            </a: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= 𝐶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𝑡  </a:t>
            </a: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× 𝐶𝑢𝑠𝑡𝑜𝑠 𝐶𝑜𝑛𝑡𝑟𝑎𝑡𝑎çã𝑜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𝑡</a:t>
            </a:r>
            <a:endParaRPr baseline="-25000" sz="172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64" name="Google Shape;664;p40"/>
          <p:cNvSpPr txBox="1"/>
          <p:nvPr/>
        </p:nvSpPr>
        <p:spPr>
          <a:xfrm>
            <a:off x="1290319" y="4472241"/>
            <a:ext cx="4226560" cy="267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𝐺𝑎𝑠𝑡𝑜𝑠 𝐷𝑒𝑚𝑖𝑠𝑠ã𝑜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𝑡 </a:t>
            </a: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= 𝐷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𝑡−1  </a:t>
            </a: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× 𝐶𝑢𝑠𝑡𝑜𝑠 𝐷𝑒𝑚𝑖𝑠𝑠ã𝑜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𝑡</a:t>
            </a:r>
            <a:endParaRPr baseline="-25000" sz="172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65" name="Google Shape;665;p40"/>
          <p:cNvSpPr txBox="1"/>
          <p:nvPr/>
        </p:nvSpPr>
        <p:spPr>
          <a:xfrm>
            <a:off x="6288659" y="4472241"/>
            <a:ext cx="5669915" cy="267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∴ 𝑡 = 𝑛, 𝐺𝑎𝑠𝑡𝑜𝑠 𝐷𝑒𝑚𝑖𝑠𝑠ã𝑜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𝑛 </a:t>
            </a: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= (𝐷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𝑛−1 </a:t>
            </a: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+ 𝐹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𝑛</a:t>
            </a:r>
            <a:r>
              <a:rPr lang="en-US" sz="1550">
                <a:latin typeface="Cambria Math"/>
                <a:ea typeface="Cambria Math"/>
                <a:cs typeface="Cambria Math"/>
                <a:sym typeface="Cambria Math"/>
              </a:rPr>
              <a:t>) × 𝐶𝑢𝑠𝑡𝑜𝑠 𝐷𝑒𝑚𝑖𝑠𝑠ã𝑜</a:t>
            </a:r>
            <a:r>
              <a:rPr baseline="-25000" lang="en-US" sz="1725">
                <a:latin typeface="Cambria Math"/>
                <a:ea typeface="Cambria Math"/>
                <a:cs typeface="Cambria Math"/>
                <a:sym typeface="Cambria Math"/>
              </a:rPr>
              <a:t>𝑛</a:t>
            </a:r>
            <a:endParaRPr baseline="-25000" sz="172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66" name="Google Shape;666;p40"/>
          <p:cNvSpPr txBox="1"/>
          <p:nvPr/>
        </p:nvSpPr>
        <p:spPr>
          <a:xfrm>
            <a:off x="394677" y="5918911"/>
            <a:ext cx="50736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Obs.: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40"/>
          <p:cNvSpPr txBox="1"/>
          <p:nvPr/>
        </p:nvSpPr>
        <p:spPr>
          <a:xfrm>
            <a:off x="1309369" y="5918911"/>
            <a:ext cx="7785100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variáveis de decisão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do problema representam os ajustes nas forças de trabalho. Seleciona-se o plano a partir do menor custo total.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8" name="Google Shape;668;p40"/>
          <p:cNvGrpSpPr/>
          <p:nvPr/>
        </p:nvGrpSpPr>
        <p:grpSpPr>
          <a:xfrm>
            <a:off x="876096" y="1893316"/>
            <a:ext cx="8326755" cy="2894964"/>
            <a:chOff x="876096" y="1893316"/>
            <a:chExt cx="8326755" cy="2894964"/>
          </a:xfrm>
        </p:grpSpPr>
        <p:pic>
          <p:nvPicPr>
            <p:cNvPr descr="A table of text with black text  Description automatically generated" id="669" name="Google Shape;66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3242" y="1893316"/>
              <a:ext cx="6364141" cy="14231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40"/>
            <p:cNvSpPr/>
            <p:nvPr/>
          </p:nvSpPr>
          <p:spPr>
            <a:xfrm>
              <a:off x="7850123" y="2794241"/>
              <a:ext cx="1125220" cy="539750"/>
            </a:xfrm>
            <a:custGeom>
              <a:rect b="b" l="l" r="r" t="t"/>
              <a:pathLst>
                <a:path extrusionOk="0" h="539750" w="1125220">
                  <a:moveTo>
                    <a:pt x="0" y="539635"/>
                  </a:moveTo>
                  <a:lnTo>
                    <a:pt x="1124712" y="539635"/>
                  </a:lnTo>
                  <a:lnTo>
                    <a:pt x="1124712" y="0"/>
                  </a:lnTo>
                  <a:lnTo>
                    <a:pt x="0" y="0"/>
                  </a:lnTo>
                  <a:lnTo>
                    <a:pt x="0" y="539635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0"/>
            <p:cNvSpPr/>
            <p:nvPr/>
          </p:nvSpPr>
          <p:spPr>
            <a:xfrm>
              <a:off x="1110996" y="3864355"/>
              <a:ext cx="128270" cy="923925"/>
            </a:xfrm>
            <a:custGeom>
              <a:rect b="b" l="l" r="r" t="t"/>
              <a:pathLst>
                <a:path extrusionOk="0" h="923925" w="128269">
                  <a:moveTo>
                    <a:pt x="128015" y="923671"/>
                  </a:moveTo>
                  <a:lnTo>
                    <a:pt x="103103" y="922843"/>
                  </a:lnTo>
                  <a:lnTo>
                    <a:pt x="82757" y="920575"/>
                  </a:lnTo>
                  <a:lnTo>
                    <a:pt x="69038" y="917188"/>
                  </a:lnTo>
                  <a:lnTo>
                    <a:pt x="64007" y="913003"/>
                  </a:lnTo>
                  <a:lnTo>
                    <a:pt x="64007" y="472567"/>
                  </a:lnTo>
                  <a:lnTo>
                    <a:pt x="58978" y="468381"/>
                  </a:lnTo>
                  <a:lnTo>
                    <a:pt x="45262" y="464994"/>
                  </a:lnTo>
                  <a:lnTo>
                    <a:pt x="24917" y="462726"/>
                  </a:lnTo>
                  <a:lnTo>
                    <a:pt x="0" y="461899"/>
                  </a:lnTo>
                  <a:lnTo>
                    <a:pt x="24917" y="461051"/>
                  </a:lnTo>
                  <a:lnTo>
                    <a:pt x="45262" y="458739"/>
                  </a:lnTo>
                  <a:lnTo>
                    <a:pt x="58978" y="455308"/>
                  </a:lnTo>
                  <a:lnTo>
                    <a:pt x="64007" y="451104"/>
                  </a:lnTo>
                  <a:lnTo>
                    <a:pt x="64007" y="10668"/>
                  </a:lnTo>
                  <a:lnTo>
                    <a:pt x="69038" y="6482"/>
                  </a:lnTo>
                  <a:lnTo>
                    <a:pt x="82757" y="3095"/>
                  </a:lnTo>
                  <a:lnTo>
                    <a:pt x="103103" y="827"/>
                  </a:lnTo>
                  <a:lnTo>
                    <a:pt x="128015" y="0"/>
                  </a:ln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40"/>
            <p:cNvSpPr/>
            <p:nvPr/>
          </p:nvSpPr>
          <p:spPr>
            <a:xfrm>
              <a:off x="876096" y="3062224"/>
              <a:ext cx="8326755" cy="1303020"/>
            </a:xfrm>
            <a:custGeom>
              <a:rect b="b" l="l" r="r" t="t"/>
              <a:pathLst>
                <a:path extrusionOk="0" h="1303020" w="8326755">
                  <a:moveTo>
                    <a:pt x="158711" y="1226312"/>
                  </a:moveTo>
                  <a:lnTo>
                    <a:pt x="158711" y="1302512"/>
                  </a:lnTo>
                  <a:lnTo>
                    <a:pt x="222201" y="1270762"/>
                  </a:lnTo>
                  <a:lnTo>
                    <a:pt x="171411" y="1270762"/>
                  </a:lnTo>
                  <a:lnTo>
                    <a:pt x="171411" y="1258062"/>
                  </a:lnTo>
                  <a:lnTo>
                    <a:pt x="222201" y="1258062"/>
                  </a:lnTo>
                  <a:lnTo>
                    <a:pt x="158711" y="1226312"/>
                  </a:lnTo>
                  <a:close/>
                </a:path>
                <a:path extrusionOk="0" h="1303020" w="8326755">
                  <a:moveTo>
                    <a:pt x="8313623" y="531367"/>
                  </a:moveTo>
                  <a:lnTo>
                    <a:pt x="2844" y="531367"/>
                  </a:lnTo>
                  <a:lnTo>
                    <a:pt x="0" y="534288"/>
                  </a:lnTo>
                  <a:lnTo>
                    <a:pt x="0" y="1267968"/>
                  </a:lnTo>
                  <a:lnTo>
                    <a:pt x="2844" y="1270762"/>
                  </a:lnTo>
                  <a:lnTo>
                    <a:pt x="158711" y="1270762"/>
                  </a:lnTo>
                  <a:lnTo>
                    <a:pt x="158711" y="1264412"/>
                  </a:lnTo>
                  <a:lnTo>
                    <a:pt x="12700" y="1264412"/>
                  </a:lnTo>
                  <a:lnTo>
                    <a:pt x="6350" y="1258062"/>
                  </a:lnTo>
                  <a:lnTo>
                    <a:pt x="12700" y="1258062"/>
                  </a:lnTo>
                  <a:lnTo>
                    <a:pt x="12700" y="544067"/>
                  </a:lnTo>
                  <a:lnTo>
                    <a:pt x="6350" y="544067"/>
                  </a:lnTo>
                  <a:lnTo>
                    <a:pt x="12700" y="537717"/>
                  </a:lnTo>
                  <a:lnTo>
                    <a:pt x="8313623" y="537717"/>
                  </a:lnTo>
                  <a:lnTo>
                    <a:pt x="8313623" y="531367"/>
                  </a:lnTo>
                  <a:close/>
                </a:path>
                <a:path extrusionOk="0" h="1303020" w="8326755">
                  <a:moveTo>
                    <a:pt x="222201" y="1258062"/>
                  </a:moveTo>
                  <a:lnTo>
                    <a:pt x="171411" y="1258062"/>
                  </a:lnTo>
                  <a:lnTo>
                    <a:pt x="171411" y="1270762"/>
                  </a:lnTo>
                  <a:lnTo>
                    <a:pt x="222201" y="1270762"/>
                  </a:lnTo>
                  <a:lnTo>
                    <a:pt x="234899" y="1264412"/>
                  </a:lnTo>
                  <a:lnTo>
                    <a:pt x="222201" y="1258062"/>
                  </a:lnTo>
                  <a:close/>
                </a:path>
                <a:path extrusionOk="0" h="1303020" w="8326755">
                  <a:moveTo>
                    <a:pt x="12700" y="1258062"/>
                  </a:moveTo>
                  <a:lnTo>
                    <a:pt x="6350" y="1258062"/>
                  </a:lnTo>
                  <a:lnTo>
                    <a:pt x="12700" y="1264412"/>
                  </a:lnTo>
                  <a:lnTo>
                    <a:pt x="12700" y="1258062"/>
                  </a:lnTo>
                  <a:close/>
                </a:path>
                <a:path extrusionOk="0" h="1303020" w="8326755">
                  <a:moveTo>
                    <a:pt x="158711" y="1258062"/>
                  </a:moveTo>
                  <a:lnTo>
                    <a:pt x="12700" y="1258062"/>
                  </a:lnTo>
                  <a:lnTo>
                    <a:pt x="12700" y="1264412"/>
                  </a:lnTo>
                  <a:lnTo>
                    <a:pt x="158711" y="1264412"/>
                  </a:lnTo>
                  <a:lnTo>
                    <a:pt x="158711" y="1258062"/>
                  </a:lnTo>
                  <a:close/>
                </a:path>
                <a:path extrusionOk="0" h="1303020" w="8326755">
                  <a:moveTo>
                    <a:pt x="12700" y="537717"/>
                  </a:moveTo>
                  <a:lnTo>
                    <a:pt x="6350" y="544067"/>
                  </a:lnTo>
                  <a:lnTo>
                    <a:pt x="12700" y="544067"/>
                  </a:lnTo>
                  <a:lnTo>
                    <a:pt x="12700" y="537717"/>
                  </a:lnTo>
                  <a:close/>
                </a:path>
                <a:path extrusionOk="0" h="1303020" w="8326755">
                  <a:moveTo>
                    <a:pt x="8326196" y="531367"/>
                  </a:moveTo>
                  <a:lnTo>
                    <a:pt x="8319846" y="531367"/>
                  </a:lnTo>
                  <a:lnTo>
                    <a:pt x="8313623" y="537717"/>
                  </a:lnTo>
                  <a:lnTo>
                    <a:pt x="12700" y="537717"/>
                  </a:lnTo>
                  <a:lnTo>
                    <a:pt x="12700" y="544067"/>
                  </a:lnTo>
                  <a:lnTo>
                    <a:pt x="8323402" y="544067"/>
                  </a:lnTo>
                  <a:lnTo>
                    <a:pt x="8326196" y="541274"/>
                  </a:lnTo>
                  <a:lnTo>
                    <a:pt x="8326196" y="531367"/>
                  </a:lnTo>
                  <a:close/>
                </a:path>
                <a:path extrusionOk="0" h="1303020" w="8326755">
                  <a:moveTo>
                    <a:pt x="8313623" y="6350"/>
                  </a:moveTo>
                  <a:lnTo>
                    <a:pt x="8313623" y="537717"/>
                  </a:lnTo>
                  <a:lnTo>
                    <a:pt x="8319846" y="531367"/>
                  </a:lnTo>
                  <a:lnTo>
                    <a:pt x="8326196" y="531367"/>
                  </a:lnTo>
                  <a:lnTo>
                    <a:pt x="8326196" y="12700"/>
                  </a:lnTo>
                  <a:lnTo>
                    <a:pt x="8319846" y="12700"/>
                  </a:lnTo>
                  <a:lnTo>
                    <a:pt x="8313623" y="6350"/>
                  </a:lnTo>
                  <a:close/>
                </a:path>
                <a:path extrusionOk="0" h="1303020" w="8326755">
                  <a:moveTo>
                    <a:pt x="8323402" y="0"/>
                  </a:moveTo>
                  <a:lnTo>
                    <a:pt x="8091373" y="0"/>
                  </a:lnTo>
                  <a:lnTo>
                    <a:pt x="8091373" y="12700"/>
                  </a:lnTo>
                  <a:lnTo>
                    <a:pt x="8313623" y="12700"/>
                  </a:lnTo>
                  <a:lnTo>
                    <a:pt x="8313623" y="6350"/>
                  </a:lnTo>
                  <a:lnTo>
                    <a:pt x="8326196" y="6350"/>
                  </a:lnTo>
                  <a:lnTo>
                    <a:pt x="8326196" y="2793"/>
                  </a:lnTo>
                  <a:lnTo>
                    <a:pt x="8323402" y="0"/>
                  </a:lnTo>
                  <a:close/>
                </a:path>
                <a:path extrusionOk="0" h="1303020" w="8326755">
                  <a:moveTo>
                    <a:pt x="8326196" y="6350"/>
                  </a:moveTo>
                  <a:lnTo>
                    <a:pt x="8313623" y="6350"/>
                  </a:lnTo>
                  <a:lnTo>
                    <a:pt x="8319846" y="12700"/>
                  </a:lnTo>
                  <a:lnTo>
                    <a:pt x="8326196" y="12700"/>
                  </a:lnTo>
                  <a:lnTo>
                    <a:pt x="8326196" y="635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77" name="Google Shape;677;p41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575">
            <a:spAutoFit/>
          </a:bodyPr>
          <a:lstStyle/>
          <a:p>
            <a:pPr indent="0" lvl="0" marL="761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Solução Plano Atual</a:t>
            </a:r>
            <a:endParaRPr sz="2800"/>
          </a:p>
        </p:txBody>
      </p:sp>
      <p:pic>
        <p:nvPicPr>
          <p:cNvPr id="678" name="Google Shape;67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79" y="1948265"/>
            <a:ext cx="11833164" cy="3433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83" name="Google Shape;683;p42"/>
          <p:cNvSpPr txBox="1"/>
          <p:nvPr>
            <p:ph type="title"/>
          </p:nvPr>
        </p:nvSpPr>
        <p:spPr>
          <a:xfrm>
            <a:off x="156933" y="64592"/>
            <a:ext cx="10513695" cy="8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575">
            <a:spAutoFit/>
          </a:bodyPr>
          <a:lstStyle/>
          <a:p>
            <a:pPr indent="0" lvl="0" marL="761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Solução Plano Atual</a:t>
            </a:r>
            <a:endParaRPr sz="2800"/>
          </a:p>
        </p:txBody>
      </p:sp>
      <p:pic>
        <p:nvPicPr>
          <p:cNvPr descr="A white sheet with black text  AI-generated content may be incorrect." id="684" name="Google Shape;68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71" y="1627987"/>
            <a:ext cx="11951208" cy="4268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3"/>
          <p:cNvSpPr txBox="1"/>
          <p:nvPr/>
        </p:nvSpPr>
        <p:spPr>
          <a:xfrm>
            <a:off x="248373" y="1441767"/>
            <a:ext cx="11675100" cy="48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0" lvl="0" marL="12700" marR="607695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 diretoria da empresa tem buscado novas alternativas visando analisar a possibilidade de reduzir custos.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38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76225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 alternativa 1 é considerar a possibilidade de contratar mais 4 operários permanentes e passar a permitir até 50% horas extras no mês, ou seja, considerando o total de 20 funcionários, representaria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3.200 (20*160) horas por mês, logo, seria permitido até 1600 (0,5*3.200) horas, o equivalente a jornada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332105" rtl="0" algn="l">
              <a:lnSpc>
                <a:spcPct val="108000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 10 funcionários (1600/160) por mês. Uma vez que a unidade padrão é funcionários, será utilizado números inteiros.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762635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Somente funcionários efetivos podem fazer hora-extra dessa forma, não será permitido contratar funcionários temporários.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 produtividade estimada em hora-extra para funcionários efetivos é de 90%.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9050" rtl="0" algn="l">
              <a:lnSpc>
                <a:spcPct val="6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Em termos de custos, considere a hora extra sendo o dobro do valor da hora normal (R$ 60). Elabore o Plano de Produção e Plano Financeiro.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690" name="Google Shape;690;p43"/>
          <p:cNvSpPr txBox="1"/>
          <p:nvPr>
            <p:ph type="title"/>
          </p:nvPr>
        </p:nvSpPr>
        <p:spPr>
          <a:xfrm>
            <a:off x="156925" y="64600"/>
            <a:ext cx="110262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Plano de Produção em Serviços – Alternativa 1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4"/>
          <p:cNvSpPr txBox="1"/>
          <p:nvPr/>
        </p:nvSpPr>
        <p:spPr>
          <a:xfrm>
            <a:off x="248373" y="1579562"/>
            <a:ext cx="11401500" cy="18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alternativa 2 é de contratar 2 novos funcionários efetivos e continuar utilizando temporários quando necessário, mas sem o uso de hora extra. Considere a produtividade e custos para temporários semelhantes a alternativa inicial.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39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6985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Elabore o Plano de Produção e Plano Financeiro, analise os resultados e selecione, qual das opções (política atual ou alguma das alternativas) é a mais viável em termos econômicos.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696" name="Google Shape;696;p44"/>
          <p:cNvSpPr txBox="1"/>
          <p:nvPr>
            <p:ph type="title"/>
          </p:nvPr>
        </p:nvSpPr>
        <p:spPr>
          <a:xfrm>
            <a:off x="156933" y="64592"/>
            <a:ext cx="105138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Plano de Produção em Serviços – Alternativa 2</a:t>
            </a:r>
            <a:endParaRPr sz="3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5"/>
          <p:cNvSpPr txBox="1"/>
          <p:nvPr/>
        </p:nvSpPr>
        <p:spPr>
          <a:xfrm>
            <a:off x="258650" y="1462325"/>
            <a:ext cx="11861400" cy="5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Uma empresa possui uma central responsável por atender às solicitações de seus clientes. Como a quantidade de chamados varia durante o semestre, a empresa precisa elaborar um Plano Agregado de Produção para os próximos seis meses.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Atualmente, a central possui </a:t>
            </a:r>
            <a:r>
              <a:rPr b="1" lang="en-US" sz="1200">
                <a:solidFill>
                  <a:schemeClr val="dk1"/>
                </a:solidFill>
              </a:rPr>
              <a:t>10 atendentes efetivos</a:t>
            </a:r>
            <a:r>
              <a:rPr lang="en-US" sz="1200">
                <a:solidFill>
                  <a:schemeClr val="dk1"/>
                </a:solidFill>
              </a:rPr>
              <a:t>. Cada atendente consegue realizar, em média, </a:t>
            </a:r>
            <a:r>
              <a:rPr b="1" lang="en-US" sz="1200">
                <a:solidFill>
                  <a:schemeClr val="dk1"/>
                </a:solidFill>
              </a:rPr>
              <a:t>200 atendimentos por mês</a:t>
            </a:r>
            <a:r>
              <a:rPr lang="en-US" sz="1200">
                <a:solidFill>
                  <a:schemeClr val="dk1"/>
                </a:solidFill>
              </a:rPr>
              <a:t>, trabalhando em jornada normal.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Quando a capacidade dos efetivos não for suficiente, a empresa poderá contratar atendentes temporários. Cada temporário possui produtividade equivalente a </a:t>
            </a:r>
            <a:r>
              <a:rPr b="1" lang="en-US" sz="1200">
                <a:solidFill>
                  <a:schemeClr val="dk1"/>
                </a:solidFill>
              </a:rPr>
              <a:t>80% da produtividade de um efetivo</a:t>
            </a:r>
            <a:r>
              <a:rPr lang="en-US" sz="1200">
                <a:solidFill>
                  <a:schemeClr val="dk1"/>
                </a:solidFill>
              </a:rPr>
              <a:t>, realizando </a:t>
            </a:r>
            <a:r>
              <a:rPr b="1" lang="en-US" sz="1200">
                <a:solidFill>
                  <a:schemeClr val="dk1"/>
                </a:solidFill>
              </a:rPr>
              <a:t>160 atendimentos por mês</a:t>
            </a:r>
            <a:r>
              <a:rPr lang="en-US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Considere os seguintes custos:</a:t>
            </a:r>
            <a:endParaRPr sz="1200">
              <a:solidFill>
                <a:schemeClr val="dk1"/>
              </a:solidFill>
            </a:endParaRPr>
          </a:p>
          <a:p>
            <a:pPr indent="0" lvl="0" marL="12700" marR="1905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Atendente efetivo: </a:t>
            </a:r>
            <a:r>
              <a:rPr b="1" lang="en-US" sz="1200">
                <a:solidFill>
                  <a:schemeClr val="dk1"/>
                </a:solidFill>
              </a:rPr>
              <a:t>R$ 3.000,00 por mês</a:t>
            </a:r>
            <a:r>
              <a:rPr lang="en-US" sz="1200">
                <a:solidFill>
                  <a:schemeClr val="dk1"/>
                </a:solidFill>
              </a:rPr>
              <a:t>;</a:t>
            </a:r>
            <a:endParaRPr sz="1200">
              <a:solidFill>
                <a:schemeClr val="dk1"/>
              </a:solidFill>
            </a:endParaRPr>
          </a:p>
          <a:p>
            <a:pPr indent="0" lvl="0" marL="12700" marR="19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Atendente temporário: </a:t>
            </a:r>
            <a:r>
              <a:rPr b="1" lang="en-US" sz="1200">
                <a:solidFill>
                  <a:schemeClr val="dk1"/>
                </a:solidFill>
              </a:rPr>
              <a:t>R$ 2.000,00 por mês</a:t>
            </a:r>
            <a:r>
              <a:rPr lang="en-US" sz="1200">
                <a:solidFill>
                  <a:schemeClr val="dk1"/>
                </a:solidFill>
              </a:rPr>
              <a:t>;</a:t>
            </a:r>
            <a:endParaRPr sz="1200">
              <a:solidFill>
                <a:schemeClr val="dk1"/>
              </a:solidFill>
            </a:endParaRPr>
          </a:p>
          <a:p>
            <a:pPr indent="0" lvl="0" marL="12700" marR="19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Contratação de temporário: </a:t>
            </a:r>
            <a:r>
              <a:rPr b="1" lang="en-US" sz="1200">
                <a:solidFill>
                  <a:schemeClr val="dk1"/>
                </a:solidFill>
              </a:rPr>
              <a:t>R$ 500,00 por funcionário</a:t>
            </a:r>
            <a:r>
              <a:rPr lang="en-US" sz="1200">
                <a:solidFill>
                  <a:schemeClr val="dk1"/>
                </a:solidFill>
              </a:rPr>
              <a:t>;</a:t>
            </a:r>
            <a:endParaRPr sz="1200">
              <a:solidFill>
                <a:schemeClr val="dk1"/>
              </a:solidFill>
            </a:endParaRPr>
          </a:p>
          <a:p>
            <a:pPr indent="0" lvl="0" marL="12700" marR="19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Demissão de temporário: </a:t>
            </a:r>
            <a:r>
              <a:rPr b="1" lang="en-US" sz="1200">
                <a:solidFill>
                  <a:schemeClr val="dk1"/>
                </a:solidFill>
              </a:rPr>
              <a:t>R$ 800,00 por funcionário</a:t>
            </a:r>
            <a:r>
              <a:rPr lang="en-US" sz="1200">
                <a:solidFill>
                  <a:schemeClr val="dk1"/>
                </a:solidFill>
              </a:rPr>
              <a:t>;</a:t>
            </a:r>
            <a:endParaRPr sz="1200">
              <a:solidFill>
                <a:schemeClr val="dk1"/>
              </a:solidFill>
            </a:endParaRPr>
          </a:p>
          <a:p>
            <a:pPr indent="0" lvl="0" marL="12700" marR="19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Todos os temporários deverão ser demitidos ao final do sexto mês;</a:t>
            </a:r>
            <a:endParaRPr sz="1200">
              <a:solidFill>
                <a:schemeClr val="dk1"/>
              </a:solidFill>
            </a:endParaRPr>
          </a:p>
          <a:p>
            <a:pPr indent="0" lvl="0" marL="12700" marR="19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Contratações e demissões ocorrem no início de cada mês;</a:t>
            </a:r>
            <a:endParaRPr sz="1200">
              <a:solidFill>
                <a:schemeClr val="dk1"/>
              </a:solidFill>
            </a:endParaRPr>
          </a:p>
          <a:p>
            <a:pPr indent="0" lvl="0" marL="12700" marR="19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Não são permitidos atrasos ou estoque de atendimentos.</a:t>
            </a:r>
            <a:endParaRPr sz="12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Para fins deste exercício, os custos de contratação e demissão serão contabilizados no mês em que ocorrerem. Assim, o custo da demissão do último temporário, realizada ao final do sexto mês, deverá ser incluído no plano financeiro do mês 6.</a:t>
            </a:r>
            <a:endParaRPr sz="1200">
              <a:solidFill>
                <a:schemeClr val="dk1"/>
              </a:solidFill>
            </a:endParaRPr>
          </a:p>
          <a:p>
            <a:pPr indent="0" lvl="0" marL="12700" marR="1905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12700" marR="19050" rtl="0" algn="l">
              <a:lnSpc>
                <a:spcPct val="6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descr="$PPTXTitle" id="702" name="Google Shape;702;p45"/>
          <p:cNvSpPr txBox="1"/>
          <p:nvPr>
            <p:ph type="title"/>
          </p:nvPr>
        </p:nvSpPr>
        <p:spPr>
          <a:xfrm>
            <a:off x="156925" y="64600"/>
            <a:ext cx="110262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Praticar: Central de Atendimento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07" name="Google Shape;707;p46"/>
          <p:cNvSpPr txBox="1"/>
          <p:nvPr>
            <p:ph type="title"/>
          </p:nvPr>
        </p:nvSpPr>
        <p:spPr>
          <a:xfrm>
            <a:off x="156925" y="64600"/>
            <a:ext cx="110262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Praticar: Central de Atendimento</a:t>
            </a:r>
            <a:endParaRPr/>
          </a:p>
        </p:txBody>
      </p:sp>
      <p:graphicFrame>
        <p:nvGraphicFramePr>
          <p:cNvPr id="708" name="Google Shape;708;p46"/>
          <p:cNvGraphicFramePr/>
          <p:nvPr/>
        </p:nvGraphicFramePr>
        <p:xfrm>
          <a:off x="3043075" y="20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{D4F82F59-F091-4920-BC31-7B01EDF9B7F2}</a:tableStyleId>
              </a:tblPr>
              <a:tblGrid>
                <a:gridCol w="1289000"/>
                <a:gridCol w="37442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Mês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Demanda de atendimentos</a:t>
                      </a:r>
                      <a:endParaRPr b="1" sz="17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Janeiro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2.000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Fevereiro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2.160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Março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2.480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Abril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2.320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Maio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2.640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Junho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2.160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09" name="Google Shape;709;p46"/>
          <p:cNvSpPr txBox="1"/>
          <p:nvPr/>
        </p:nvSpPr>
        <p:spPr>
          <a:xfrm>
            <a:off x="156925" y="13269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Previsão da demanda </a:t>
            </a:r>
            <a:endParaRPr b="1"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14" name="Google Shape;714;p47"/>
          <p:cNvSpPr txBox="1"/>
          <p:nvPr>
            <p:ph type="title"/>
          </p:nvPr>
        </p:nvSpPr>
        <p:spPr>
          <a:xfrm>
            <a:off x="156925" y="64600"/>
            <a:ext cx="110262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Praticar: Central de Atendimento</a:t>
            </a:r>
            <a:endParaRPr/>
          </a:p>
        </p:txBody>
      </p:sp>
      <p:sp>
        <p:nvSpPr>
          <p:cNvPr id="715" name="Google Shape;715;p47"/>
          <p:cNvSpPr txBox="1"/>
          <p:nvPr/>
        </p:nvSpPr>
        <p:spPr>
          <a:xfrm>
            <a:off x="567625" y="1668650"/>
            <a:ext cx="104619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Elabore o Plano Agregado de Produção da central, determinando, em cada mês:</a:t>
            </a:r>
            <a:endParaRPr sz="20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2000"/>
              <a:t>A capacidade dos funcionários efetivos;</a:t>
            </a:r>
            <a:endParaRPr sz="20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2000"/>
              <a:t>A quantidade de atendentes temporários necessária;</a:t>
            </a:r>
            <a:endParaRPr sz="20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2000"/>
              <a:t>O número de contratações e demissões;</a:t>
            </a:r>
            <a:endParaRPr sz="20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2000"/>
              <a:t>O custo mensal da operação;</a:t>
            </a:r>
            <a:endParaRPr sz="20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2000"/>
              <a:t>O custo total do plano no semestre.</a:t>
            </a:r>
            <a:endParaRPr sz="2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20" name="Google Shape;720;p48"/>
          <p:cNvSpPr txBox="1"/>
          <p:nvPr>
            <p:ph type="title"/>
          </p:nvPr>
        </p:nvSpPr>
        <p:spPr>
          <a:xfrm>
            <a:off x="156925" y="64600"/>
            <a:ext cx="110262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Praticar: Central de Atendimento</a:t>
            </a:r>
            <a:endParaRPr/>
          </a:p>
        </p:txBody>
      </p:sp>
      <p:sp>
        <p:nvSpPr>
          <p:cNvPr id="721" name="Google Shape;721;p48"/>
          <p:cNvSpPr txBox="1"/>
          <p:nvPr/>
        </p:nvSpPr>
        <p:spPr>
          <a:xfrm>
            <a:off x="320850" y="12340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Tabela para preencher na folha </a:t>
            </a:r>
            <a:endParaRPr b="1"/>
          </a:p>
        </p:txBody>
      </p:sp>
      <p:graphicFrame>
        <p:nvGraphicFramePr>
          <p:cNvPr id="722" name="Google Shape;722;p48"/>
          <p:cNvGraphicFramePr/>
          <p:nvPr/>
        </p:nvGraphicFramePr>
        <p:xfrm>
          <a:off x="1037425" y="202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{D4F82F59-F091-4920-BC31-7B01EDF9B7F2}</a:tableStyleId>
              </a:tblPr>
              <a:tblGrid>
                <a:gridCol w="732175"/>
                <a:gridCol w="876975"/>
                <a:gridCol w="1977800"/>
                <a:gridCol w="2250125"/>
                <a:gridCol w="1230950"/>
                <a:gridCol w="953000"/>
                <a:gridCol w="12441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Mês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Demanda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Capacidade dos efetivos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Temporários necessários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Contratações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Demissões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Custo mensal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Jan.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Fev.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2.160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Mar.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2.480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Abr.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2.320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Maio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2.640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Jun.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2.160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Total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27" name="Google Shape;727;p49"/>
          <p:cNvSpPr txBox="1"/>
          <p:nvPr>
            <p:ph type="ctrTitle"/>
          </p:nvPr>
        </p:nvSpPr>
        <p:spPr>
          <a:xfrm>
            <a:off x="906132" y="116200"/>
            <a:ext cx="71439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Código Google Colab</a:t>
            </a:r>
            <a:endParaRPr sz="2800"/>
          </a:p>
        </p:txBody>
      </p:sp>
      <p:sp>
        <p:nvSpPr>
          <p:cNvPr id="728" name="Google Shape;728;p49"/>
          <p:cNvSpPr txBox="1"/>
          <p:nvPr/>
        </p:nvSpPr>
        <p:spPr>
          <a:xfrm>
            <a:off x="777151" y="1905000"/>
            <a:ext cx="10585450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508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https://colab.research.google.com/drive/1iQ3uNIHrPWHz4EwdAKSzpx4R6S8k RPzT?usp=sharing</a:t>
            </a:r>
            <a:endParaRPr sz="23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