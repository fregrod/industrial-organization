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00:00 - 01:00 | Integrante 1]</a:t>
            </a:r>
          </a:p>
          <a:p>
            <a:r>
              <a:t>Bom dia professores Marcelo Gonçalves, Camilla Pimenta e João Victor Queiroz, e colegas de turma. Apresentamos o Relatório Técnico 1 e Seminário de Organização Industrial com a modelagem matemática completa de PAP para a empresa Vértice Confecções Ltda., localizada no Distrito Federal. Nosso objetivo é provar como o planejamento tático de operações equilibra custos, nível de serviço e legislação trabalhista.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01:00 - 02:00 | Integrante 1]</a:t>
            </a:r>
          </a:p>
          <a:p>
            <a:r>
              <a:t>A Vértice Confecções opera com 20 costureiras e enfrenta forte sazonalidade: 48 mil conjuntos ao ano, com picos intensos no 1º trimestre e em novembro. Sem o PAP formal, a gestão oscilava de forma reativa: atrasava entregas no início do ano e demitia no meio do ano. A modelagem matemática do PAP estabelece previsibilidade para atender 100% dos pedidos ao menor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02:00 - 03:00 | Integrante 1]</a:t>
            </a:r>
          </a:p>
          <a:p>
            <a:r>
              <a:t>Conforme ensinado pelo Prof. Marcelo Carneiro na Aula 01, a capacidade da fábrica é ditada pelo gargalo. A cronoanálise identificou o gargalo na célula de costura e montagem. O Tempo Padrão foi mensurado em 0,80 horas (48 minutos), incluindo tolerâncias ergonômicas da NR-17. Isso resulta numa produtividade de 200 conjuntos por operadora e capacidade base de 4.000 peças/mês.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03:00 - 04:00 | Integrante 2]</a:t>
            </a:r>
          </a:p>
          <a:p>
            <a:r>
              <a:t>Analisando o horizonte de 12 meses estabelecido pelo Prof. João Victor na Aula 03, vemos claramente a montanha-russa de demanda. O primeiro trimestre é o período mais crítico: a demanda supera a capacidade em 2.600 peças. Depois temos um vale em junho com 3.000 peças e novo pico em novembro com 5.000 peças. O desafio do PAP é balancear essa sazonalidade sem gerar custos desnecessários.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04:00 - 05:00 | Integrante 2]</a:t>
            </a:r>
          </a:p>
          <a:p>
            <a:r>
              <a:t>A teoria de Nigel Slack e Corrêa &amp; Corrêa define três caminhos fundamentais: O Nivelamento mantém a fábrica fixa e deixa o estoque oscilar; O Acompanhamento modula os funcionários para zerar estoques; E a Estratégia Híbrida combina a estabilidade interna com recursos elásticos nos picos de demanda. Modelamos as três matematicamente para o caso da Vértice.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05:00 - 06:00 | Integrante 2]</a:t>
            </a:r>
          </a:p>
          <a:p>
            <a:r>
              <a:t>Os custos foram obtidos no polo têxtil do DF: R$ 38 no normal, R$ 46 na hora extra e R$ 52 na facção externa. A estocagem custa R$ 3 por peça ao mês, e atrasar pedidos acarreta multa contratual de R$ 20 por mês. Destacamos o Artigo 59 da CLT: o teto legal de 2h extras por dia limita a produção extra a 800 conjuntos por mês, tornando juridicamente impossível cobrir os picos de demanda apenas com horas extras.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06:00 - 07:00 | Integrante 3]</a:t>
            </a:r>
          </a:p>
          <a:p>
            <a:r>
              <a:t>Na Estratégia 1, fixamos 4.000 peças/mês com 20 costureiras. O resultado prático foi um desastre: como a demanda de Jan a Mar somou 14.600 peças e a capacidade foi de 12.000, o estoque de 400 peças acabou em janeiro. A empresa acumulou 2.200 peças em atraso em março e só normalizou as entregas em junho! Isso gerou R$ 108 mil em multas e derrubou o índice de pontualidade para 79%.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07:00 - 08:00 | Integrante 3]</a:t>
            </a:r>
          </a:p>
          <a:p>
            <a:r>
              <a:t>Na Estratégia 2, contratamos e demitimos para igualar a demanda mensal. Apesar do custo financeiro de R$ 1,92 milhão parecer menor que o Nivelamento, o custo social é inaceitável: foram 36 movimentações de pessoal (18 admissões e 18 demissões), custando R$ 82.800 em encargos. Além disso, a perda de costureiras experientes faz o índice de retrabalho disparar nos meses mais críticos.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08:00 - 09:00 | Integrante 3]</a:t>
            </a:r>
          </a:p>
          <a:p>
            <a:r>
              <a:t>Este slide resume a conclusão fundamental: os extremos teóricos falham na vida real. O Nivelamento destrói a pontualidade e o relacionamento com os clientes por falta de capacidade flexível. O Acompanhamento destrói a qualidade fabril e gasta rios de dinheiro em rescisões rescisórias. Precisamos de uma terceira via: a Solução Híbrida.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09:00 - 10:30 | Integrante 4]</a:t>
            </a:r>
          </a:p>
          <a:p>
            <a:r>
              <a:t>Desenvolvemos a Estratégia 3 com uma lógica refinada de engenharia: Fixamos 19 costureiras permanentes (3.800 peças/mês). Nos picos de Jan a Mar, acionamos horas extras dentro do teto legal da CLT e terceirizamos 1.000 peças com facções parceiras. No meio do ano, não demitimos: produzimos estoque pulmão que chega a 1.400 peças em outubro. Assim, atendemos o pico de novembro com estoque, com custo de horas extras ZERO no segundo semestre!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10:30 - 11:30 | Integrante 4]</a:t>
            </a:r>
          </a:p>
          <a:p>
            <a:r>
              <a:t>O gráfico demonstra o contraste gritante: enquanto o Nivelamento afunda no backlog em vermelho durante cinco meses, a Estratégia Híbrida mantém a barra verde de estoque sempre positiva. Atingimos 100% de nível de serviço, zero peças em atraso, e ainda entregamos 800 peças em estoque no final de dezembro, garantindo a segurança operacional para o ano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11:30 - 12:30 | Integrante 4]</a:t>
            </a:r>
          </a:p>
          <a:p>
            <a:r>
              <a:t>Os números finais comprovam: a Estratégia Híbrida vence em todas as frentes. Custa R$ 1.902.400,00, economizando R$ 66.200 em relação ao Nivelamento e R$ 18.800 em relação ao Acompanhamento. A Híbrida é a solução mais barata e a mais eficiente porque aloca os recursos certos na hora certa: mão de obra própria onde ela é barata, horas extras controladas e facção parceira apenas para absorver o topo dos picos.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12:30 - 13:30 | Integrante 5]</a:t>
            </a:r>
          </a:p>
          <a:p>
            <a:r>
              <a:t>Analisando sob os cinco objetivos de desempenho de Nigel Slack, a Estratégia Híbrida atinge pontuação máxima: Custo mínimo de R$ 1,902 milhão; Confiabilidade de 100% nas entregas; Qualidade garantida pela estabilidade da mão de obra; Flexibilidade conferida pelas facções e rapidez viabilizada pelo estoque pulmão. É a confirmação de que uma decisão de PCP impacta todos os indicadores estratégicos da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13:30 - 14:15 | Integrante 5]</a:t>
            </a:r>
          </a:p>
          <a:p>
            <a:r>
              <a:t>Para transformar o modelo em realidade fabril, traçamos um roteiro em quatro passos práticos: Fixar 19 operadoras estáveis; pactuar com antecedência as horas extras no sindicato para Jan a Mar; homologar facções fornecendo o tecido cortado internamente para proteger a empresa contra passivos da Súmula 331 do TST; e instituir reuniões mensais de S&amp;OP entre Vendas e Produção com horizonte rolante.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14:15 - 15:00 | Integrante 5]</a:t>
            </a:r>
          </a:p>
          <a:p>
            <a:r>
              <a:t>Concluímos destacando que o PAP provou ser o coração tático de uma fábrica de manufatura. Agradecemos aos professores Marcelo Gonçalves, Camilla Pimenta e João Victor Queiroz pela condução da disciplina. Encerramos rigorosamente aos 14 minutos e 45 segundos e estamos à disposição da banca para responder às perguntas!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38912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4183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3C5FD"/>
                </a:solidFill>
                <a:latin typeface="Arial"/>
              </a:defRPr>
            </a:pPr>
            <a:r>
              <a:t>UNIVERSIDADE DE BRASÍLIA  •  FACULDADE DE 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Planejamento Agregado da Produção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Modelagem Matemática de 12 Meses Aplicada à Indústria de Manufatura: Vértice Confecções Ltda.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033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DISCIPLINA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Organização Industrial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Semestre: </a:t>
            </a:r>
            <a:r>
              <a:rPr sz="1100">
                <a:solidFill>
                  <a:srgbClr val="94A3B8"/>
                </a:solidFill>
                <a:latin typeface="Arial"/>
              </a:rPr>
              <a:t>2026.2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Atividade: </a:t>
            </a:r>
            <a:r>
              <a:rPr sz="1100">
                <a:solidFill>
                  <a:srgbClr val="94A3B8"/>
                </a:solidFill>
                <a:latin typeface="Arial"/>
              </a:rPr>
              <a:t>Relatório Técnico 1 &amp; Seminário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56616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7033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CORPO DOCENTE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Prof. Dr. Marcelo Carneiro Gonçalves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Profa. Dra. Camilla Pimenta Barbosa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Prof. Dr. João Victor Queiroz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566160"/>
            <a:ext cx="32918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7033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EQUIPE DE ENGENHARIA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Grupo de Alunos de Graduação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Curso: </a:t>
            </a:r>
            <a:r>
              <a:rPr sz="1100">
                <a:solidFill>
                  <a:srgbClr val="94A3B8"/>
                </a:solidFill>
                <a:latin typeface="Arial"/>
              </a:rPr>
              <a:t>Engenharia de Produção (FT/UnB)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E2E8F0"/>
                </a:solidFill>
                <a:latin typeface="Arial"/>
              </a:rPr>
              <a:t>Data: </a:t>
            </a:r>
            <a:r>
              <a:rPr sz="1100">
                <a:solidFill>
                  <a:srgbClr val="94A3B8"/>
                </a:solidFill>
                <a:latin typeface="Arial"/>
              </a:rPr>
              <a:t>01 de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DIAGNÓSTICO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A Empresa e o Dilema da Sazonalidade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Caracterização da fábrica de pequeno porte e o desafio tático de manufatura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02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48.000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DEMANDA ANUAL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Média de 4.000 peças/mês com 2 grandes picos sazonais no 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916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20 Costureiras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QUADRO EFETIVO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Equipe fixa instalada em Taguatinga-DF (jornada de 160h/mês).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6916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2 Picos Críticos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SAZONALIDADE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Jan-Mar (renovação escolar/frotas) e Nov (aquecimento industrial).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2120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8463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O Dilema Típico sem PAP Formal: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Resposta Reativa: </a:t>
            </a:r>
            <a:r>
              <a:rPr sz="1200">
                <a:solidFill>
                  <a:srgbClr val="334155"/>
                </a:solidFill>
                <a:latin typeface="Arial"/>
              </a:rPr>
              <a:t>Fábrica alternava entre atrasos e contratações desesperadas.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Colapso de Entregas: </a:t>
            </a:r>
            <a:r>
              <a:rPr sz="1200">
                <a:solidFill>
                  <a:srgbClr val="334155"/>
                </a:solidFill>
                <a:latin typeface="Arial"/>
              </a:rPr>
              <a:t>No 1º trimestre, a demanda estoura em até 30% da capacidade.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Multas Contratuais: </a:t>
            </a:r>
            <a:r>
              <a:rPr sz="1200">
                <a:solidFill>
                  <a:srgbClr val="334155"/>
                </a:solidFill>
                <a:latin typeface="Arial"/>
              </a:rPr>
              <a:t>Clientes corporativos cancelam pedidos e exigem ressarcimento.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Instabilidade Fabril: </a:t>
            </a:r>
            <a:r>
              <a:rPr sz="1200">
                <a:solidFill>
                  <a:srgbClr val="334155"/>
                </a:solidFill>
                <a:latin typeface="Arial"/>
              </a:rPr>
              <a:t>Contratações sem treino aumentavam refugos e acidentes.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46120"/>
            <a:ext cx="5212080" cy="2971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48463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A Solução com o PAP Tático de Manufatura: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Visão de 12 Meses: </a:t>
            </a:r>
            <a:r>
              <a:rPr sz="1200">
                <a:solidFill>
                  <a:srgbClr val="334155"/>
                </a:solidFill>
                <a:latin typeface="Arial"/>
              </a:rPr>
              <a:t>Antecipar oscilações e estabilizar a mão de obra interna.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Decisões Integradas: </a:t>
            </a:r>
            <a:r>
              <a:rPr sz="1200">
                <a:solidFill>
                  <a:srgbClr val="334155"/>
                </a:solidFill>
                <a:latin typeface="Arial"/>
              </a:rPr>
              <a:t>Balancear estoques, horas extras e terceirização (facção).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Nível de Serviço 100%: </a:t>
            </a:r>
            <a:r>
              <a:rPr sz="1200">
                <a:solidFill>
                  <a:srgbClr val="334155"/>
                </a:solidFill>
                <a:latin typeface="Arial"/>
              </a:rPr>
              <a:t>Atender rigorosamente os prazos contratuais firmados.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Menor Custo Total: </a:t>
            </a:r>
            <a:r>
              <a:rPr sz="1200">
                <a:solidFill>
                  <a:srgbClr val="334155"/>
                </a:solidFill>
                <a:latin typeface="Arial"/>
              </a:rPr>
              <a:t>Minimizar o dispêndio anual respeitando a CLT.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CAPACIDADE &amp; CRONOANÁLISE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Mapeamento de Processo e Identificação do Gargalo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Determinação do Tempo Padrão (TP) e capacidade nominal base da fábrica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03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a1_fluxo_proce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10454335" cy="1965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069080"/>
            <a:ext cx="30540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48 min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TEMPO PADRÃO NO GARGALO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TP = 0,80h apurado na Costura/Montagem, incluindo 15% de tolerâncias para fadiga e pausas da NR-17.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069080"/>
            <a:ext cx="30540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200 un/mês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PRODUTIVIDADE / COSTUREIRA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Jornada mensal líquida de 160h ÷ 0,80h = 200 conjuntos por operadora em turno normal.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4069080"/>
            <a:ext cx="30540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4.000 un/mês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CAPACIDADE NOMINAL BASE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20 costureiras × 200 un/mês = 4.000 conjuntos/mês. Referência para o dimensionamento do PAP.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PREVISÃO DE DEMANDA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Perfil Sazonal da Demanda em 12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Oscilação mensal de mercado e confronto direto com a capacidade instalada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04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F4444"/>
                </a:solidFill>
                <a:latin typeface="Arial"/>
              </a:defRPr>
            </a:pPr>
            <a:r>
              <a:t>5.200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PICO MÁXIMO (FEVEREIRO)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+30% acima da capacidade fabril instalada (+1.200 unidades).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916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3.000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VALE MÍNIMO (JUNHO)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-25% abaixo da capacidade fabril instalada (-1.000 unidades).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691640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400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ESTOQUE DE SEGURANÇA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Estoque inicial de segurança para suportar o início do plano.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10728655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10362895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Distribuição Mensal da Demanda Consolidada (48.000 conjuntos):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1º Trimestre (Pico Crítico): </a:t>
            </a:r>
            <a:r>
              <a:rPr sz="1200">
                <a:solidFill>
                  <a:srgbClr val="334155"/>
                </a:solidFill>
                <a:latin typeface="Arial"/>
              </a:rPr>
              <a:t>Jan: 4.600 un  |  Fev: 5.200 un  |  Mar: 4.800 un  (Demanda acumulada: 14.600 un vs. Capacidade: 12.000 un).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2º Trimestre (Desaceleração): </a:t>
            </a:r>
            <a:r>
              <a:rPr sz="1200">
                <a:solidFill>
                  <a:srgbClr val="334155"/>
                </a:solidFill>
                <a:latin typeface="Arial"/>
              </a:rPr>
              <a:t>Abr: 3.600 un  |  Mai: 3.200 un  |  Jun: 3.000 un  (Vale sazonal; folga produtiva na fábrica).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3º Trimestre (Recuperação): </a:t>
            </a:r>
            <a:r>
              <a:rPr sz="1200">
                <a:solidFill>
                  <a:srgbClr val="334155"/>
                </a:solidFill>
                <a:latin typeface="Arial"/>
              </a:rPr>
              <a:t>Jul: 3.800 un  |  Ago: 3.600 un  |  Set: 3.400 un  (Volume equilibrado; oportunidade de formação de estoque).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4º Trimestre (2º Pico do Ano): </a:t>
            </a:r>
            <a:r>
              <a:rPr sz="1200">
                <a:solidFill>
                  <a:srgbClr val="334155"/>
                </a:solidFill>
                <a:latin typeface="Arial"/>
              </a:rPr>
              <a:t>Out: 3.800 un  |  Nov: 5.000 un  |  Dez: 4.000 un  (Aquecimento para encomendas industriais e de fim de ano).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FUNDAMENTAÇÃO TEÓRICA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Os Modelos Clássicos de Decisão do PAP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Conceituação teórica segundo Nigel Slack e Corrêa &amp; Corrêa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05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Estratégia 1: Nivelamento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Taxa Constante: </a:t>
            </a:r>
            <a:r>
              <a:rPr sz="1200">
                <a:solidFill>
                  <a:srgbClr val="334155"/>
                </a:solidFill>
                <a:latin typeface="Arial"/>
              </a:rPr>
              <a:t>Produção perfeitamente fixa em 4.000 un/mês com 20 costureiras.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Mecanismo Amortecedor: </a:t>
            </a:r>
            <a:r>
              <a:rPr sz="1200">
                <a:solidFill>
                  <a:srgbClr val="334155"/>
                </a:solidFill>
                <a:latin typeface="Arial"/>
              </a:rPr>
              <a:t>Uso exclusivo de estoque pulmão e pedidos em atraso (backlog).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Foco Estrutural: </a:t>
            </a:r>
            <a:r>
              <a:rPr sz="1200">
                <a:solidFill>
                  <a:srgbClr val="334155"/>
                </a:solidFill>
                <a:latin typeface="Arial"/>
              </a:rPr>
              <a:t>Estabilidade fabril e previsibilidade operacional interna.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Principal Risco: </a:t>
            </a:r>
            <a:r>
              <a:rPr sz="1200">
                <a:solidFill>
                  <a:srgbClr val="334155"/>
                </a:solidFill>
                <a:latin typeface="Arial"/>
              </a:rPr>
              <a:t>Rupturas graves em picos sazonais no início do ano.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Estratégia 2: Acompanhamento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Chase Strategy: </a:t>
            </a:r>
            <a:r>
              <a:rPr sz="1200">
                <a:solidFill>
                  <a:srgbClr val="334155"/>
                </a:solidFill>
                <a:latin typeface="Arial"/>
              </a:rPr>
              <a:t>Capacidade persegue rigorosamente a curva da demanda mensal (P = D).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Mecanismo Amortecedor: </a:t>
            </a:r>
            <a:r>
              <a:rPr sz="1200">
                <a:solidFill>
                  <a:srgbClr val="334155"/>
                </a:solidFill>
                <a:latin typeface="Arial"/>
              </a:rPr>
              <a:t>Contratações e demissões sistemáticas de costureiras.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Foco Estrutural: </a:t>
            </a:r>
            <a:r>
              <a:rPr sz="1200">
                <a:solidFill>
                  <a:srgbClr val="334155"/>
                </a:solidFill>
                <a:latin typeface="Arial"/>
              </a:rPr>
              <a:t>Estoque final zero em todos os meses do ano.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Principal Risco: </a:t>
            </a:r>
            <a:r>
              <a:rPr sz="1200">
                <a:solidFill>
                  <a:srgbClr val="334155"/>
                </a:solidFill>
                <a:latin typeface="Arial"/>
              </a:rPr>
              <a:t>Caos trabalhista, custo rescisório e queda drástica de qualidade.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Estratégia 3: Híbrida / Patamares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Solução Flexível: </a:t>
            </a:r>
            <a:r>
              <a:rPr sz="1200">
                <a:solidFill>
                  <a:srgbClr val="334155"/>
                </a:solidFill>
                <a:latin typeface="Arial"/>
              </a:rPr>
              <a:t>Base estável de 19 operadoras complementada por recursos elásticos.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Mecanismo Amortecedor: </a:t>
            </a:r>
            <a:r>
              <a:rPr sz="1200">
                <a:solidFill>
                  <a:srgbClr val="334155"/>
                </a:solidFill>
                <a:latin typeface="Arial"/>
              </a:rPr>
              <a:t>Horas extras reguladas (CLT) + subcontratação de facções.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Foco Estrutural: </a:t>
            </a:r>
            <a:r>
              <a:rPr sz="1200">
                <a:solidFill>
                  <a:srgbClr val="334155"/>
                </a:solidFill>
                <a:latin typeface="Arial"/>
              </a:rPr>
              <a:t>Menor custo global com garantia de 100% de pontualidade.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Principal Vantagem: </a:t>
            </a:r>
            <a:r>
              <a:rPr sz="1200">
                <a:solidFill>
                  <a:srgbClr val="334155"/>
                </a:solidFill>
                <a:latin typeface="Arial"/>
              </a:rPr>
              <a:t>Equilíbrio sustentável entre fábrica, mercado e legislação.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PARÂMETROS FINANCEIROS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Matriz de Custos Unitários e Limitações da CLT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Dados coletados no polo têxtil do DF e exigências legais trabalhistas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06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21396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R$ 38,00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PRODUÇÃO NORMAL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Custo unitário absorvido por conjunto em turno regular de trabalho.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691640"/>
            <a:ext cx="21396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R$ 46,00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HORA EXTRA (HE)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Adicional constitucional de 50% sobre a mão de obra direta.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91640"/>
            <a:ext cx="21396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8B5CF6"/>
                </a:solidFill>
                <a:latin typeface="Arial"/>
              </a:defRPr>
            </a:pPr>
            <a:r>
              <a:t>R$ 52,00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FACÇÃO EXTERNA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Custo do serviço terceirizado em oficinas parceiras homologadas.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54480"/>
            <a:ext cx="2468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691640"/>
            <a:ext cx="21396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R$ 3,00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POSSE DE ESTOQUE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Custo mensal por unidade armazenada sobre o estoque médio.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Custos de Movimentação de Pessoal e Penalidades: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• Custo de Admissão / Treinamento: </a:t>
            </a:r>
            <a:r>
              <a:rPr sz="1150">
                <a:solidFill>
                  <a:srgbClr val="334155"/>
                </a:solidFill>
                <a:latin typeface="Arial"/>
              </a:rPr>
              <a:t>R$ 1.600,00 por costureira contratada.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• Custo de Demissão / Rescisão: </a:t>
            </a:r>
            <a:r>
              <a:rPr sz="1150">
                <a:solidFill>
                  <a:srgbClr val="334155"/>
                </a:solidFill>
                <a:latin typeface="Arial"/>
              </a:rPr>
              <a:t>R$ 3.000,00 (aviso prévio indenizado + FGTS 40%).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• Penalidade por Atraso (Backlog): </a:t>
            </a:r>
            <a:r>
              <a:rPr sz="1150">
                <a:solidFill>
                  <a:srgbClr val="334155"/>
                </a:solidFill>
                <a:latin typeface="Arial"/>
              </a:rPr>
              <a:t>R$ 20,00 por conjunto/mês em atraso.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5212080" cy="23317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Restrição Jurídica Estrita – Artigo 59 da CLT: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• Limite Máximo Legal: </a:t>
            </a:r>
            <a:r>
              <a:rPr sz="1150">
                <a:solidFill>
                  <a:srgbClr val="334155"/>
                </a:solidFill>
                <a:latin typeface="Arial"/>
              </a:rPr>
              <a:t>Até 2 horas extras por dia por operadora (máx. 25% da jornada).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• Teto Operacional Fabril: </a:t>
            </a:r>
            <a:r>
              <a:rPr sz="1150">
                <a:solidFill>
                  <a:srgbClr val="334155"/>
                </a:solidFill>
                <a:latin typeface="Arial"/>
              </a:rPr>
              <a:t>Máximo de 800 conjuntos/mês produzidos via horas extras.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50">
                <a:solidFill>
                  <a:srgbClr val="0F172A"/>
                </a:solidFill>
                <a:latin typeface="Arial"/>
              </a:rPr>
              <a:t>• Segurança Regulatória: </a:t>
            </a:r>
            <a:r>
              <a:rPr sz="1150">
                <a:solidFill>
                  <a:srgbClr val="334155"/>
                </a:solidFill>
                <a:latin typeface="Arial"/>
              </a:rPr>
              <a:t>Impossibilita absorver picos de 1.200 un apenas com hora extra.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MODELAGEM 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Estratégia 1: Produção Constante (Nivelamento)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Produção fixa de 4.000 un/mês e o colapso no atendimento ao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07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F4444"/>
                </a:solidFill>
                <a:latin typeface="Arial"/>
              </a:defRPr>
            </a:pPr>
            <a:r>
              <a:t>R$ 108.000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MULTAS DE BACKLOG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Penalidades contratuais acumuladas ao longo de 5 meses de atrasos.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9164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F4444"/>
                </a:solidFill>
                <a:latin typeface="Arial"/>
              </a:defRPr>
            </a:pPr>
            <a:r>
              <a:t>2.200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PICO DE ATRASO (MARÇO)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Pico máximo de pedidos acumulados sem entrega aos clientes corporativos.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69164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F4444"/>
                </a:solidFill>
                <a:latin typeface="Arial"/>
              </a:defRPr>
            </a:pPr>
            <a:r>
              <a:t>79,2%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NÍVEL DE ENTREGA (OTD)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On-Time Delivery inaceitável para contratos corporativos e licitações.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0728655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103628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Diagnóstico Operacional da Estratégia de Nivelamento: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Esgotamento Imediato do Estoque: </a:t>
            </a:r>
            <a:r>
              <a:rPr sz="1200">
                <a:solidFill>
                  <a:srgbClr val="334155"/>
                </a:solidFill>
                <a:latin typeface="Arial"/>
              </a:rPr>
              <a:t>O estoque de segurança de 400 peças foi consumido integralmente já em Janeiro.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Efeito Bola de Neve de Pedidos Reprimidos: </a:t>
            </a:r>
            <a:r>
              <a:rPr sz="1200">
                <a:solidFill>
                  <a:srgbClr val="334155"/>
                </a:solidFill>
                <a:latin typeface="Arial"/>
              </a:rPr>
              <a:t>Jan: -200 un  |  Fev: -1.400 un  |  Mar: -2.200 un  |  Abr: -1.800 un  |  Mai: -1.000 un.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Regularização Tardia: </a:t>
            </a:r>
            <a:r>
              <a:rPr sz="1200">
                <a:solidFill>
                  <a:srgbClr val="334155"/>
                </a:solidFill>
                <a:latin typeface="Arial"/>
              </a:rPr>
              <a:t>A fábrica só conseguiu zerar os pedidos atrasados no final de Junho (5 meses de espera do cliente).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Custo Total Consolidado da Estratégia 1: </a:t>
            </a:r>
            <a:r>
              <a:rPr sz="1200">
                <a:solidFill>
                  <a:srgbClr val="334155"/>
                </a:solidFill>
                <a:latin typeface="Arial"/>
              </a:rPr>
              <a:t>R$ 1.968.600,00 (Produção Normal: R$ 1.824.000 + Posse: R$ 36.600 + Multas: R$ 108.000).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MODELAGEM 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Estratégia 2: Acompanhamento da Demanda (Chase)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Variação mensal da força de trabalho e a armadilha do turnover excessivo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36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MOVIMENTAÇÕES DE PESSOAL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18 contratações e 18 demissões realizadas ao longo de 12 meses.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9164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59E0B"/>
                </a:solidFill>
                <a:latin typeface="Arial"/>
              </a:defRPr>
            </a:pPr>
            <a:r>
              <a:t>R$ 82.800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CUSTOS DE TRANSIÇÃO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R$ 28.800 em admissões/treinamento + R$ 54.000 em rescisões contratuais.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69164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15 a 26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VARIAÇÃO DO QUADRO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Equipe oscila caoticamente: 26 costureiras em Fev e apenas 15 em Jun.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37560"/>
            <a:ext cx="10728655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10362895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Impactos Ocultos e Perdas de Produtividade no Modelo Chase: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Destruição da Curva de Aprendizagem: </a:t>
            </a:r>
            <a:r>
              <a:rPr sz="1200">
                <a:solidFill>
                  <a:srgbClr val="334155"/>
                </a:solidFill>
                <a:latin typeface="Arial"/>
              </a:rPr>
              <a:t>Costureiras recém-admitidas têm rendimento 30% inferior no primeiro mês.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Aumento Severo de Refugo e Retrabalho: </a:t>
            </a:r>
            <a:r>
              <a:rPr sz="1200">
                <a:solidFill>
                  <a:srgbClr val="334155"/>
                </a:solidFill>
                <a:latin typeface="Arial"/>
              </a:rPr>
              <a:t>Costuras tortas e retrabalho aumentam justamente nos meses de pico.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Clima Organizacional Hostil: </a:t>
            </a:r>
            <a:r>
              <a:rPr sz="1200">
                <a:solidFill>
                  <a:srgbClr val="334155"/>
                </a:solidFill>
                <a:latin typeface="Arial"/>
              </a:rPr>
              <a:t>Insegurança constante no chão de fábrica e desmotivação geral das operadoras.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Custo Total Consolidado da Estratégia 2: </a:t>
            </a:r>
            <a:r>
              <a:rPr sz="1200">
                <a:solidFill>
                  <a:srgbClr val="334155"/>
                </a:solidFill>
                <a:latin typeface="Arial"/>
              </a:rPr>
              <a:t>R$ 1.921.200,00 (Produção: R$ 1.824.000 + Posse: R$ 14.400 + Turnover: R$ 82.800).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DIAGNÓSTICO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Por que as Estratégias Extremas Falham na Prática?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Confronto entre as fragilidades do Nivelamento puro e do Acompanhamento puro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09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FRAGILIDADES DO NIVELAMENTO PURO (E1)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❌ Inflexibilidade Estrutural: </a:t>
            </a:r>
            <a:r>
              <a:rPr sz="1200">
                <a:solidFill>
                  <a:srgbClr val="334155"/>
                </a:solidFill>
                <a:latin typeface="Arial"/>
              </a:rPr>
              <a:t>A produção constante é incapaz de responder a picos iniciais de demanda.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❌ Esgotamento Precoce de Estoque: </a:t>
            </a:r>
            <a:r>
              <a:rPr sz="1200">
                <a:solidFill>
                  <a:srgbClr val="334155"/>
                </a:solidFill>
                <a:latin typeface="Arial"/>
              </a:rPr>
              <a:t>O estoque de segurança de 400 peças foi consumido nos primeiros 30 dias.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❌ Drenagem Financeira por Backlog: </a:t>
            </a:r>
            <a:r>
              <a:rPr sz="1200">
                <a:solidFill>
                  <a:srgbClr val="334155"/>
                </a:solidFill>
                <a:latin typeface="Arial"/>
              </a:rPr>
              <a:t>R$ 108.000,00 gastos exclusivamente em multas e indenizações.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❌ Perda de Reputação e Clientes: </a:t>
            </a:r>
            <a:r>
              <a:rPr sz="1200">
                <a:solidFill>
                  <a:srgbClr val="334155"/>
                </a:solidFill>
                <a:latin typeface="Arial"/>
              </a:rPr>
              <a:t>Tempo de espera de até 5 meses destrói a confiança comercial da fábrica.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FRAGILIDADES DO ACOMPANHAMENTO PURO (E2)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❌ Mão de Obra Tratada como Insumo: </a:t>
            </a:r>
            <a:r>
              <a:rPr sz="1200">
                <a:solidFill>
                  <a:srgbClr val="334155"/>
                </a:solidFill>
                <a:latin typeface="Arial"/>
              </a:rPr>
              <a:t>Despreza a especialização artesanal exigida na costura industrial.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❌ Custo Rescisório Desperdiçado: </a:t>
            </a:r>
            <a:r>
              <a:rPr sz="1200">
                <a:solidFill>
                  <a:srgbClr val="334155"/>
                </a:solidFill>
                <a:latin typeface="Arial"/>
              </a:rPr>
              <a:t>R$ 82.800,00 gastos em burocracia trabalhista e rescisões.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❌ Degradação da Qualidade: </a:t>
            </a:r>
            <a:r>
              <a:rPr sz="1200">
                <a:solidFill>
                  <a:srgbClr val="334155"/>
                </a:solidFill>
                <a:latin typeface="Arial"/>
              </a:rPr>
              <a:t>Equipes recém-contratadas aumentam o índice de retrabalho em peças pesadas.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❌ Risco Trabalhista e Passivos: </a:t>
            </a:r>
            <a:r>
              <a:rPr sz="1200">
                <a:solidFill>
                  <a:srgbClr val="334155"/>
                </a:solidFill>
                <a:latin typeface="Arial"/>
              </a:rPr>
              <a:t>Aumento de ações judiciais e despesas com homologações no sindicato.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SOLUÇÃO RECOMENDADA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Estratégia 3: Híbrida em Patamares (Ótima)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Base própria estável combinada com horas extras reguladas e facção externa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21396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19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COSTUREIRAS FIXAS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Quadro permanente com capacidade interna estável de 3.800 un/mês.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55448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691640"/>
            <a:ext cx="21396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1.800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HORAS EXTRAS (1º TRI)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Jan: 400 | Fev: 800 | Mar: 600 (dentro do teto do Art. 59 da CLT).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91640"/>
            <a:ext cx="21396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8B5CF6"/>
                </a:solidFill>
                <a:latin typeface="Arial"/>
              </a:defRPr>
            </a:pPr>
            <a:r>
              <a:t>1.000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FACÇÃO PARCEIRA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Fev: 600 un e Mar: 400 un subcontratadas para absorver o pico.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55448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1691640"/>
            <a:ext cx="21396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Zero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DEMISSÕES NO ANO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Estabilidade total da equipe e retenção integral de talentos.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10728655" cy="2423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36289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Lógica de Engenharia da Estratégia Híbrida: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1º Trimestre (Pico Crítico): </a:t>
            </a:r>
            <a:r>
              <a:rPr sz="1100">
                <a:solidFill>
                  <a:srgbClr val="334155"/>
                </a:solidFill>
                <a:latin typeface="Arial"/>
              </a:rPr>
              <a:t>Combina capacidade própria (3.800 un) + HE no teto legal (até 800 un) + Facção externa (até 600 un).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2º Trimestre (Vale): </a:t>
            </a:r>
            <a:r>
              <a:rPr sz="1100">
                <a:solidFill>
                  <a:srgbClr val="334155"/>
                </a:solidFill>
                <a:latin typeface="Arial"/>
              </a:rPr>
              <a:t>Demanda cai, mas a fábrica mantém 3.800 un/mês, absorvendo a mão de obra sem demissões.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3º Trimestre (Formação de Pulmão): </a:t>
            </a:r>
            <a:r>
              <a:rPr sz="1100">
                <a:solidFill>
                  <a:srgbClr val="334155"/>
                </a:solidFill>
                <a:latin typeface="Arial"/>
              </a:rPr>
              <a:t>Acumula estoque estrategicamente até 1.400 unidades em Outubro com custo de posse irrisório.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4º Trimestre (2º Pico): </a:t>
            </a:r>
            <a:r>
              <a:rPr sz="1100">
                <a:solidFill>
                  <a:srgbClr val="334155"/>
                </a:solidFill>
                <a:latin typeface="Arial"/>
              </a:rPr>
              <a:t>O pico de Novembro (5.000 un) é atendido com o estoque pulmão, sem gastar nem R$ 1,00 em hora extra!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BALANÇO DE MATERIAIS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Dinâmica de Estoques e Nível de Serviço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Confronto da evolução dos estoques e eliminação total de atrasos (E1 vs. E3)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11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a3_estoques_e_back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10454335" cy="2011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3977639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114799"/>
            <a:ext cx="3054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NÍVEL DE ENTREGA (OTD)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Zero atrasos ao longo dos 12 meses. Atendimento pontual em 100% dos pedidos.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77639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114799"/>
            <a:ext cx="3054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2563EB"/>
                </a:solidFill>
                <a:latin typeface="Arial"/>
              </a:defRPr>
            </a:pPr>
            <a:r>
              <a:t>1.400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ESTOQUE PULMÃO MÁXIMO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Pico controlado em Outubro para bancar o choque de Novembro sem custos extras.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77639"/>
            <a:ext cx="3383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4114799"/>
            <a:ext cx="3054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800 un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ESTOQUE FINAL SEGURO</a:t>
            </a:r>
          </a:p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Atende com folga o estoque de segurança para a virada do próximo ano fiscal.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RESULTADO ECONÔMICO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Quadro Comparativo Consolidado de Custos e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Demonstração analítica da superioridade econômica da Estratégia Híbrida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12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a4_comparativo_cus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4937760" cy="4389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5544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Estratégia 1 (Nivelamento):  R$ 1.968.600,00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Diferença: </a:t>
            </a:r>
            <a:r>
              <a:rPr sz="1100">
                <a:solidFill>
                  <a:srgbClr val="334155"/>
                </a:solidFill>
                <a:latin typeface="Arial"/>
              </a:rPr>
              <a:t>+R$ 66.200,00 mais cara que a Híbrida (+3,5%).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Causa: </a:t>
            </a:r>
            <a:r>
              <a:rPr sz="1100">
                <a:solidFill>
                  <a:srgbClr val="334155"/>
                </a:solidFill>
                <a:latin typeface="Arial"/>
              </a:rPr>
              <a:t>R$ 108.000,00 desperdiçados em multas de atraso.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546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Estratégia 2 (Acompanhamento):  R$ 1.921.200,00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Diferença: </a:t>
            </a:r>
            <a:r>
              <a:rPr sz="1100">
                <a:solidFill>
                  <a:srgbClr val="334155"/>
                </a:solidFill>
                <a:latin typeface="Arial"/>
              </a:rPr>
              <a:t>+R$ 18.800,00 mais cara que a Híbrida (+1,0%).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Causa: </a:t>
            </a:r>
            <a:r>
              <a:rPr sz="1100">
                <a:solidFill>
                  <a:srgbClr val="334155"/>
                </a:solidFill>
                <a:latin typeface="Arial"/>
              </a:rPr>
              <a:t>R$ 82.800,00 gastos em 36 admissões e demissões.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754880"/>
            <a:ext cx="5212080" cy="1463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8463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Estratégia 3 (Híbrida - CAMPEÃ):  R$ 1.902.400,00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Economia Absoluta: </a:t>
            </a:r>
            <a:r>
              <a:rPr sz="1100">
                <a:solidFill>
                  <a:srgbClr val="334155"/>
                </a:solidFill>
                <a:latin typeface="Arial"/>
              </a:rPr>
              <a:t>Poupa R$ 66.200 vs E1 e R$ 18.800 vs E2.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• Eficiência: </a:t>
            </a:r>
            <a:r>
              <a:rPr sz="1100">
                <a:solidFill>
                  <a:srgbClr val="334155"/>
                </a:solidFill>
                <a:latin typeface="Arial"/>
              </a:rPr>
              <a:t>Menor custo financeiro + Zero demissões + 100% On-Time Delivery!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GESTÃO DE OPERAÇÕES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Alinhamento com os 5 Objetivos de 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Avaliação multicritério segundo o modelo teórico de Nigel Slack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1. CUSTO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64208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R$ 1.902.400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66420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Menor custo global anual; elimina desperdícios com multas e rescisões contratuais.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87168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96896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2. CONFIABILIDADE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96896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96896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100% dos pedidos corporativos faturados e entregues rigorosamente na data acordada.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19856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9584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Arial"/>
              </a:defRPr>
            </a:pPr>
            <a:r>
              <a:t>3. QUALIDADE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529584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&lt; 1,5%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29584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Equipe estável de 19 costureiras experientes reduz retrabalho e refugos no gargalo.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52544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6227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4. FLEXIBILIDADE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462272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Elástica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462272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Combinação sinérgica de horas extras reguladas e facção externa nos picos sazonais.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85232"/>
            <a:ext cx="10728655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5. RAPIDEZ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394960"/>
            <a:ext cx="2011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Arial"/>
              </a:defRPr>
            </a:pPr>
            <a:r>
              <a:t>Imediata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39496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Arial"/>
              </a:defRPr>
            </a:pPr>
            <a:r>
              <a:t>Estoque de segurança desacopla a demanda no 2º semestre, viabilizando pronta-entrega.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PLANO DE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Diretrizes de Implantação para a Diretoria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Roteiro executivo em 4 passos para viabilizar a Estratégia Híbrida na fábrica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14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1645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PASSO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190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Estabilização da Equipe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Fixar o quadro em 19 costureiras registradas, eliminando o turnover e retendo conhecimento técnico de costura pesada.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62072"/>
            <a:ext cx="1645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PASSO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8620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Pactuação Prévia de Horas Extras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Formalizar acordo com o sindicato laboral para até 2h extras/dia exclusivamente em Jan-Mar (respeito estrito ao Art. 59 da CLT).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1645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PASSO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0050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Homologação de Facções com Corte Interno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77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Contratar facções fornecendo o tecido cortado pela Vértice, garantindo padrão de qualidade e afastando riscos da Súmula 331 do TST.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48072"/>
            <a:ext cx="1645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Arial"/>
              </a:defRPr>
            </a:pPr>
            <a:r>
              <a:t>PASSO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1480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Implantação do Processo de S&amp;OP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120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334155"/>
                </a:solidFill>
                <a:latin typeface="Arial"/>
              </a:defRPr>
            </a:pPr>
            <a:r>
              <a:t>Instituir reuniões mensais de Sales and Operations Planning entre Comercial e PCP, com horizonte rolante de 12 meses.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Conclusões Estratégicas e Referências Bibliográficas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Síntese dos aprendizados do projeto e abertura para a arguição da banca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UnB / FT / EPR – Organização Industrial (2026.2) | Relatório Técnico 1: PAP em Manufatura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Arial"/>
              </a:defRPr>
            </a:pPr>
            <a:r>
              <a:t>15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Principais Conclusões do Trabalho: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O PAP como Ferramenta Vital: </a:t>
            </a:r>
            <a:r>
              <a:rPr sz="1200">
                <a:solidFill>
                  <a:srgbClr val="334155"/>
                </a:solidFill>
                <a:latin typeface="Arial"/>
              </a:rPr>
              <a:t>Harmonizou a área Comercial (que exige pronta-entrega) e a Manufatura (que busca estabilidade).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Armadilhas dos Extremos Evitadas: </a:t>
            </a:r>
            <a:r>
              <a:rPr sz="1200">
                <a:solidFill>
                  <a:srgbClr val="334155"/>
                </a:solidFill>
                <a:latin typeface="Arial"/>
              </a:rPr>
              <a:t>Nivelamento gera colapso de entregas (R$ 108 mil); Acompanhamento gera caos de rotatividade (36 movimentações).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• Superioridade da Solução Híbrida: </a:t>
            </a:r>
            <a:r>
              <a:rPr sz="1200">
                <a:solidFill>
                  <a:srgbClr val="334155"/>
                </a:solidFill>
                <a:latin typeface="Arial"/>
              </a:rPr>
              <a:t>R$ 1.902.400,00, 100% de nível de serviço, zero demissões, plena regularidade com a CLT e 800 peças em estoque de segurança.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Principais Referências Bibliográficas: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SLACK, N. et al.: </a:t>
            </a:r>
            <a:r>
              <a:rPr sz="1050">
                <a:solidFill>
                  <a:srgbClr val="334155"/>
                </a:solidFill>
                <a:latin typeface="Arial"/>
              </a:rPr>
              <a:t>Administração da Produção. 8. ed. Atlas, 2018.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CORRÊA, H. L.; CORRÊA, C. A.: </a:t>
            </a:r>
            <a:r>
              <a:rPr sz="1050">
                <a:solidFill>
                  <a:srgbClr val="334155"/>
                </a:solidFill>
                <a:latin typeface="Arial"/>
              </a:rPr>
              <a:t>Administração de Produção e Operações, 2017.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QUEIROZ, J. V.: </a:t>
            </a:r>
            <a:r>
              <a:rPr sz="1050">
                <a:solidFill>
                  <a:srgbClr val="334155"/>
                </a:solidFill>
                <a:latin typeface="Arial"/>
              </a:rPr>
              <a:t>PAP em Manufatura – Aula 03. UnB / FT, 2026.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GONÇALVES, M. C.: </a:t>
            </a:r>
            <a:r>
              <a:rPr sz="1050">
                <a:solidFill>
                  <a:srgbClr val="334155"/>
                </a:solidFill>
                <a:latin typeface="Arial"/>
              </a:rPr>
              <a:t>Conceitos Básicos de PCP – Aula 01. UnB / FT, 2026.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BARBOSA, C. P.: </a:t>
            </a:r>
            <a:r>
              <a:rPr sz="1050">
                <a:solidFill>
                  <a:srgbClr val="334155"/>
                </a:solidFill>
                <a:latin typeface="Arial"/>
              </a:rPr>
              <a:t>PAP em Serviços – Aula 02. UnB / FT, 2026.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SEBRAE: </a:t>
            </a:r>
            <a:r>
              <a:rPr sz="1050">
                <a:solidFill>
                  <a:srgbClr val="334155"/>
                </a:solidFill>
                <a:latin typeface="Arial"/>
              </a:rPr>
              <a:t>Inteligência Setorial: PCP no Vestuário, 2024.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• BRASIL: </a:t>
            </a:r>
            <a:r>
              <a:rPr sz="1050">
                <a:solidFill>
                  <a:srgbClr val="334155"/>
                </a:solidFill>
                <a:latin typeface="Arial"/>
              </a:rPr>
              <a:t>Consolidação das Leis do Trabalho (CLT) – Art. 59, 1943.</a:t>
            </a:r>
          </a:p>
          <a:p>
            <a:pPr>
              <a:lnSpc>
                <a:spcPct val="120000"/>
              </a:lnSpc>
              <a:spcAft>
                <a:spcPts val="400"/>
              </a:spcAft>
            </a:pPr>
            <a:r>
              <a:rPr b="1" sz="1050">
                <a:solidFill>
                  <a:srgbClr val="0F172A"/>
                </a:solidFill>
                <a:latin typeface="Arial"/>
              </a:rPr>
              <a:t>Agradecimentos: </a:t>
            </a:r>
            <a:r>
              <a:rPr sz="1050">
                <a:solidFill>
                  <a:srgbClr val="334155"/>
                </a:solidFill>
                <a:latin typeface="Arial"/>
              </a:rPr>
              <a:t>Muito obrigado a todos! Estamos à disposição para as perguntas da banca.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